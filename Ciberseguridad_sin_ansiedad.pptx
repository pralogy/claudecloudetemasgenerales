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256" r:id="rId2"/>
    <p:sldId id="257" r:id="rId3"/>
    <p:sldId id="260" r:id="rId4"/>
    <p:sldId id="259" r:id="rId5"/>
    <p:sldId id="262" r:id="rId6"/>
    <p:sldId id="263" r:id="rId7"/>
    <p:sldId id="264" r:id="rId8"/>
    <p:sldId id="265" r:id="rId9"/>
    <p:sldId id="284" r:id="rId10"/>
    <p:sldId id="269" r:id="rId11"/>
    <p:sldId id="270" r:id="rId12"/>
    <p:sldId id="272" r:id="rId13"/>
    <p:sldId id="273" r:id="rId14"/>
    <p:sldId id="274" r:id="rId15"/>
    <p:sldId id="285" r:id="rId16"/>
    <p:sldId id="286" r:id="rId17"/>
    <p:sldId id="276" r:id="rId18"/>
    <p:sldId id="277" r:id="rId19"/>
    <p:sldId id="278" r:id="rId20"/>
    <p:sldId id="279" r:id="rId21"/>
    <p:sldId id="280" r:id="rId22"/>
    <p:sldId id="281" r:id="rId23"/>
    <p:sldId id="282" r:id="rId24"/>
    <p:sldId id="283" r:id="rId25"/>
  </p:sldIdLst>
  <p:sldSz cx="12192000" cy="6858000"/>
  <p:notesSz cx="6858000" cy="12192000"/>
  <p:embeddedFontLst>
    <p:embeddedFont>
      <p:font typeface="Fraunces" panose="020B0604020202020204" charset="0"/>
      <p:regular r:id="rId27"/>
      <p:bold r:id="rId28"/>
    </p:embeddedFont>
    <p:embeddedFont>
      <p:font typeface="Nunito Sans" pitchFamily="2" charset="0"/>
      <p:regular r:id="rId29"/>
      <p:bold r:id="rId30"/>
      <p:italic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8207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cálida, sin formalidades. Presentarse en una línea. Decir desde el inicio: esta no es la típica capacitación de seguridad llena de reglas. Es una conversación para que salgan con menos carga, no con más. Duración: una hora.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Siente</a:t>
            </a:r>
            <a:r>
              <a:rPr lang="en-US" dirty="0"/>
              <a:t> </a:t>
            </a:r>
            <a:r>
              <a:rPr lang="en-US" dirty="0" err="1"/>
              <a:t>que</a:t>
            </a:r>
            <a:r>
              <a:rPr lang="en-US" dirty="0"/>
              <a:t> </a:t>
            </a:r>
            <a:r>
              <a:rPr lang="en-US" dirty="0" err="1"/>
              <a:t>su</a:t>
            </a:r>
            <a:r>
              <a:rPr lang="en-US" dirty="0"/>
              <a:t> día </a:t>
            </a:r>
            <a:r>
              <a:rPr lang="en-US" dirty="0" err="1"/>
              <a:t>está</a:t>
            </a:r>
            <a:r>
              <a:rPr lang="en-US" dirty="0"/>
              <a:t> </a:t>
            </a:r>
            <a:r>
              <a:rPr lang="en-US" dirty="0" err="1"/>
              <a:t>lleno</a:t>
            </a:r>
            <a:r>
              <a:rPr lang="en-US" dirty="0"/>
              <a:t> de </a:t>
            </a:r>
            <a:r>
              <a:rPr lang="en-US" dirty="0" err="1"/>
              <a:t>pendientes</a:t>
            </a:r>
            <a:r>
              <a:rPr lang="en-US" dirty="0"/>
              <a:t>, </a:t>
            </a:r>
            <a:r>
              <a:rPr lang="en-US" dirty="0" err="1"/>
              <a:t>tareas</a:t>
            </a:r>
            <a:r>
              <a:rPr lang="en-US" dirty="0"/>
              <a:t> y </a:t>
            </a:r>
            <a:r>
              <a:rPr lang="en-US" dirty="0" err="1"/>
              <a:t>obligaciones</a:t>
            </a:r>
            <a:r>
              <a:rPr lang="en-US" dirty="0"/>
              <a:t> con las </a:t>
            </a:r>
            <a:r>
              <a:rPr lang="en-US" dirty="0" err="1"/>
              <a:t>que</a:t>
            </a:r>
            <a:r>
              <a:rPr lang="en-US" dirty="0"/>
              <a:t> se </a:t>
            </a:r>
            <a:r>
              <a:rPr lang="en-US" dirty="0" err="1"/>
              <a:t>siente</a:t>
            </a:r>
            <a:r>
              <a:rPr lang="en-US" dirty="0"/>
              <a:t> </a:t>
            </a:r>
            <a:r>
              <a:rPr lang="en-US" dirty="0" err="1"/>
              <a:t>abrumado</a:t>
            </a:r>
            <a:r>
              <a:rPr lang="en-US" dirty="0"/>
              <a:t>, y </a:t>
            </a:r>
            <a:r>
              <a:rPr lang="en-US" dirty="0" err="1"/>
              <a:t>además</a:t>
            </a:r>
            <a:r>
              <a:rPr lang="en-US" dirty="0"/>
              <a:t> le </a:t>
            </a:r>
            <a:r>
              <a:rPr lang="en-US" dirty="0" err="1"/>
              <a:t>parece</a:t>
            </a:r>
            <a:r>
              <a:rPr lang="en-US" dirty="0"/>
              <a:t> </a:t>
            </a:r>
            <a:r>
              <a:rPr lang="en-US" dirty="0" err="1"/>
              <a:t>que</a:t>
            </a:r>
            <a:r>
              <a:rPr lang="en-US" dirty="0"/>
              <a:t> la </a:t>
            </a:r>
            <a:r>
              <a:rPr lang="en-US" dirty="0" err="1"/>
              <a:t>ciberseguridad</a:t>
            </a:r>
            <a:r>
              <a:rPr lang="en-US" dirty="0"/>
              <a:t> le </a:t>
            </a:r>
            <a:r>
              <a:rPr lang="en-US" dirty="0" err="1"/>
              <a:t>añade</a:t>
            </a:r>
            <a:r>
              <a:rPr lang="en-US" dirty="0"/>
              <a:t> </a:t>
            </a:r>
            <a:r>
              <a:rPr lang="en-US" dirty="0" err="1"/>
              <a:t>una</a:t>
            </a:r>
            <a:r>
              <a:rPr lang="en-US" dirty="0"/>
              <a:t> </a:t>
            </a:r>
            <a:r>
              <a:rPr lang="en-US" dirty="0" err="1"/>
              <a:t>capa</a:t>
            </a:r>
            <a:r>
              <a:rPr lang="en-US" dirty="0"/>
              <a:t> extra de </a:t>
            </a:r>
            <a:r>
              <a:rPr lang="en-US" dirty="0" err="1"/>
              <a:t>estrés</a:t>
            </a:r>
            <a:r>
              <a:rPr lang="en-US" dirty="0"/>
              <a:t> y </a:t>
            </a:r>
            <a:r>
              <a:rPr lang="en-US" dirty="0" err="1"/>
              <a:t>ansiedad</a:t>
            </a:r>
            <a:r>
              <a:rPr lang="en-US" dirty="0"/>
              <a:t>?</a:t>
            </a:r>
          </a:p>
          <a:p>
            <a:r>
              <a:rPr lang="en-US" dirty="0" err="1"/>
              <a:t>Tenemos</a:t>
            </a:r>
            <a:r>
              <a:rPr lang="en-US" dirty="0"/>
              <a:t> </a:t>
            </a:r>
            <a:r>
              <a:rPr lang="en-US" dirty="0" err="1"/>
              <a:t>acceso</a:t>
            </a:r>
            <a:r>
              <a:rPr lang="en-US" dirty="0"/>
              <a:t> a </a:t>
            </a:r>
            <a:r>
              <a:rPr lang="en-US" dirty="0" err="1"/>
              <a:t>información</a:t>
            </a:r>
            <a:r>
              <a:rPr lang="en-US" dirty="0"/>
              <a:t> de la </a:t>
            </a:r>
            <a:r>
              <a:rPr lang="en-US" dirty="0" err="1"/>
              <a:t>empresa</a:t>
            </a:r>
            <a:r>
              <a:rPr lang="en-US" dirty="0"/>
              <a:t> </a:t>
            </a:r>
            <a:r>
              <a:rPr lang="en-US" dirty="0" err="1"/>
              <a:t>como</a:t>
            </a:r>
            <a:r>
              <a:rPr lang="en-US" dirty="0"/>
              <a:t> Facturas, </a:t>
            </a:r>
            <a:r>
              <a:rPr lang="en-US" dirty="0" err="1"/>
              <a:t>aprobaciones</a:t>
            </a:r>
            <a:r>
              <a:rPr lang="en-US" dirty="0"/>
              <a:t>, </a:t>
            </a:r>
            <a:r>
              <a:rPr lang="en-US" dirty="0" err="1"/>
              <a:t>correos</a:t>
            </a:r>
            <a:r>
              <a:rPr lang="en-US" dirty="0"/>
              <a:t>, bases de </a:t>
            </a:r>
            <a:r>
              <a:rPr lang="en-US" dirty="0" err="1"/>
              <a:t>datos</a:t>
            </a:r>
            <a:r>
              <a:rPr lang="en-US" dirty="0"/>
              <a:t>, </a:t>
            </a:r>
            <a:r>
              <a:rPr lang="en-US" dirty="0" err="1"/>
              <a:t>documentos</a:t>
            </a:r>
            <a:r>
              <a:rPr lang="en-US" dirty="0"/>
              <a:t>. </a:t>
            </a:r>
            <a:r>
              <a:rPr lang="en-US" dirty="0" err="1"/>
              <a:t>Puede</a:t>
            </a:r>
            <a:r>
              <a:rPr lang="en-US" dirty="0"/>
              <a:t> </a:t>
            </a:r>
            <a:r>
              <a:rPr lang="en-US" dirty="0" err="1"/>
              <a:t>parecernos</a:t>
            </a:r>
            <a:r>
              <a:rPr lang="en-US" dirty="0"/>
              <a:t> </a:t>
            </a:r>
            <a:r>
              <a:rPr lang="en-US" dirty="0" err="1"/>
              <a:t>que</a:t>
            </a:r>
            <a:r>
              <a:rPr lang="en-US" dirty="0"/>
              <a:t> la </a:t>
            </a:r>
            <a:r>
              <a:rPr lang="en-US" dirty="0" err="1"/>
              <a:t>información</a:t>
            </a:r>
            <a:r>
              <a:rPr lang="en-US" dirty="0"/>
              <a:t> </a:t>
            </a:r>
            <a:r>
              <a:rPr lang="en-US" dirty="0" err="1"/>
              <a:t>que</a:t>
            </a:r>
            <a:r>
              <a:rPr lang="en-US" dirty="0"/>
              <a:t> </a:t>
            </a:r>
            <a:r>
              <a:rPr lang="en-US" dirty="0" err="1"/>
              <a:t>manejamos</a:t>
            </a:r>
            <a:r>
              <a:rPr lang="en-US" dirty="0"/>
              <a:t> no es tan </a:t>
            </a:r>
            <a:r>
              <a:rPr lang="en-US" dirty="0" err="1"/>
              <a:t>relevante</a:t>
            </a:r>
            <a:r>
              <a:rPr lang="en-US" dirty="0"/>
              <a:t> </a:t>
            </a:r>
            <a:r>
              <a:rPr lang="en-US" dirty="0" err="1"/>
              <a:t>pero</a:t>
            </a:r>
            <a:r>
              <a:rPr lang="en-US" dirty="0"/>
              <a:t> para un </a:t>
            </a:r>
            <a:r>
              <a:rPr lang="en-US" dirty="0" err="1"/>
              <a:t>atacante</a:t>
            </a:r>
            <a:r>
              <a:rPr lang="en-US" dirty="0"/>
              <a:t> </a:t>
            </a:r>
            <a:r>
              <a:rPr lang="en-US" dirty="0" err="1"/>
              <a:t>esta</a:t>
            </a:r>
            <a:r>
              <a:rPr lang="en-US" dirty="0"/>
              <a:t> </a:t>
            </a:r>
            <a:r>
              <a:rPr lang="en-US" dirty="0" err="1"/>
              <a:t>información</a:t>
            </a:r>
            <a:r>
              <a:rPr lang="en-US" dirty="0"/>
              <a:t> es </a:t>
            </a:r>
            <a:r>
              <a:rPr lang="en-US" dirty="0" err="1"/>
              <a:t>oro</a:t>
            </a:r>
            <a:r>
              <a:rPr lang="en-US" dirty="0"/>
              <a:t> y van a </a:t>
            </a:r>
            <a:r>
              <a:rPr lang="en-US" dirty="0" err="1"/>
              <a:t>buscar</a:t>
            </a:r>
            <a:r>
              <a:rPr lang="en-US" dirty="0"/>
              <a:t> </a:t>
            </a:r>
            <a:r>
              <a:rPr lang="en-US" dirty="0" err="1"/>
              <a:t>conseguirla</a:t>
            </a:r>
            <a:r>
              <a:rPr lang="en-US" dirty="0"/>
              <a:t> </a:t>
            </a:r>
            <a:r>
              <a:rPr lang="en-US" dirty="0" err="1"/>
              <a:t>engañandonos</a:t>
            </a:r>
            <a:r>
              <a:rPr lang="en-US" dirty="0"/>
              <a:t>.</a:t>
            </a:r>
          </a:p>
          <a:p>
            <a:r>
              <a:rPr lang="en-US" dirty="0"/>
              <a:t>Esto se </a:t>
            </a:r>
            <a:r>
              <a:rPr lang="en-US" dirty="0" err="1"/>
              <a:t>conoce</a:t>
            </a:r>
            <a:r>
              <a:rPr lang="en-US" dirty="0"/>
              <a:t> </a:t>
            </a:r>
            <a:r>
              <a:rPr lang="en-US" dirty="0" err="1"/>
              <a:t>como</a:t>
            </a:r>
            <a:r>
              <a:rPr lang="en-US" dirty="0"/>
              <a:t> phishing, </a:t>
            </a:r>
            <a:r>
              <a:rPr lang="en-US" dirty="0" err="1"/>
              <a:t>pero</a:t>
            </a:r>
            <a:r>
              <a:rPr lang="en-US" dirty="0"/>
              <a:t> </a:t>
            </a:r>
            <a:r>
              <a:rPr lang="en-US" dirty="0" err="1"/>
              <a:t>quiero</a:t>
            </a:r>
            <a:r>
              <a:rPr lang="en-US" dirty="0"/>
              <a:t> </a:t>
            </a:r>
            <a:r>
              <a:rPr lang="en-US" dirty="0" err="1"/>
              <a:t>que</a:t>
            </a:r>
            <a:r>
              <a:rPr lang="en-US" dirty="0"/>
              <a:t> </a:t>
            </a:r>
            <a:r>
              <a:rPr lang="en-US" dirty="0" err="1"/>
              <a:t>sepas</a:t>
            </a:r>
            <a:r>
              <a:rPr lang="en-US" dirty="0"/>
              <a:t> </a:t>
            </a:r>
            <a:r>
              <a:rPr lang="en-US" dirty="0" err="1"/>
              <a:t>que</a:t>
            </a:r>
            <a:r>
              <a:rPr lang="en-US" dirty="0"/>
              <a:t> el phishing no es </a:t>
            </a:r>
            <a:r>
              <a:rPr lang="en-US" dirty="0" err="1"/>
              <a:t>tu</a:t>
            </a:r>
            <a:r>
              <a:rPr lang="en-US" dirty="0"/>
              <a:t> culpa. </a:t>
            </a:r>
            <a:r>
              <a:rPr lang="en-US" dirty="0" err="1"/>
              <a:t>Reportar</a:t>
            </a:r>
            <a:r>
              <a:rPr lang="en-US" dirty="0"/>
              <a:t> </a:t>
            </a:r>
            <a:r>
              <a:rPr lang="en-US" dirty="0" err="1"/>
              <a:t>siempre</a:t>
            </a:r>
            <a:r>
              <a:rPr lang="en-US" dirty="0"/>
              <a:t> </a:t>
            </a:r>
            <a:r>
              <a:rPr lang="en-US" dirty="0" err="1"/>
              <a:t>va</a:t>
            </a:r>
            <a:r>
              <a:rPr lang="en-US" dirty="0"/>
              <a:t> a ser la </a:t>
            </a:r>
            <a:r>
              <a:rPr lang="en-US" dirty="0" err="1"/>
              <a:t>mejor</a:t>
            </a:r>
            <a:r>
              <a:rPr lang="en-US" dirty="0"/>
              <a:t> </a:t>
            </a:r>
            <a:r>
              <a:rPr lang="en-US" dirty="0" err="1"/>
              <a:t>opcion</a:t>
            </a:r>
            <a:r>
              <a:rPr lang="en-US" dirty="0"/>
              <a:t>.</a:t>
            </a:r>
          </a:p>
          <a:p>
            <a:r>
              <a:rPr lang="en-US" dirty="0"/>
              <a:t>Lo </a:t>
            </a:r>
            <a:r>
              <a:rPr lang="en-US" dirty="0" err="1"/>
              <a:t>más</a:t>
            </a:r>
            <a:r>
              <a:rPr lang="en-US" dirty="0"/>
              <a:t> </a:t>
            </a:r>
            <a:r>
              <a:rPr lang="en-US" dirty="0" err="1"/>
              <a:t>irónico</a:t>
            </a:r>
            <a:r>
              <a:rPr lang="en-US" dirty="0"/>
              <a:t> de </a:t>
            </a:r>
            <a:r>
              <a:rPr lang="en-US" dirty="0" err="1"/>
              <a:t>todo</a:t>
            </a:r>
            <a:r>
              <a:rPr lang="en-US" dirty="0"/>
              <a:t> es </a:t>
            </a:r>
            <a:r>
              <a:rPr lang="en-US" dirty="0" err="1"/>
              <a:t>que</a:t>
            </a:r>
            <a:r>
              <a:rPr lang="en-US" dirty="0"/>
              <a:t> </a:t>
            </a:r>
            <a:r>
              <a:rPr lang="en-US" dirty="0" err="1"/>
              <a:t>todos</a:t>
            </a:r>
            <a:r>
              <a:rPr lang="en-US" dirty="0"/>
              <a:t> </a:t>
            </a:r>
            <a:r>
              <a:rPr lang="en-US" dirty="0" err="1"/>
              <a:t>tenemos</a:t>
            </a:r>
            <a:r>
              <a:rPr lang="en-US" dirty="0"/>
              <a:t> </a:t>
            </a:r>
            <a:r>
              <a:rPr lang="en-US" dirty="0" err="1"/>
              <a:t>que</a:t>
            </a:r>
            <a:r>
              <a:rPr lang="en-US" dirty="0"/>
              <a:t> </a:t>
            </a:r>
            <a:r>
              <a:rPr lang="en-US" dirty="0" err="1"/>
              <a:t>estar</a:t>
            </a:r>
            <a:r>
              <a:rPr lang="en-US" dirty="0"/>
              <a:t> </a:t>
            </a:r>
            <a:r>
              <a:rPr lang="en-US" dirty="0" err="1"/>
              <a:t>alerta</a:t>
            </a:r>
            <a:r>
              <a:rPr lang="en-US" dirty="0"/>
              <a:t>, </a:t>
            </a:r>
            <a:r>
              <a:rPr lang="en-US" dirty="0" err="1"/>
              <a:t>ya</a:t>
            </a:r>
            <a:r>
              <a:rPr lang="en-US" dirty="0"/>
              <a:t> </a:t>
            </a:r>
            <a:r>
              <a:rPr lang="en-US" dirty="0" err="1"/>
              <a:t>que</a:t>
            </a:r>
            <a:r>
              <a:rPr lang="en-US" dirty="0"/>
              <a:t> hasta las </a:t>
            </a:r>
            <a:r>
              <a:rPr lang="en-US" dirty="0" err="1"/>
              <a:t>empresas</a:t>
            </a:r>
            <a:r>
              <a:rPr lang="en-US" dirty="0"/>
              <a:t> de </a:t>
            </a:r>
            <a:r>
              <a:rPr lang="en-US" dirty="0" err="1"/>
              <a:t>ciberseguridad</a:t>
            </a:r>
            <a:r>
              <a:rPr lang="en-US" dirty="0"/>
              <a:t> </a:t>
            </a:r>
            <a:r>
              <a:rPr lang="en-US" dirty="0" err="1"/>
              <a:t>caen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KnowBe4 es una empresa cuyo negocio es entrenar empleados contra el phishing. En julio de 2024 contrató a un ingeniero remoto que resultó ser un operativo de Corea del Norte. Si le pasa a ellos, a cualquiera le puede pasar. Lo importante es cómo terminó: nadie fue despedido por haberlo entrevistado; el sistema de detección alertó en unos 25 minutos y contuvieron el equipo esa misma noche. Fuente: blog.knowbe4.com, «How a North Korean Fake IT Worker Tried to Infiltrate Us».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al primer bloque, unos 15 minutos. Idea central: los ataques no explotan que no sepas de tecnología. Explotan emociones que todos tenemos. Reconocer la emoción es la defensa.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los cuatro mensajes en voz alta. Preguntar: ¿cuál de estos han recibido? Casi siempre alguien reconoce el del gerente o el del banco. El punto: ninguno pide saber de tecnología. Todos buscan que actúes antes de pensar. Si reconoces la emoción, ya ganaste la mitad.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Como resultado, se transfirieron aproximadamente 25 millones de dólares a cinco cuentas bancarias en Hong Kong [1]. El robo no se detectó hasta que el empleado que fue víctima del ataque se comunicó con un superior de </a:t>
            </a:r>
            <a:r>
              <a:rPr lang="es-ES" dirty="0" err="1"/>
              <a:t>Arup</a:t>
            </a:r>
            <a:r>
              <a:rPr lang="es-ES" dirty="0"/>
              <a:t>, quien no tenía conocimiento de las transacciones en cuestión. A finales de 2025, la investigación seguía en curso y no se ha dado a conocer públicamente ninguna información nueva sobre el atacante.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Contraste directo con Arup. Mismo tipo de ataque, distinto final. La diferencia no fue tecnología, fue una pausa y una pregunta que solo la persona real podía responder. Invitar a la sala a pensar: ¿qué pregunta le harían a su jefe? Lo que almorzaron, el nombre de su mascota, algo de la última reunión. Fuente: Bloomberg, 26 de julio de 2024; La República (Colombia).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EEBE2-BAF2-86D4-E0A5-40BFE7DF9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592BC8-506D-46CB-B429-432F1C0F9D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8454B-EF9A-8DEF-4D30-857702DF34D5}"/>
              </a:ext>
            </a:extLst>
          </p:cNvPr>
          <p:cNvSpPr>
            <a:spLocks noGrp="1"/>
          </p:cNvSpPr>
          <p:nvPr>
            <p:ph type="body" idx="1"/>
          </p:nvPr>
        </p:nvSpPr>
        <p:spPr/>
        <p:txBody>
          <a:bodyPr/>
          <a:lstStyle/>
          <a:p>
            <a:r>
              <a:rPr lang="en-US" dirty="0"/>
              <a:t>Contraste directo con Arup. Mismo tipo de ataque, distinto final. La diferencia no fue tecnología, fue una pausa y una pregunta que solo la persona real podía responder. Invitar a la sala a pensar: ¿qué pregunta le harían a su jefe? Lo que almorzaron, el nombre de su mascota, algo de la última reunión. Fuente: Bloomberg, 26 de julio de 2024; La República (Colombia).</a:t>
            </a:r>
          </a:p>
        </p:txBody>
      </p:sp>
      <p:sp>
        <p:nvSpPr>
          <p:cNvPr id="4" name="Slide Number Placeholder 3">
            <a:extLst>
              <a:ext uri="{FF2B5EF4-FFF2-40B4-BE49-F238E27FC236}">
                <a16:creationId xmlns:a16="http://schemas.microsoft.com/office/drawing/2014/main" id="{BAAF0817-3D6A-A460-C6CA-950B684A194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882875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la frase y dejar un silencio. Si la empresa cliente está presente con un directivo, es ideal que esa persona lo confirme en voz alta: «En esta empresa, confirmar nunca es un problema». Ese respaldo vale más que cualquier diapositiva.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al segundo bloque, unos 15 minutos. Idea central: no se trata de recordar más cosas, sino de recordar menos y hacerlas automáticas.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la empresa ya tiene un gestor aprobado, hacer una demostración de dos minutos: guardar una contraseña y autocompletarla. Si no lo tiene, este es el momento de recomendarlo a la gerencia; es de las medidas con mejor relación costo beneficio. Presentarlo como bienestar, no como obligación: menos cosas que recordar.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hábito que habría salvado a Arup y el que salvó a Ferrari. Remarcar el alivio: la responsabilidad no es detectar el fraude, es seguir el proceso. Que el proceso te proteja. Si la empresa no tiene un canal de verificación definido, anotarlo como tarea para las reglas de la casa al final.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Este hábito es la red de seguridad: si algún día caes en un correo falso y entregas tu contraseña, el atacante todavía necesita tu celular. Por eso baja la ansiedad: no tienes que ser perfecto detectando estafas. Se activa una sola vez, en unos cinco minutos, en la configuración de seguridad de cada cuenta. Prioridad: el correo (es la llave para recuperar todo lo demás), el banco y WhatsApp (Ajustes &gt; Cuenta &gt; Verificación en dos pasos). Si la empresa lo permite, hacer la demostración en vivo con WhatsApp: es la que todos tienen. Mensaje clave sobre los códigos: un código que llega sin haberlo pedido no es un error, es la señal de que alguien tiene tu contraseña y el segundo paso lo frenó. Nunca se le dicta a nadie, ni a quien diga ser del banco o de soporte. Cambiar la contraseña y avisar a seguridad. Fuentes: CISA, «More than a Password» (cisa.gov/MFA); Microsoft reporta que la verificación en varios pasos bloquea más del 99 % de los ataques automatizados a cuentas; WhatsApp, centro de ayuda «Cómo usar la verificación en dos pasos».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Explicarlo con un ejemplo cotidiano: «ayúdame a responderle a Juan Pérez, cédula tal, que tiene un crédito en mora». Al dar enviar: (1) el texto sale cifrado de tu computador; (2) llega a los servidores del proveedor, normalmente en Estados Unidos; (3) se guarda en el historial y en registros de seguridad al menos unos 30 días aunque borres el chat, y en algunos casos revisores humanos leen conversaciones (Google lo declara para Gemini personal y conserva lo revisado hasta 3 años). Además, un juez puede ordenar conservar los chats: en el caso New York Times contra OpenAI (2025) se ordenó preservar incluso chats borrados. En Colombia, enviar datos personales de clientes a otro país requiere autorización del titular y contrato con el proveedor (Ley 1581 de 2012). Fuentes: help.openai.com (retención de chats), support.google.com/gemini/answer/13594961, openai.com/index/response-to-nyt-data-demands.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Casi todos los proveedores dicen «no entrenamos con tus datos», pero depende del plan y de un interruptor que casi nadie abre. Ejemplos (verificados a octubre de 2026; revisar antes de presentar): ChatGPT Free, Plus y Pro entrenan por defecto salvo que apagues «Mejorar el modelo para todos»; Business, Enterprise y API no. Claude Free, Pro y Max deben elegir desde octubre de 2025 (si aceptan, 5 años de retención); Team, Enterprise y API no se usan para entrenar. Gemini personal con «Actividad» activada entrena y puede ser revisado por humanos; Workspace empresarial no. Copilot con cuenta personal entrena salvo opt-out; con cuenta de trabajo de Microsoft 365, no. Detalle: en ChatGPT, dar pulgar arriba o abajo permite usar esa conversación aunque el entrenamiento esté apagado. Mensaje final: lo muy delicado no va a ninguna IA externa. Fuentes: help.openai.com/en/articles/7730893, anthropic.com/news/updates-to-our-consumer-terms, support.google.com/gemini/answer/13594961, learn.microsoft.com/copilot/microsoft-365/enterprise-data-protection.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al tercer bloque, unos 12 minutos. Es el bloque más importante para el bienestar: lo que más estrés genera no es el clic, es esconderlo y quedarse con la duda.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la pregunta y escuchar. Respuestas comunes: «cierro la ventana y espero que no pase nada», «le pregunto a un compañero», «no diría nada por vergüenza». Agradecer cada respuesta sin corregir. La respuesta «no diría nada» es la más valiosa para la conversación: es humana, y es justo lo que vamos a cambiar.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Hablar desde la experiencia de Pralogy: cuando atendemos un incidente, lo que necesitamos es información rápida, no culpables. Si una empresa castiga a quien reporta, la próxima vez nadie reporta, y ahí sí el daño crece. Opcional: mencionar el concepto de seguridad psicológica de Amy Edmondson (Harvard): los equipos donde se puede admitir un error sin miedo son los que mejor funcionan.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Mucha ansiedad viene de no saber qué pasa después. Desmitificarlo baja el miedo a reportar. Ajustar los tres pasos al proceso real de la empresa cliente o al servicio que presta Pralogy. Si hay alguien de TI en la sala, invitarlo a confirmar en voz alta que así funciona.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literalmente que le tomen foto. Luego, juego de roles de cuatro minutos: una persona voluntaria «confiesa» un clic y el expositor responde como equipo de seguridad. La respuesta modelo empieza con «Gracias por avisar tan rápido». Mostrar que recibir un reporte se hace con gratitud, no con reproche. Reemplazar [canal de reporte] por el canal real de la empresa cliente antes de presentar.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las cuatro ideas despacio. Si la empresa puede, entregar esta diapositiva impresa como tarjeta para el escritorio. Volver a la pregunta del inicio: ¿alguien sigue sintiendo que es el eslabón débil? Ojalá menos manos.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Completar con la empresa cliente antes de la charla. Si algún campo queda vacío, decirlo con honestidad y proponer a la gerencia definirlo; Pralogy puede ofrecerse como canal de reporte para clientes que no tienen uno. Esta diapositiva es la que convierte la charla en algo accionable.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preguntas, unos cinco minutos. Si se hizo la encuesta previa, comentar uno o dos resultados aquí. Preguntas útiles para abrir la conversación si nadie habla: ¿la presión de detectar estafas agrega estrés a tu día? ¿Hay alguna política de seguridad que te complique la rutina? Anotar las respuestas para ajustar la siguiente sesión.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41041"/>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C2142"/>
                </a:solidFill>
                <a:latin typeface="Fraunces" pitchFamily="34" charset="0"/>
                <a:ea typeface="Fraunces" pitchFamily="34" charset="-122"/>
                <a:cs typeface="Fraunce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48681"/>
            <a:ext cx="10566400" cy="3896519"/>
          </a:xfrm>
          <a:prstGeom prst="rect">
            <a:avLst/>
          </a:prstGeom>
          <a:noFill/>
          <a:ln/>
        </p:spPr>
        <p:txBody>
          <a:bodyPr wrap="square" lIns="0" tIns="0" rIns="0" bIns="0" rtlCol="0" anchor="t"/>
          <a:lstStyle>
            <a:lvl1pPr marL="0" indent="0" algn="l">
              <a:lnSpc>
                <a:spcPct val="140000"/>
              </a:lnSpc>
              <a:buNone/>
              <a:defRPr lang="en-US" sz="1600" dirty="0">
                <a:solidFill>
                  <a:srgbClr val="1C2142"/>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41041"/>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C2142"/>
                </a:solidFill>
                <a:latin typeface="Fraunces" pitchFamily="34" charset="0"/>
                <a:ea typeface="Fraunces" pitchFamily="34" charset="-122"/>
                <a:cs typeface="Fraunce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48681"/>
            <a:ext cx="10566400" cy="3896519"/>
          </a:xfrm>
          <a:prstGeom prst="rect">
            <a:avLst/>
          </a:prstGeom>
          <a:noFill/>
          <a:ln/>
        </p:spPr>
        <p:txBody>
          <a:bodyPr wrap="square" lIns="0" tIns="0" rIns="0" bIns="0" rtlCol="0" anchor="t"/>
          <a:lstStyle>
            <a:lvl1pPr marL="0" indent="0" algn="l">
              <a:lnSpc>
                <a:spcPct val="140000"/>
              </a:lnSpc>
              <a:buNone/>
              <a:defRPr lang="en-US" sz="1600" dirty="0">
                <a:solidFill>
                  <a:srgbClr val="1C2142"/>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hyperlink" Target="https://blog.knowbe4.com/how-a-north-korean-fake-it-worker-tried-to-infiltrate-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hyperlink" Target="https://westoahu.hawaii.edu/cyber/forensics-weekly-executive-summmaries/arup-deekfake-scam-forensic-analysis/" TargetMode="External"/><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2.xml"/><Relationship Id="rId4" Type="http://schemas.openxmlformats.org/officeDocument/2006/relationships/notesSlide" Target="../notesSlides/notesSlide8.xml"/><Relationship Id="rId5" Type="http://schemas.openxmlformats.org/officeDocument/2006/relationships/image" Target="../media/image1.png"/><Relationship Id="rId6"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hyperlink" Target="https://inspiredelearning.com/blog/ferrari-deepfake-attack-foiled-with-simple-questi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1.png"/><Relationship Id="rId5"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7.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5F1"/>
        </a:solidFill>
        <a:effectLst/>
      </p:bgPr>
    </p:bg>
    <p:spTree>
      <p:nvGrpSpPr>
        <p:cNvPr id="1" name=""/>
        <p:cNvGrpSpPr/>
        <p:nvPr/>
      </p:nvGrpSpPr>
      <p:grpSpPr>
        <a:xfrm>
          <a:off x="0" y="0"/>
          <a:ext cx="0" cy="0"/>
          <a:chOff x="0" y="0"/>
          <a:chExt cx="0" cy="0"/>
        </a:xfrm>
      </p:grpSpPr>
      <p:sp>
        <p:nvSpPr>
          <p:cNvPr id="2" name="Shape 0"/>
          <p:cNvSpPr/>
          <p:nvPr/>
        </p:nvSpPr>
        <p:spPr>
          <a:xfrm>
            <a:off x="7759192" y="889000"/>
            <a:ext cx="3937000" cy="3937000"/>
          </a:xfrm>
          <a:prstGeom prst="roundRect">
            <a:avLst>
              <a:gd name="adj" fmla="val 41290"/>
            </a:avLst>
          </a:prstGeom>
          <a:solidFill>
            <a:srgbClr val="E9ECF4"/>
          </a:solidFill>
          <a:ln/>
        </p:spPr>
        <p:txBody>
          <a:bodyPr/>
          <a:lstStyle/>
          <a:p>
            <a:endParaRPr lang="es-CO" noProof="0" dirty="0"/>
          </a:p>
        </p:txBody>
      </p:sp>
      <p:sp>
        <p:nvSpPr>
          <p:cNvPr id="3" name="Shape 1"/>
          <p:cNvSpPr/>
          <p:nvPr/>
        </p:nvSpPr>
        <p:spPr>
          <a:xfrm>
            <a:off x="9283192" y="3302000"/>
            <a:ext cx="2413000" cy="2413000"/>
          </a:xfrm>
          <a:prstGeom prst="roundRect">
            <a:avLst>
              <a:gd name="adj" fmla="val 50000"/>
            </a:avLst>
          </a:prstGeom>
          <a:solidFill>
            <a:srgbClr val="DCE0F0"/>
          </a:solidFill>
          <a:ln/>
        </p:spPr>
        <p:txBody>
          <a:bodyPr/>
          <a:lstStyle/>
          <a:p>
            <a:endParaRPr lang="es-CO" noProof="0" dirty="0"/>
          </a:p>
        </p:txBody>
      </p:sp>
      <p:sp>
        <p:nvSpPr>
          <p:cNvPr id="4" name="Shape 2"/>
          <p:cNvSpPr/>
          <p:nvPr/>
        </p:nvSpPr>
        <p:spPr>
          <a:xfrm>
            <a:off x="8267192" y="3810000"/>
            <a:ext cx="889000" cy="889000"/>
          </a:xfrm>
          <a:prstGeom prst="roundRect">
            <a:avLst>
              <a:gd name="adj" fmla="val 50000"/>
            </a:avLst>
          </a:prstGeom>
          <a:solidFill>
            <a:srgbClr val="C7CCE8"/>
          </a:solidFill>
          <a:ln/>
        </p:spPr>
        <p:txBody>
          <a:bodyPr/>
          <a:lstStyle/>
          <a:p>
            <a:endParaRPr lang="es-CO" noProof="0" dirty="0"/>
          </a:p>
        </p:txBody>
      </p:sp>
      <p:pic>
        <p:nvPicPr>
          <p:cNvPr id="5" name="Image 0" descr="Logo de Pralogy"/>
          <p:cNvPicPr>
            <a:picLocks noChangeAspect="1"/>
          </p:cNvPicPr>
          <p:nvPr/>
        </p:nvPicPr>
        <p:blipFill>
          <a:blip r:embed="rId3"/>
          <a:srcRect t="-22" b="-22"/>
          <a:stretch/>
        </p:blipFill>
        <p:spPr>
          <a:xfrm>
            <a:off x="812800" y="812800"/>
            <a:ext cx="2095500" cy="431800"/>
          </a:xfrm>
          <a:prstGeom prst="rect">
            <a:avLst/>
          </a:prstGeom>
        </p:spPr>
      </p:pic>
      <p:sp>
        <p:nvSpPr>
          <p:cNvPr id="6" name="Text 3"/>
          <p:cNvSpPr/>
          <p:nvPr/>
        </p:nvSpPr>
        <p:spPr>
          <a:xfrm>
            <a:off x="812800" y="2033389"/>
            <a:ext cx="7194550" cy="274241"/>
          </a:xfrm>
          <a:prstGeom prst="rect">
            <a:avLst/>
          </a:prstGeom>
          <a:noFill/>
          <a:ln/>
        </p:spPr>
        <p:txBody>
          <a:bodyPr wrap="square" lIns="0" tIns="0" rIns="0" bIns="0" rtlCol="0" anchor="t">
            <a:normAutofit/>
          </a:bodyPr>
          <a:lstStyle/>
          <a:p>
            <a:pPr marL="0" indent="0" algn="l">
              <a:lnSpc>
                <a:spcPts val="1960"/>
              </a:lnSpc>
              <a:buNone/>
            </a:pPr>
            <a:r>
              <a:rPr lang="es-CO" sz="1400" b="1" kern="0" spc="150" noProof="0" dirty="0">
                <a:solidFill>
                  <a:srgbClr val="2F3EBF"/>
                </a:solidFill>
                <a:latin typeface="Nunito Sans" pitchFamily="34" charset="0"/>
                <a:ea typeface="Nunito Sans" pitchFamily="34" charset="-122"/>
                <a:cs typeface="Nunito Sans" pitchFamily="34" charset="-120"/>
              </a:rPr>
              <a:t>CAPACITACIÓN</a:t>
            </a:r>
            <a:endParaRPr lang="es-CO" sz="1400" noProof="0" dirty="0"/>
          </a:p>
        </p:txBody>
      </p:sp>
      <p:sp>
        <p:nvSpPr>
          <p:cNvPr id="7" name="Text 4"/>
          <p:cNvSpPr>
            <a:spLocks noGrp="1"/>
          </p:cNvSpPr>
          <p:nvPr>
            <p:ph type="title"/>
          </p:nvPr>
        </p:nvSpPr>
        <p:spPr>
          <a:xfrm>
            <a:off x="812800" y="2510830"/>
            <a:ext cx="7194550" cy="1625600"/>
          </a:xfrm>
          <a:prstGeom prst="rect">
            <a:avLst/>
          </a:prstGeom>
          <a:noFill/>
          <a:ln/>
        </p:spPr>
        <p:txBody>
          <a:bodyPr wrap="square" lIns="0" tIns="0" rIns="0" bIns="0" rtlCol="0" anchor="t">
            <a:normAutofit/>
          </a:bodyPr>
          <a:lstStyle/>
          <a:p>
            <a:pPr marL="0" indent="0" algn="l">
              <a:lnSpc>
                <a:spcPts val="6300"/>
              </a:lnSpc>
              <a:buNone/>
            </a:pPr>
            <a:r>
              <a:rPr lang="es-CO" sz="6000" b="0" i="0" noProof="0" dirty="0">
                <a:solidFill>
                  <a:srgbClr val="1C2142"/>
                </a:solidFill>
                <a:latin typeface="Fraunces" pitchFamily="18" charset="0"/>
                <a:ea typeface="Fraunces" pitchFamily="18" charset="-122"/>
                <a:cs typeface="Fraunces" pitchFamily="18" charset="-120"/>
              </a:rPr>
              <a:t>Ciberseguridad sin ansiedad</a:t>
            </a:r>
            <a:endParaRPr lang="es-CO" sz="6000" noProof="0" dirty="0"/>
          </a:p>
        </p:txBody>
      </p:sp>
      <p:sp>
        <p:nvSpPr>
          <p:cNvPr id="8" name="Text 5"/>
          <p:cNvSpPr/>
          <p:nvPr/>
        </p:nvSpPr>
        <p:spPr>
          <a:xfrm>
            <a:off x="812800" y="4339630"/>
            <a:ext cx="7194550" cy="711200"/>
          </a:xfrm>
          <a:prstGeom prst="rect">
            <a:avLst/>
          </a:prstGeom>
          <a:noFill/>
          <a:ln/>
        </p:spPr>
        <p:txBody>
          <a:bodyPr wrap="square" lIns="0" tIns="0" rIns="0" bIns="0" rtlCol="0" anchor="t">
            <a:normAutofit/>
          </a:bodyPr>
          <a:lstStyle/>
          <a:p>
            <a:pPr marL="0" indent="0" algn="l">
              <a:lnSpc>
                <a:spcPts val="2700"/>
              </a:lnSpc>
              <a:buNone/>
            </a:pPr>
            <a:r>
              <a:rPr lang="es-CO" sz="2000" noProof="0" dirty="0">
                <a:solidFill>
                  <a:srgbClr val="4A5070"/>
                </a:solidFill>
                <a:latin typeface="Nunito Sans" pitchFamily="34" charset="0"/>
                <a:ea typeface="Nunito Sans" pitchFamily="34" charset="-122"/>
                <a:cs typeface="Nunito Sans" pitchFamily="34" charset="-120"/>
              </a:rPr>
              <a:t>Cómo afrontar los retos que trae la ciberseguridad en el día a día sin estrés adicional.</a:t>
            </a:r>
            <a:endParaRPr lang="es-CO" sz="2000" noProof="0" dirty="0"/>
          </a:p>
        </p:txBody>
      </p:sp>
      <p:sp>
        <p:nvSpPr>
          <p:cNvPr id="9" name="Text 6"/>
          <p:cNvSpPr/>
          <p:nvPr/>
        </p:nvSpPr>
        <p:spPr>
          <a:xfrm>
            <a:off x="812800" y="5814120"/>
            <a:ext cx="10883392" cy="256480"/>
          </a:xfrm>
          <a:prstGeom prst="rect">
            <a:avLst/>
          </a:prstGeom>
          <a:noFill/>
          <a:ln/>
        </p:spPr>
        <p:txBody>
          <a:bodyPr wrap="square" lIns="0" tIns="0" rIns="0" bIns="0" rtlCol="0" anchor="t">
            <a:normAutofit/>
          </a:bodyPr>
          <a:lstStyle/>
          <a:p>
            <a:pPr marL="0" indent="0" algn="l">
              <a:lnSpc>
                <a:spcPts val="1820"/>
              </a:lnSpc>
              <a:buNone/>
            </a:pPr>
            <a:r>
              <a:rPr lang="es-CO" sz="1300" noProof="0" dirty="0">
                <a:solidFill>
                  <a:srgbClr val="6B7085"/>
                </a:solidFill>
                <a:latin typeface="Nunito Sans" pitchFamily="34" charset="0"/>
                <a:ea typeface="Nunito Sans" pitchFamily="34" charset="-122"/>
                <a:cs typeface="Nunito Sans" pitchFamily="34" charset="-120"/>
              </a:rPr>
              <a:t>Zamir Velázquez. Juan Cárdenas · 29 de Octubre de 2026 · [Cliente]</a:t>
            </a:r>
            <a:endParaRPr lang="es-CO" sz="13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CF4"/>
        </a:solidFill>
        <a:effectLst/>
      </p:bgPr>
    </p:bg>
    <p:spTree>
      <p:nvGrpSpPr>
        <p:cNvPr id="1" name=""/>
        <p:cNvGrpSpPr/>
        <p:nvPr/>
      </p:nvGrpSpPr>
      <p:grpSpPr>
        <a:xfrm>
          <a:off x="0" y="0"/>
          <a:ext cx="0" cy="0"/>
          <a:chOff x="0" y="0"/>
          <a:chExt cx="0" cy="0"/>
        </a:xfrm>
      </p:grpSpPr>
      <p:sp>
        <p:nvSpPr>
          <p:cNvPr id="2" name="Shape 0"/>
          <p:cNvSpPr/>
          <p:nvPr/>
        </p:nvSpPr>
        <p:spPr>
          <a:xfrm>
            <a:off x="8770493" y="1974469"/>
            <a:ext cx="2774950" cy="2774950"/>
          </a:xfrm>
          <a:prstGeom prst="roundRect">
            <a:avLst>
              <a:gd name="adj" fmla="val 50000"/>
            </a:avLst>
          </a:prstGeom>
          <a:noFill/>
          <a:ln w="19050">
            <a:solidFill>
              <a:srgbClr val="C7CCE8"/>
            </a:solidFill>
            <a:prstDash val="solid"/>
          </a:ln>
        </p:spPr>
        <p:txBody>
          <a:bodyPr/>
          <a:lstStyle/>
          <a:p>
            <a:endParaRPr lang="es-CO" noProof="0" dirty="0"/>
          </a:p>
        </p:txBody>
      </p:sp>
      <p:sp>
        <p:nvSpPr>
          <p:cNvPr id="3" name="Shape 1"/>
          <p:cNvSpPr/>
          <p:nvPr/>
        </p:nvSpPr>
        <p:spPr>
          <a:xfrm>
            <a:off x="9278493" y="2482469"/>
            <a:ext cx="1758950" cy="1758950"/>
          </a:xfrm>
          <a:prstGeom prst="roundRect">
            <a:avLst>
              <a:gd name="adj" fmla="val 50000"/>
            </a:avLst>
          </a:prstGeom>
          <a:noFill/>
          <a:ln w="19050">
            <a:solidFill>
              <a:srgbClr val="B3BAE0"/>
            </a:solidFill>
            <a:prstDash val="solid"/>
          </a:ln>
        </p:spPr>
        <p:txBody>
          <a:bodyPr/>
          <a:lstStyle/>
          <a:p>
            <a:endParaRPr lang="es-CO" noProof="0" dirty="0"/>
          </a:p>
        </p:txBody>
      </p:sp>
      <p:sp>
        <p:nvSpPr>
          <p:cNvPr id="4" name="Shape 2"/>
          <p:cNvSpPr/>
          <p:nvPr/>
        </p:nvSpPr>
        <p:spPr>
          <a:xfrm>
            <a:off x="9776968" y="2980944"/>
            <a:ext cx="762000" cy="762000"/>
          </a:xfrm>
          <a:prstGeom prst="roundRect">
            <a:avLst>
              <a:gd name="adj" fmla="val 50000"/>
            </a:avLst>
          </a:prstGeom>
          <a:solidFill>
            <a:srgbClr val="C7CCE8"/>
          </a:solidFill>
          <a:ln/>
        </p:spPr>
        <p:txBody>
          <a:bodyPr/>
          <a:lstStyle/>
          <a:p>
            <a:endParaRPr lang="es-CO" noProof="0" dirty="0"/>
          </a:p>
        </p:txBody>
      </p:sp>
      <p:sp>
        <p:nvSpPr>
          <p:cNvPr id="5" name="Text 3"/>
          <p:cNvSpPr/>
          <p:nvPr/>
        </p:nvSpPr>
        <p:spPr>
          <a:xfrm>
            <a:off x="812800" y="1259284"/>
            <a:ext cx="10883392" cy="274241"/>
          </a:xfrm>
          <a:prstGeom prst="rect">
            <a:avLst/>
          </a:prstGeom>
          <a:noFill/>
          <a:ln/>
        </p:spPr>
        <p:txBody>
          <a:bodyPr wrap="square" lIns="0" tIns="0" rIns="0" bIns="0" rtlCol="0" anchor="t">
            <a:normAutofit/>
          </a:bodyPr>
          <a:lstStyle/>
          <a:p>
            <a:pPr marL="0" indent="0" algn="l">
              <a:lnSpc>
                <a:spcPts val="1960"/>
              </a:lnSpc>
              <a:buNone/>
            </a:pPr>
            <a:r>
              <a:rPr lang="es-CO" sz="1400" b="1" kern="0" spc="150" noProof="0" dirty="0">
                <a:solidFill>
                  <a:srgbClr val="2F3EBF"/>
                </a:solidFill>
                <a:latin typeface="Nunito Sans" pitchFamily="34" charset="0"/>
              </a:rPr>
              <a:t>INTRODUCCIÓN</a:t>
            </a:r>
            <a:endParaRPr lang="es-CO" sz="1400" noProof="0" dirty="0"/>
          </a:p>
        </p:txBody>
      </p:sp>
      <p:sp>
        <p:nvSpPr>
          <p:cNvPr id="6" name="Text 4"/>
          <p:cNvSpPr>
            <a:spLocks noGrp="1"/>
          </p:cNvSpPr>
          <p:nvPr>
            <p:ph type="title"/>
          </p:nvPr>
        </p:nvSpPr>
        <p:spPr>
          <a:xfrm>
            <a:off x="750888" y="2129905"/>
            <a:ext cx="7194550" cy="640060"/>
          </a:xfrm>
          <a:prstGeom prst="rect">
            <a:avLst/>
          </a:prstGeom>
          <a:noFill/>
          <a:ln/>
        </p:spPr>
        <p:txBody>
          <a:bodyPr wrap="square" lIns="0" tIns="0" rIns="0" bIns="0" rtlCol="0" anchor="t">
            <a:normAutofit fontScale="90000"/>
          </a:bodyPr>
          <a:lstStyle/>
          <a:p>
            <a:pPr marL="0" indent="0" algn="l">
              <a:lnSpc>
                <a:spcPts val="4840"/>
              </a:lnSpc>
              <a:buNone/>
            </a:pPr>
            <a:r>
              <a:rPr lang="es-CO" sz="4400" b="0" i="0" noProof="0" dirty="0">
                <a:solidFill>
                  <a:srgbClr val="1C2142"/>
                </a:solidFill>
                <a:latin typeface="Fraunces" pitchFamily="18" charset="0"/>
                <a:ea typeface="Fraunces" pitchFamily="18" charset="-122"/>
                <a:cs typeface="Fraunces" pitchFamily="18" charset="-120"/>
              </a:rPr>
              <a:t>¿Por qué yo? ¿Es necesario?</a:t>
            </a:r>
            <a:endParaRPr lang="es-CO" sz="4400" noProof="0" dirty="0"/>
          </a:p>
        </p:txBody>
      </p:sp>
      <p:sp>
        <p:nvSpPr>
          <p:cNvPr id="7" name="Text 5"/>
          <p:cNvSpPr/>
          <p:nvPr/>
        </p:nvSpPr>
        <p:spPr>
          <a:xfrm>
            <a:off x="646557" y="3117673"/>
            <a:ext cx="7617968" cy="1873603"/>
          </a:xfrm>
          <a:prstGeom prst="rect">
            <a:avLst/>
          </a:prstGeom>
          <a:noFill/>
          <a:ln/>
        </p:spPr>
        <p:txBody>
          <a:bodyPr wrap="square" lIns="0" tIns="0" rIns="0" bIns="0" rtlCol="0" anchor="t">
            <a:normAutofit/>
          </a:bodyPr>
          <a:lstStyle/>
          <a:p>
            <a:pPr marL="342900" indent="-342900">
              <a:lnSpc>
                <a:spcPts val="2800"/>
              </a:lnSpc>
              <a:buFont typeface="Wingdings" panose="05000000000000000000" pitchFamily="2" charset="2"/>
              <a:buChar char="§"/>
            </a:pPr>
            <a:r>
              <a:rPr lang="es-CO" sz="2000" noProof="0" dirty="0">
                <a:solidFill>
                  <a:srgbClr val="4A5070"/>
                </a:solidFill>
                <a:latin typeface="Nunito Sans" pitchFamily="34" charset="0"/>
                <a:ea typeface="Nunito Sans" pitchFamily="34" charset="-122"/>
                <a:cs typeface="Nunito Sans" pitchFamily="34" charset="-120"/>
              </a:rPr>
              <a:t>Facturas, aprobaciones, correos, bases de datos, documentos. </a:t>
            </a:r>
          </a:p>
          <a:p>
            <a:pPr marL="342900" indent="-342900">
              <a:lnSpc>
                <a:spcPts val="2800"/>
              </a:lnSpc>
              <a:buFont typeface="Wingdings" panose="05000000000000000000" pitchFamily="2" charset="2"/>
              <a:buChar char="§"/>
            </a:pPr>
            <a:r>
              <a:rPr lang="es-CO" sz="2000" noProof="0" dirty="0">
                <a:solidFill>
                  <a:srgbClr val="4A5070"/>
                </a:solidFill>
                <a:latin typeface="Nunito Sans" pitchFamily="34" charset="0"/>
                <a:ea typeface="Nunito Sans" pitchFamily="34" charset="-122"/>
                <a:cs typeface="Nunito Sans" pitchFamily="34" charset="-120"/>
              </a:rPr>
              <a:t>Nuestro acceso a información de la empresa es un factor que nos hace atractivos a ciber-atacantes.</a:t>
            </a:r>
          </a:p>
          <a:p>
            <a:pPr marL="342900" indent="-342900">
              <a:lnSpc>
                <a:spcPts val="2800"/>
              </a:lnSpc>
              <a:buFont typeface="Wingdings" panose="05000000000000000000" pitchFamily="2" charset="2"/>
              <a:buChar char="§"/>
            </a:pPr>
            <a:r>
              <a:rPr lang="es-CO" sz="2000" noProof="0" dirty="0">
                <a:solidFill>
                  <a:srgbClr val="4A5070"/>
                </a:solidFill>
                <a:latin typeface="Nunito Sans" pitchFamily="34" charset="0"/>
              </a:rPr>
              <a:t>El phishing no es tu culpa, reportar siempre es la mejor opción.</a:t>
            </a:r>
          </a:p>
          <a:p>
            <a:pPr marL="342900" indent="-342900">
              <a:lnSpc>
                <a:spcPts val="2800"/>
              </a:lnSpc>
              <a:buFont typeface="Wingdings" panose="05000000000000000000" pitchFamily="2" charset="2"/>
              <a:buChar char="§"/>
            </a:pPr>
            <a:r>
              <a:rPr lang="es-CO" sz="2000" noProof="0" dirty="0">
                <a:solidFill>
                  <a:srgbClr val="4A5070"/>
                </a:solidFill>
                <a:latin typeface="Nunito Sans" pitchFamily="34" charset="0"/>
              </a:rPr>
              <a:t>Hasta las empresas de ciberseguridad caen.</a:t>
            </a:r>
          </a:p>
        </p:txBody>
      </p:sp>
      <p:pic>
        <p:nvPicPr>
          <p:cNvPr id="8" name="Image 0" descr="Pralogy"/>
          <p:cNvPicPr>
            <a:picLocks noChangeAspect="1"/>
          </p:cNvPicPr>
          <p:nvPr/>
        </p:nvPicPr>
        <p:blipFill>
          <a:blip r:embed="rId3"/>
          <a:srcRect l="-62" r="-62"/>
          <a:stretch/>
        </p:blipFill>
        <p:spPr>
          <a:xfrm>
            <a:off x="812800" y="6356096"/>
            <a:ext cx="1111250" cy="228600"/>
          </a:xfrm>
          <a:prstGeom prst="rect">
            <a:avLst/>
          </a:prstGeom>
        </p:spPr>
      </p:pic>
      <p:sp>
        <p:nvSpPr>
          <p:cNvPr id="9" name="Text 6"/>
          <p:cNvSpPr/>
          <p:nvPr/>
        </p:nvSpPr>
        <p:spPr>
          <a:xfrm>
            <a:off x="11236920" y="6363736"/>
            <a:ext cx="142280"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solidFill>
                  <a:srgbClr val="6B7085"/>
                </a:solidFill>
                <a:latin typeface="Nunito Sans" pitchFamily="34" charset="0"/>
                <a:ea typeface="Nunito Sans" pitchFamily="34" charset="-122"/>
                <a:cs typeface="Nunito Sans" pitchFamily="34" charset="-120"/>
              </a:rPr>
              <a:t>2</a:t>
            </a:r>
            <a:endParaRPr lang="es-CO" sz="12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654304" y="476349"/>
            <a:ext cx="10883392" cy="274241"/>
          </a:xfrm>
          <a:prstGeom prst="rect">
            <a:avLst/>
          </a:prstGeom>
          <a:noFill/>
          <a:ln/>
        </p:spPr>
        <p:txBody>
          <a:bodyPr wrap="square" lIns="0" tIns="0" rIns="0" bIns="0" rtlCol="0" anchor="t">
            <a:normAutofit/>
          </a:bodyPr>
          <a:lstStyle/>
          <a:p>
            <a:pPr marL="0" indent="0" algn="l">
              <a:lnSpc>
                <a:spcPts val="1960"/>
              </a:lnSpc>
              <a:buNone/>
            </a:pPr>
            <a:r>
              <a:rPr lang="es-CO" sz="1400" b="1" kern="0" spc="150" noProof="0" dirty="0">
                <a:solidFill>
                  <a:srgbClr val="2F3EBF"/>
                </a:solidFill>
                <a:latin typeface="Nunito Sans" pitchFamily="34" charset="0"/>
                <a:ea typeface="Nunito Sans" pitchFamily="34" charset="-122"/>
                <a:cs typeface="Nunito Sans" pitchFamily="34" charset="-120"/>
              </a:rPr>
              <a:t>LE PASA HASTA A LOS EXPERTOS</a:t>
            </a:r>
            <a:endParaRPr lang="es-CO" sz="1400" noProof="0" dirty="0"/>
          </a:p>
        </p:txBody>
      </p:sp>
      <p:sp>
        <p:nvSpPr>
          <p:cNvPr id="3" name="Text 1"/>
          <p:cNvSpPr>
            <a:spLocks noGrp="1"/>
          </p:cNvSpPr>
          <p:nvPr>
            <p:ph type="title"/>
          </p:nvPr>
        </p:nvSpPr>
        <p:spPr>
          <a:xfrm>
            <a:off x="654304" y="1029990"/>
            <a:ext cx="10883392" cy="1031081"/>
          </a:xfrm>
          <a:prstGeom prst="rect">
            <a:avLst/>
          </a:prstGeom>
          <a:noFill/>
          <a:ln/>
        </p:spPr>
        <p:txBody>
          <a:bodyPr wrap="square" lIns="0" tIns="0" rIns="0" bIns="0" rtlCol="0" anchor="t">
            <a:normAutofit/>
          </a:bodyPr>
          <a:lstStyle/>
          <a:p>
            <a:pPr marL="0" indent="0" algn="l">
              <a:lnSpc>
                <a:spcPts val="3960"/>
              </a:lnSpc>
              <a:buNone/>
            </a:pPr>
            <a:r>
              <a:rPr lang="es-CO" sz="3600" b="0" i="0" noProof="0" dirty="0">
                <a:solidFill>
                  <a:srgbClr val="1C2142"/>
                </a:solidFill>
                <a:latin typeface="Fraunces" pitchFamily="18" charset="0"/>
                <a:ea typeface="Fraunces" pitchFamily="18" charset="-122"/>
                <a:cs typeface="Fraunces" pitchFamily="18" charset="-120"/>
              </a:rPr>
              <a:t>Una empresa de ciberseguridad contrató a un hacker sin saberlo</a:t>
            </a:r>
            <a:endParaRPr lang="es-CO" sz="3600" noProof="0" dirty="0"/>
          </a:p>
        </p:txBody>
      </p:sp>
      <p:sp>
        <p:nvSpPr>
          <p:cNvPr id="8" name="Shape 6"/>
          <p:cNvSpPr/>
          <p:nvPr/>
        </p:nvSpPr>
        <p:spPr>
          <a:xfrm>
            <a:off x="6430136" y="1883664"/>
            <a:ext cx="4709477" cy="1592471"/>
          </a:xfrm>
          <a:prstGeom prst="roundRect">
            <a:avLst>
              <a:gd name="adj" fmla="val 4815"/>
            </a:avLst>
          </a:prstGeom>
          <a:solidFill>
            <a:srgbClr val="E9ECF4"/>
          </a:solidFill>
          <a:ln/>
        </p:spPr>
        <p:txBody>
          <a:bodyPr/>
          <a:lstStyle/>
          <a:p>
            <a:endParaRPr lang="es-CO" noProof="0" dirty="0"/>
          </a:p>
        </p:txBody>
      </p:sp>
      <p:sp>
        <p:nvSpPr>
          <p:cNvPr id="9" name="Text 7"/>
          <p:cNvSpPr/>
          <p:nvPr/>
        </p:nvSpPr>
        <p:spPr>
          <a:xfrm>
            <a:off x="6708901" y="2001020"/>
            <a:ext cx="4669917" cy="256480"/>
          </a:xfrm>
          <a:prstGeom prst="rect">
            <a:avLst/>
          </a:prstGeom>
          <a:noFill/>
          <a:ln/>
        </p:spPr>
        <p:txBody>
          <a:bodyPr wrap="square" lIns="0" tIns="0" rIns="0" bIns="0" rtlCol="0" anchor="t">
            <a:normAutofit/>
          </a:bodyPr>
          <a:lstStyle/>
          <a:p>
            <a:pPr marL="0" indent="0" algn="l">
              <a:lnSpc>
                <a:spcPts val="1820"/>
              </a:lnSpc>
              <a:buNone/>
            </a:pPr>
            <a:r>
              <a:rPr lang="es-CO" sz="1300" b="1" kern="0" spc="100" noProof="0" dirty="0">
                <a:solidFill>
                  <a:srgbClr val="2F3EBF"/>
                </a:solidFill>
                <a:latin typeface="Nunito Sans" pitchFamily="34" charset="0"/>
                <a:ea typeface="Nunito Sans" pitchFamily="34" charset="-122"/>
                <a:cs typeface="Nunito Sans" pitchFamily="34" charset="-120"/>
              </a:rPr>
              <a:t>SIN EMBARGO</a:t>
            </a:r>
            <a:endParaRPr lang="es-CO" sz="1300" noProof="0" dirty="0"/>
          </a:p>
        </p:txBody>
      </p:sp>
      <p:sp>
        <p:nvSpPr>
          <p:cNvPr id="10" name="Text 8"/>
          <p:cNvSpPr/>
          <p:nvPr/>
        </p:nvSpPr>
        <p:spPr>
          <a:xfrm>
            <a:off x="6722238" y="2339797"/>
            <a:ext cx="4303456" cy="1213910"/>
          </a:xfrm>
          <a:prstGeom prst="rect">
            <a:avLst/>
          </a:prstGeom>
          <a:noFill/>
          <a:ln/>
        </p:spPr>
        <p:txBody>
          <a:bodyPr wrap="square" lIns="0" tIns="0" rIns="0" bIns="0" rtlCol="0" anchor="t">
            <a:normAutofit/>
          </a:bodyPr>
          <a:lstStyle/>
          <a:p>
            <a:pPr marL="0" indent="0" algn="l">
              <a:lnSpc>
                <a:spcPts val="2750"/>
              </a:lnSpc>
              <a:buNone/>
            </a:pPr>
            <a:r>
              <a:rPr lang="es-CO" sz="2200" noProof="0" dirty="0">
                <a:solidFill>
                  <a:srgbClr val="1C2142"/>
                </a:solidFill>
                <a:latin typeface="Fraunces" pitchFamily="18" charset="0"/>
                <a:ea typeface="Fraunces" pitchFamily="18" charset="-122"/>
                <a:cs typeface="Fraunces" pitchFamily="18" charset="-120"/>
              </a:rPr>
              <a:t>No hubo culpables. Tenían un proceso de aislamiento que funcionó.</a:t>
            </a:r>
            <a:endParaRPr lang="es-CO" sz="2200" noProof="0" dirty="0"/>
          </a:p>
        </p:txBody>
      </p:sp>
      <p:pic>
        <p:nvPicPr>
          <p:cNvPr id="12" name="Image 0" descr="Pralogy"/>
          <p:cNvPicPr>
            <a:picLocks noChangeAspect="1"/>
          </p:cNvPicPr>
          <p:nvPr/>
        </p:nvPicPr>
        <p:blipFill>
          <a:blip r:embed="rId3"/>
          <a:srcRect l="-62" r="-62"/>
          <a:stretch/>
        </p:blipFill>
        <p:spPr>
          <a:xfrm>
            <a:off x="812800" y="6273800"/>
            <a:ext cx="1111250" cy="228600"/>
          </a:xfrm>
          <a:prstGeom prst="rect">
            <a:avLst/>
          </a:prstGeom>
        </p:spPr>
      </p:pic>
      <p:sp>
        <p:nvSpPr>
          <p:cNvPr id="13" name="Text 10"/>
          <p:cNvSpPr/>
          <p:nvPr/>
        </p:nvSpPr>
        <p:spPr>
          <a:xfrm>
            <a:off x="11236920" y="6281440"/>
            <a:ext cx="142280"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solidFill>
                  <a:srgbClr val="6B7085"/>
                </a:solidFill>
                <a:latin typeface="Nunito Sans" pitchFamily="34" charset="0"/>
                <a:ea typeface="Nunito Sans" pitchFamily="34" charset="-122"/>
                <a:cs typeface="Nunito Sans" pitchFamily="34" charset="-120"/>
              </a:rPr>
              <a:t>3</a:t>
            </a:r>
            <a:endParaRPr lang="es-CO" sz="1200" noProof="0" dirty="0"/>
          </a:p>
        </p:txBody>
      </p:sp>
      <p:grpSp>
        <p:nvGrpSpPr>
          <p:cNvPr id="18" name="Group 17">
            <a:extLst>
              <a:ext uri="{FF2B5EF4-FFF2-40B4-BE49-F238E27FC236}">
                <a16:creationId xmlns:a16="http://schemas.microsoft.com/office/drawing/2014/main" id="{405DAD0E-FB29-3961-297B-49B8BC5F6B94}"/>
              </a:ext>
            </a:extLst>
          </p:cNvPr>
          <p:cNvGrpSpPr/>
          <p:nvPr/>
        </p:nvGrpSpPr>
        <p:grpSpPr>
          <a:xfrm>
            <a:off x="654304" y="2400201"/>
            <a:ext cx="5156200" cy="3177679"/>
            <a:chOff x="819150" y="2657971"/>
            <a:chExt cx="5156200" cy="3177679"/>
          </a:xfrm>
        </p:grpSpPr>
        <p:sp>
          <p:nvSpPr>
            <p:cNvPr id="4" name="Shape 2"/>
            <p:cNvSpPr/>
            <p:nvPr/>
          </p:nvSpPr>
          <p:spPr>
            <a:xfrm>
              <a:off x="819150" y="2683272"/>
              <a:ext cx="5156200" cy="3152378"/>
            </a:xfrm>
            <a:prstGeom prst="roundRect">
              <a:avLst>
                <a:gd name="adj" fmla="val 4633"/>
              </a:avLst>
            </a:prstGeom>
            <a:solidFill>
              <a:srgbClr val="FCFBF8"/>
            </a:solidFill>
            <a:ln w="12700">
              <a:solidFill>
                <a:srgbClr val="DDE0EA"/>
              </a:solidFill>
              <a:prstDash val="solid"/>
            </a:ln>
          </p:spPr>
          <p:txBody>
            <a:bodyPr/>
            <a:lstStyle/>
            <a:p>
              <a:endParaRPr lang="es-CO" noProof="0" dirty="0"/>
            </a:p>
          </p:txBody>
        </p:sp>
        <p:sp>
          <p:nvSpPr>
            <p:cNvPr id="5" name="Text 3"/>
            <p:cNvSpPr/>
            <p:nvPr/>
          </p:nvSpPr>
          <p:spPr>
            <a:xfrm>
              <a:off x="971804" y="2657971"/>
              <a:ext cx="4669917" cy="256480"/>
            </a:xfrm>
            <a:prstGeom prst="rect">
              <a:avLst/>
            </a:prstGeom>
            <a:noFill/>
            <a:ln/>
          </p:spPr>
          <p:txBody>
            <a:bodyPr wrap="square" lIns="0" tIns="0" rIns="0" bIns="0" rtlCol="0" anchor="t">
              <a:normAutofit/>
            </a:bodyPr>
            <a:lstStyle/>
            <a:p>
              <a:pPr marL="0" indent="0" algn="l">
                <a:lnSpc>
                  <a:spcPts val="1820"/>
                </a:lnSpc>
                <a:buNone/>
              </a:pPr>
              <a:endParaRPr lang="es-CO" sz="1300" noProof="0" dirty="0"/>
            </a:p>
          </p:txBody>
        </p:sp>
        <p:sp>
          <p:nvSpPr>
            <p:cNvPr id="6" name="Text 4"/>
            <p:cNvSpPr/>
            <p:nvPr/>
          </p:nvSpPr>
          <p:spPr>
            <a:xfrm>
              <a:off x="1130299" y="3774978"/>
              <a:ext cx="4669917" cy="909141"/>
            </a:xfrm>
            <a:prstGeom prst="rect">
              <a:avLst/>
            </a:prstGeom>
            <a:noFill/>
            <a:ln/>
          </p:spPr>
          <p:txBody>
            <a:bodyPr wrap="square" lIns="0" tIns="0" rIns="0" bIns="0" rtlCol="0" anchor="t">
              <a:normAutofit/>
            </a:bodyPr>
            <a:lstStyle/>
            <a:p>
              <a:pPr marL="0" indent="0" algn="l">
                <a:lnSpc>
                  <a:spcPts val="2320"/>
                </a:lnSpc>
                <a:buNone/>
              </a:pPr>
              <a:r>
                <a:rPr lang="es-CO" sz="1600" noProof="0" dirty="0">
                  <a:solidFill>
                    <a:srgbClr val="4A5070"/>
                  </a:solidFill>
                  <a:latin typeface="Nunito Sans" pitchFamily="34" charset="0"/>
                  <a:ea typeface="Nunito Sans" pitchFamily="34" charset="-122"/>
                  <a:cs typeface="Nunito Sans" pitchFamily="34" charset="-120"/>
                </a:rPr>
                <a:t>Un candidato pasó cuatro entrevistas por video y la revisión de antecedentes. Usaba una identidad robada y una foto retocada con IA.</a:t>
              </a:r>
              <a:endParaRPr lang="es-CO" sz="1600" noProof="0" dirty="0"/>
            </a:p>
          </p:txBody>
        </p:sp>
        <p:sp>
          <p:nvSpPr>
            <p:cNvPr id="7" name="Text 5"/>
            <p:cNvSpPr/>
            <p:nvPr/>
          </p:nvSpPr>
          <p:spPr>
            <a:xfrm>
              <a:off x="1130300" y="4963319"/>
              <a:ext cx="4669917" cy="614561"/>
            </a:xfrm>
            <a:prstGeom prst="rect">
              <a:avLst/>
            </a:prstGeom>
            <a:noFill/>
            <a:ln/>
          </p:spPr>
          <p:txBody>
            <a:bodyPr wrap="square" lIns="0" tIns="0" rIns="0" bIns="0" rtlCol="0" anchor="t">
              <a:normAutofit/>
            </a:bodyPr>
            <a:lstStyle/>
            <a:p>
              <a:pPr marL="0" indent="0" algn="l">
                <a:lnSpc>
                  <a:spcPts val="2320"/>
                </a:lnSpc>
                <a:buNone/>
              </a:pPr>
              <a:r>
                <a:rPr lang="es-CO" sz="1600" noProof="0" dirty="0">
                  <a:solidFill>
                    <a:srgbClr val="4A5070"/>
                  </a:solidFill>
                  <a:latin typeface="Nunito Sans" pitchFamily="34" charset="0"/>
                  <a:ea typeface="Nunito Sans" pitchFamily="34" charset="-122"/>
                  <a:cs typeface="Nunito Sans" pitchFamily="34" charset="-120"/>
                </a:rPr>
                <a:t>El sistema de la empresa lo detectó en minutos, apenas encendió el computador que le enviaron.</a:t>
              </a:r>
              <a:endParaRPr lang="es-CO" sz="1600" noProof="0" dirty="0"/>
            </a:p>
          </p:txBody>
        </p:sp>
        <p:pic>
          <p:nvPicPr>
            <p:cNvPr id="15" name="Graphic 14" descr="KnowBe4">
              <a:extLst>
                <a:ext uri="{FF2B5EF4-FFF2-40B4-BE49-F238E27FC236}">
                  <a16:creationId xmlns:a16="http://schemas.microsoft.com/office/drawing/2014/main" id="{EBE53860-7E65-BEC5-4404-37A0CA5A74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44637" y="2890538"/>
              <a:ext cx="3705225" cy="695325"/>
            </a:xfrm>
            <a:prstGeom prst="rect">
              <a:avLst/>
            </a:prstGeom>
          </p:spPr>
        </p:pic>
      </p:grpSp>
      <p:pic>
        <p:nvPicPr>
          <p:cNvPr id="17" name="Picture 16">
            <a:extLst>
              <a:ext uri="{FF2B5EF4-FFF2-40B4-BE49-F238E27FC236}">
                <a16:creationId xmlns:a16="http://schemas.microsoft.com/office/drawing/2014/main" id="{6E780D33-52F7-D3FF-67CD-7FBEA85BEA68}"/>
              </a:ext>
            </a:extLst>
          </p:cNvPr>
          <p:cNvPicPr>
            <a:picLocks noChangeAspect="1"/>
          </p:cNvPicPr>
          <p:nvPr/>
        </p:nvPicPr>
        <p:blipFill>
          <a:blip r:embed="rId5"/>
          <a:stretch>
            <a:fillRect/>
          </a:stretch>
        </p:blipFill>
        <p:spPr>
          <a:xfrm>
            <a:off x="6430137" y="3755032"/>
            <a:ext cx="4709476" cy="2241850"/>
          </a:xfrm>
          <a:prstGeom prst="rect">
            <a:avLst/>
          </a:prstGeom>
          <a:ln>
            <a:noFill/>
          </a:ln>
          <a:effectLst>
            <a:outerShdw blurRad="292100" dist="139700" dir="2700000" algn="tl" rotWithShape="0">
              <a:srgbClr val="333333">
                <a:alpha val="65000"/>
              </a:srgbClr>
            </a:outerShdw>
          </a:effectLst>
        </p:spPr>
      </p:pic>
      <p:sp>
        <p:nvSpPr>
          <p:cNvPr id="20" name="TextBox 19">
            <a:extLst>
              <a:ext uri="{FF2B5EF4-FFF2-40B4-BE49-F238E27FC236}">
                <a16:creationId xmlns:a16="http://schemas.microsoft.com/office/drawing/2014/main" id="{931F4371-3307-FADB-1161-8D5B2F7CDA49}"/>
              </a:ext>
            </a:extLst>
          </p:cNvPr>
          <p:cNvSpPr txBox="1"/>
          <p:nvPr/>
        </p:nvSpPr>
        <p:spPr>
          <a:xfrm>
            <a:off x="692593" y="5841471"/>
            <a:ext cx="5215636" cy="253916"/>
          </a:xfrm>
          <a:prstGeom prst="rect">
            <a:avLst/>
          </a:prstGeom>
          <a:noFill/>
        </p:spPr>
        <p:txBody>
          <a:bodyPr wrap="square">
            <a:spAutoFit/>
          </a:bodyPr>
          <a:lstStyle/>
          <a:p>
            <a:r>
              <a:rPr lang="en-US" sz="1050" dirty="0">
                <a:solidFill>
                  <a:schemeClr val="accent5">
                    <a:lumMod val="60000"/>
                    <a:lumOff val="40000"/>
                  </a:schemeClr>
                </a:solidFill>
                <a:hlinkClick r:id="rId6">
                  <a:extLst>
                    <a:ext uri="{A12FA001-AC4F-418D-AE19-62706E023703}">
                      <ahyp:hlinkClr xmlns:ahyp="http://schemas.microsoft.com/office/drawing/2018/hyperlinkcolor" val="tx"/>
                    </a:ext>
                  </a:extLst>
                </a:hlinkClick>
              </a:rPr>
              <a:t>https://blog.knowbe4.com/how-a-north-korean-fake-it-worker-tried-to-infiltrate-us</a:t>
            </a:r>
            <a:endParaRPr lang="en-US" sz="1050" dirty="0">
              <a:solidFill>
                <a:schemeClr val="accent5">
                  <a:lumMod val="60000"/>
                  <a:lumOff val="4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E3A9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289870"/>
            <a:ext cx="9810750" cy="825500"/>
          </a:xfrm>
          <a:prstGeom prst="rect">
            <a:avLst/>
          </a:prstGeom>
          <a:noFill/>
          <a:ln/>
        </p:spPr>
        <p:txBody>
          <a:bodyPr wrap="square" lIns="0" tIns="0" rIns="0" bIns="0" rtlCol="0" anchor="t">
            <a:normAutofit/>
          </a:bodyPr>
          <a:lstStyle/>
          <a:p>
            <a:pPr marL="0" indent="0" algn="l">
              <a:lnSpc>
                <a:spcPts val="6300"/>
              </a:lnSpc>
              <a:buNone/>
            </a:pPr>
            <a:r>
              <a:rPr lang="es-CO" sz="6000" b="0" i="0" noProof="0" dirty="0">
                <a:solidFill>
                  <a:srgbClr val="F6F5F1"/>
                </a:solidFill>
                <a:latin typeface="Fraunces" pitchFamily="18" charset="0"/>
                <a:ea typeface="Fraunces" pitchFamily="18" charset="-122"/>
                <a:cs typeface="Fraunces" pitchFamily="18" charset="-120"/>
              </a:rPr>
              <a:t>No eres el eslabón débil.</a:t>
            </a:r>
            <a:endParaRPr lang="es-CO" sz="6000" noProof="0" dirty="0"/>
          </a:p>
        </p:txBody>
      </p:sp>
      <p:sp>
        <p:nvSpPr>
          <p:cNvPr id="3" name="Text 1"/>
          <p:cNvSpPr/>
          <p:nvPr/>
        </p:nvSpPr>
        <p:spPr>
          <a:xfrm>
            <a:off x="812800" y="3394770"/>
            <a:ext cx="9156700" cy="1198761"/>
          </a:xfrm>
          <a:prstGeom prst="rect">
            <a:avLst/>
          </a:prstGeom>
          <a:noFill/>
          <a:ln/>
        </p:spPr>
        <p:txBody>
          <a:bodyPr wrap="square" lIns="0" tIns="0" rIns="0" bIns="0" rtlCol="0" anchor="t">
            <a:normAutofit/>
          </a:bodyPr>
          <a:lstStyle/>
          <a:p>
            <a:pPr marL="0" indent="0" algn="l">
              <a:lnSpc>
                <a:spcPts val="3080"/>
              </a:lnSpc>
              <a:buNone/>
            </a:pPr>
            <a:r>
              <a:rPr lang="es-CO" sz="2200" noProof="0" dirty="0">
                <a:solidFill>
                  <a:srgbClr val="DCE0F5"/>
                </a:solidFill>
                <a:latin typeface="Nunito Sans" pitchFamily="34" charset="0"/>
                <a:ea typeface="Nunito Sans" pitchFamily="34" charset="-122"/>
                <a:cs typeface="Nunito Sans" pitchFamily="34" charset="-120"/>
              </a:rPr>
              <a:t>Eres parte importante de una organización y por eso eres valioso. </a:t>
            </a:r>
            <a:r>
              <a:rPr lang="es-CO" sz="2200" dirty="0">
                <a:solidFill>
                  <a:srgbClr val="DCE0F5"/>
                </a:solidFill>
                <a:latin typeface="Nunito Sans" pitchFamily="34" charset="0"/>
                <a:ea typeface="Nunito Sans" pitchFamily="34" charset="-122"/>
                <a:cs typeface="Nunito Sans" pitchFamily="34" charset="-120"/>
              </a:rPr>
              <a:t>Atacar a personas es más fácil que atacar sistemas.</a:t>
            </a:r>
            <a:r>
              <a:rPr lang="es-CO" sz="2200" noProof="0" dirty="0">
                <a:solidFill>
                  <a:srgbClr val="DCE0F5"/>
                </a:solidFill>
                <a:latin typeface="Nunito Sans" pitchFamily="34" charset="0"/>
                <a:ea typeface="Nunito Sans" pitchFamily="34" charset="-122"/>
                <a:cs typeface="Nunito Sans" pitchFamily="34" charset="-120"/>
              </a:rPr>
              <a:t> </a:t>
            </a:r>
            <a:endParaRPr lang="es-CO" sz="22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1C2142"/>
        </a:solidFill>
        <a:effectLst/>
      </p:bgPr>
    </p:bg>
    <p:spTree>
      <p:nvGrpSpPr>
        <p:cNvPr id="1" name=""/>
        <p:cNvGrpSpPr/>
        <p:nvPr/>
      </p:nvGrpSpPr>
      <p:grpSpPr>
        <a:xfrm>
          <a:off x="0" y="0"/>
          <a:ext cx="0" cy="0"/>
          <a:chOff x="0" y="0"/>
          <a:chExt cx="0" cy="0"/>
        </a:xfrm>
      </p:grpSpPr>
      <p:sp>
        <p:nvSpPr>
          <p:cNvPr id="2" name="Shape 0"/>
          <p:cNvSpPr/>
          <p:nvPr/>
        </p:nvSpPr>
        <p:spPr>
          <a:xfrm>
            <a:off x="8949944" y="-472281"/>
            <a:ext cx="4572000" cy="4572000"/>
          </a:xfrm>
          <a:prstGeom prst="roundRect">
            <a:avLst>
              <a:gd name="adj" fmla="val 35556"/>
            </a:avLst>
          </a:prstGeom>
          <a:solidFill>
            <a:srgbClr val="252B55"/>
          </a:solidFill>
          <a:ln/>
        </p:spPr>
        <p:txBody>
          <a:bodyPr/>
          <a:lstStyle/>
          <a:p>
            <a:endParaRPr lang="es-CO" noProof="0" dirty="0"/>
          </a:p>
        </p:txBody>
      </p:sp>
      <p:sp>
        <p:nvSpPr>
          <p:cNvPr id="3" name="Text 1"/>
          <p:cNvSpPr/>
          <p:nvPr/>
        </p:nvSpPr>
        <p:spPr>
          <a:xfrm>
            <a:off x="812800" y="812800"/>
            <a:ext cx="10883392" cy="1168400"/>
          </a:xfrm>
          <a:prstGeom prst="rect">
            <a:avLst/>
          </a:prstGeom>
          <a:noFill/>
          <a:ln/>
        </p:spPr>
        <p:txBody>
          <a:bodyPr wrap="square" lIns="0" tIns="0" rIns="0" bIns="0" rtlCol="0" anchor="t">
            <a:normAutofit fontScale="92500"/>
          </a:bodyPr>
          <a:lstStyle/>
          <a:p>
            <a:pPr marL="0" indent="0" algn="l">
              <a:lnSpc>
                <a:spcPts val="9000"/>
              </a:lnSpc>
              <a:buNone/>
            </a:pPr>
            <a:r>
              <a:rPr lang="es-CO" sz="9000" noProof="0" dirty="0">
                <a:solidFill>
                  <a:srgbClr val="9DA8F2"/>
                </a:solidFill>
                <a:latin typeface="Fraunces" pitchFamily="18" charset="0"/>
                <a:ea typeface="Fraunces" pitchFamily="18" charset="-122"/>
                <a:cs typeface="Fraunces" pitchFamily="18" charset="-120"/>
              </a:rPr>
              <a:t>01</a:t>
            </a:r>
            <a:endParaRPr lang="es-CO" sz="9000" noProof="0" dirty="0"/>
          </a:p>
        </p:txBody>
      </p:sp>
      <p:sp>
        <p:nvSpPr>
          <p:cNvPr id="4" name="Text 2"/>
          <p:cNvSpPr>
            <a:spLocks noGrp="1"/>
          </p:cNvSpPr>
          <p:nvPr>
            <p:ph type="title"/>
          </p:nvPr>
        </p:nvSpPr>
        <p:spPr>
          <a:xfrm>
            <a:off x="812800" y="4735386"/>
            <a:ext cx="8502650" cy="847185"/>
          </a:xfrm>
          <a:prstGeom prst="rect">
            <a:avLst/>
          </a:prstGeom>
          <a:noFill/>
          <a:ln/>
        </p:spPr>
        <p:txBody>
          <a:bodyPr wrap="square" lIns="0" tIns="0" rIns="0" bIns="0" rtlCol="0" anchor="t">
            <a:normAutofit/>
          </a:bodyPr>
          <a:lstStyle/>
          <a:p>
            <a:pPr marL="0" indent="0" algn="l">
              <a:lnSpc>
                <a:spcPts val="5460"/>
              </a:lnSpc>
              <a:buNone/>
            </a:pPr>
            <a:r>
              <a:rPr lang="es-CO" sz="5200" b="0" i="0" noProof="0" dirty="0">
                <a:solidFill>
                  <a:srgbClr val="F6F5F1"/>
                </a:solidFill>
                <a:latin typeface="Fraunces" pitchFamily="18" charset="0"/>
                <a:ea typeface="Fraunces" pitchFamily="18" charset="-122"/>
                <a:cs typeface="Fraunces" pitchFamily="18" charset="-120"/>
              </a:rPr>
              <a:t>La urgencia como arma</a:t>
            </a:r>
            <a:endParaRPr lang="es-CO" sz="5200" noProof="0" dirty="0"/>
          </a:p>
        </p:txBody>
      </p:sp>
      <p:sp>
        <p:nvSpPr>
          <p:cNvPr id="5" name="Text 3"/>
          <p:cNvSpPr/>
          <p:nvPr/>
        </p:nvSpPr>
        <p:spPr>
          <a:xfrm>
            <a:off x="812800" y="5689600"/>
            <a:ext cx="8502650" cy="381000"/>
          </a:xfrm>
          <a:prstGeom prst="rect">
            <a:avLst/>
          </a:prstGeom>
          <a:noFill/>
          <a:ln/>
        </p:spPr>
        <p:txBody>
          <a:bodyPr wrap="square" lIns="0" tIns="0" rIns="0" bIns="0" rtlCol="0" anchor="t">
            <a:normAutofit/>
          </a:bodyPr>
          <a:lstStyle/>
          <a:p>
            <a:pPr marL="0" indent="0" algn="l">
              <a:lnSpc>
                <a:spcPts val="2800"/>
              </a:lnSpc>
              <a:buNone/>
            </a:pPr>
            <a:r>
              <a:rPr lang="es-CO" sz="2000" noProof="0" dirty="0">
                <a:solidFill>
                  <a:srgbClr val="C7CCE8"/>
                </a:solidFill>
                <a:latin typeface="Nunito Sans" pitchFamily="34" charset="0"/>
                <a:ea typeface="Nunito Sans" pitchFamily="34" charset="-122"/>
                <a:cs typeface="Nunito Sans" pitchFamily="34" charset="-120"/>
              </a:rPr>
              <a:t>Cómo te presionan, y por qué pausar es la mejor defensa.</a:t>
            </a:r>
            <a:endParaRPr lang="es-CO" sz="20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s-CO" sz="1400" b="1" kern="0" spc="150" noProof="0" dirty="0">
                <a:solidFill>
                  <a:srgbClr val="2F3EBF"/>
                </a:solidFill>
                <a:latin typeface="Nunito Sans" pitchFamily="34" charset="0"/>
                <a:ea typeface="Nunito Sans" pitchFamily="34" charset="-122"/>
                <a:cs typeface="Nunito Sans" pitchFamily="34" charset="-120"/>
              </a:rPr>
              <a:t>BLOQUE 1 · LA URGENCIA COMO ARMA</a:t>
            </a:r>
            <a:endParaRPr lang="es-CO" sz="1400" noProof="0" dirty="0"/>
          </a:p>
        </p:txBody>
      </p:sp>
      <p:sp>
        <p:nvSpPr>
          <p:cNvPr id="3" name="Text 1"/>
          <p:cNvSpPr>
            <a:spLocks noGrp="1"/>
          </p:cNvSpPr>
          <p:nvPr>
            <p:ph type="title"/>
          </p:nvPr>
        </p:nvSpPr>
        <p:spPr>
          <a:xfrm>
            <a:off x="812800" y="1341041"/>
            <a:ext cx="10883392" cy="1031081"/>
          </a:xfrm>
          <a:prstGeom prst="rect">
            <a:avLst/>
          </a:prstGeom>
          <a:noFill/>
          <a:ln/>
        </p:spPr>
        <p:txBody>
          <a:bodyPr wrap="square" lIns="0" tIns="0" rIns="0" bIns="0" rtlCol="0" anchor="t">
            <a:normAutofit/>
          </a:bodyPr>
          <a:lstStyle/>
          <a:p>
            <a:pPr marL="0" indent="0" algn="l">
              <a:lnSpc>
                <a:spcPts val="3960"/>
              </a:lnSpc>
              <a:buNone/>
            </a:pPr>
            <a:r>
              <a:rPr lang="es-CO" b="0" i="0" noProof="0" dirty="0">
                <a:solidFill>
                  <a:srgbClr val="1C2142"/>
                </a:solidFill>
                <a:latin typeface="Fraunces" pitchFamily="18" charset="0"/>
                <a:ea typeface="Fraunces" pitchFamily="18" charset="-122"/>
                <a:cs typeface="Fraunces" pitchFamily="18" charset="-120"/>
              </a:rPr>
              <a:t>No atacan tu computador. Prefieren atacar tus emociones.</a:t>
            </a:r>
            <a:endParaRPr lang="es-CO" noProof="0" dirty="0"/>
          </a:p>
        </p:txBody>
      </p:sp>
      <p:sp>
        <p:nvSpPr>
          <p:cNvPr id="4" name="Shape 2"/>
          <p:cNvSpPr/>
          <p:nvPr/>
        </p:nvSpPr>
        <p:spPr>
          <a:xfrm>
            <a:off x="819150" y="2632472"/>
            <a:ext cx="5181600" cy="1429941"/>
          </a:xfrm>
          <a:prstGeom prst="roundRect">
            <a:avLst>
              <a:gd name="adj" fmla="val 10214"/>
            </a:avLst>
          </a:prstGeom>
          <a:solidFill>
            <a:srgbClr val="FCFBF8"/>
          </a:solidFill>
          <a:ln w="12700">
            <a:solidFill>
              <a:srgbClr val="DDE0EA"/>
            </a:solidFill>
            <a:prstDash val="solid"/>
          </a:ln>
        </p:spPr>
        <p:txBody>
          <a:bodyPr/>
          <a:lstStyle/>
          <a:p>
            <a:endParaRPr lang="es-CO" noProof="0" dirty="0"/>
          </a:p>
        </p:txBody>
      </p:sp>
      <p:sp>
        <p:nvSpPr>
          <p:cNvPr id="5" name="Text 3"/>
          <p:cNvSpPr/>
          <p:nvPr/>
        </p:nvSpPr>
        <p:spPr>
          <a:xfrm>
            <a:off x="1079500" y="2892822"/>
            <a:ext cx="4800727" cy="299641"/>
          </a:xfrm>
          <a:prstGeom prst="rect">
            <a:avLst/>
          </a:prstGeom>
          <a:noFill/>
          <a:ln/>
        </p:spPr>
        <p:txBody>
          <a:bodyPr wrap="square" lIns="0" tIns="0" rIns="0" bIns="0" rtlCol="0" anchor="t">
            <a:normAutofit/>
          </a:bodyPr>
          <a:lstStyle/>
          <a:p>
            <a:pPr marL="0" indent="0" algn="l">
              <a:lnSpc>
                <a:spcPts val="2160"/>
              </a:lnSpc>
              <a:buNone/>
            </a:pPr>
            <a:r>
              <a:rPr lang="es-CO" sz="1800" b="1" noProof="0" dirty="0">
                <a:solidFill>
                  <a:srgbClr val="2F3EBF"/>
                </a:solidFill>
                <a:latin typeface="Nunito Sans" pitchFamily="34" charset="0"/>
                <a:ea typeface="Nunito Sans" pitchFamily="34" charset="-122"/>
                <a:cs typeface="Nunito Sans" pitchFamily="34" charset="-120"/>
              </a:rPr>
              <a:t>Miedo</a:t>
            </a:r>
            <a:endParaRPr lang="es-CO" sz="1800" noProof="0" dirty="0"/>
          </a:p>
        </p:txBody>
      </p:sp>
      <p:sp>
        <p:nvSpPr>
          <p:cNvPr id="6" name="Text 4"/>
          <p:cNvSpPr/>
          <p:nvPr/>
        </p:nvSpPr>
        <p:spPr>
          <a:xfrm>
            <a:off x="1079501" y="3268663"/>
            <a:ext cx="3081020" cy="558800"/>
          </a:xfrm>
          <a:prstGeom prst="rect">
            <a:avLst/>
          </a:prstGeom>
          <a:noFill/>
          <a:ln/>
        </p:spPr>
        <p:txBody>
          <a:bodyPr wrap="square" lIns="0" tIns="0" rIns="0" bIns="0" rtlCol="0" anchor="t">
            <a:normAutofit/>
          </a:bodyPr>
          <a:lstStyle/>
          <a:p>
            <a:pPr marL="0" indent="0" algn="l">
              <a:lnSpc>
                <a:spcPts val="2100"/>
              </a:lnSpc>
              <a:buNone/>
            </a:pPr>
            <a:r>
              <a:rPr lang="es-CO" sz="1500" i="1" noProof="0" dirty="0">
                <a:solidFill>
                  <a:srgbClr val="4A5070"/>
                </a:solidFill>
                <a:latin typeface="Nunito Sans" pitchFamily="34" charset="0"/>
                <a:ea typeface="Nunito Sans" pitchFamily="34" charset="-122"/>
                <a:cs typeface="Nunito Sans" pitchFamily="34" charset="-120"/>
              </a:rPr>
              <a:t>Su cuenta será suspendida en 24 horas si no confirma sus datos.</a:t>
            </a:r>
            <a:endParaRPr lang="es-CO" sz="1500" noProof="0" dirty="0"/>
          </a:p>
        </p:txBody>
      </p:sp>
      <p:sp>
        <p:nvSpPr>
          <p:cNvPr id="7" name="Shape 5"/>
          <p:cNvSpPr/>
          <p:nvPr/>
        </p:nvSpPr>
        <p:spPr>
          <a:xfrm>
            <a:off x="6191250" y="2632472"/>
            <a:ext cx="5181600" cy="1429941"/>
          </a:xfrm>
          <a:prstGeom prst="roundRect">
            <a:avLst>
              <a:gd name="adj" fmla="val 10214"/>
            </a:avLst>
          </a:prstGeom>
          <a:solidFill>
            <a:srgbClr val="FCFBF8"/>
          </a:solidFill>
          <a:ln w="12700">
            <a:solidFill>
              <a:srgbClr val="DDE0EA"/>
            </a:solidFill>
            <a:prstDash val="solid"/>
          </a:ln>
        </p:spPr>
        <p:txBody>
          <a:bodyPr/>
          <a:lstStyle/>
          <a:p>
            <a:endParaRPr lang="es-CO" noProof="0" dirty="0"/>
          </a:p>
        </p:txBody>
      </p:sp>
      <p:sp>
        <p:nvSpPr>
          <p:cNvPr id="8" name="Text 6"/>
          <p:cNvSpPr/>
          <p:nvPr/>
        </p:nvSpPr>
        <p:spPr>
          <a:xfrm>
            <a:off x="6451600" y="2892822"/>
            <a:ext cx="4800727" cy="299641"/>
          </a:xfrm>
          <a:prstGeom prst="rect">
            <a:avLst/>
          </a:prstGeom>
          <a:noFill/>
          <a:ln/>
        </p:spPr>
        <p:txBody>
          <a:bodyPr wrap="square" lIns="0" tIns="0" rIns="0" bIns="0" rtlCol="0" anchor="t">
            <a:normAutofit/>
          </a:bodyPr>
          <a:lstStyle/>
          <a:p>
            <a:pPr marL="0" indent="0" algn="l">
              <a:lnSpc>
                <a:spcPts val="2160"/>
              </a:lnSpc>
              <a:buNone/>
            </a:pPr>
            <a:r>
              <a:rPr lang="es-CO" sz="1800" b="1" noProof="0" dirty="0">
                <a:solidFill>
                  <a:srgbClr val="2F3EBF"/>
                </a:solidFill>
                <a:latin typeface="Nunito Sans" pitchFamily="34" charset="0"/>
                <a:ea typeface="Nunito Sans" pitchFamily="34" charset="-122"/>
                <a:cs typeface="Nunito Sans" pitchFamily="34" charset="-120"/>
              </a:rPr>
              <a:t>Urgencia</a:t>
            </a:r>
            <a:endParaRPr lang="es-CO" sz="1800" noProof="0" dirty="0"/>
          </a:p>
        </p:txBody>
      </p:sp>
      <p:sp>
        <p:nvSpPr>
          <p:cNvPr id="9" name="Text 7"/>
          <p:cNvSpPr/>
          <p:nvPr/>
        </p:nvSpPr>
        <p:spPr>
          <a:xfrm>
            <a:off x="6451600" y="3268663"/>
            <a:ext cx="3030727" cy="558800"/>
          </a:xfrm>
          <a:prstGeom prst="rect">
            <a:avLst/>
          </a:prstGeom>
          <a:noFill/>
          <a:ln/>
        </p:spPr>
        <p:txBody>
          <a:bodyPr wrap="square" lIns="0" tIns="0" rIns="0" bIns="0" rtlCol="0" anchor="t">
            <a:normAutofit/>
          </a:bodyPr>
          <a:lstStyle/>
          <a:p>
            <a:pPr marL="0" indent="0" algn="l">
              <a:lnSpc>
                <a:spcPts val="2100"/>
              </a:lnSpc>
              <a:buNone/>
            </a:pPr>
            <a:r>
              <a:rPr lang="es-CO" sz="1500" i="1" noProof="0" dirty="0">
                <a:solidFill>
                  <a:srgbClr val="4A5070"/>
                </a:solidFill>
                <a:latin typeface="Nunito Sans" pitchFamily="34" charset="0"/>
                <a:ea typeface="Nunito Sans" pitchFamily="34" charset="-122"/>
                <a:cs typeface="Nunito Sans" pitchFamily="34" charset="-120"/>
              </a:rPr>
              <a:t>Necesito la transferencia antes del cierre bancario. Es para hoy.</a:t>
            </a:r>
            <a:endParaRPr lang="es-CO" sz="1500" noProof="0" dirty="0"/>
          </a:p>
        </p:txBody>
      </p:sp>
      <p:sp>
        <p:nvSpPr>
          <p:cNvPr id="10" name="Shape 8"/>
          <p:cNvSpPr/>
          <p:nvPr/>
        </p:nvSpPr>
        <p:spPr>
          <a:xfrm>
            <a:off x="819150" y="4252913"/>
            <a:ext cx="5181600" cy="1429941"/>
          </a:xfrm>
          <a:prstGeom prst="roundRect">
            <a:avLst>
              <a:gd name="adj" fmla="val 10214"/>
            </a:avLst>
          </a:prstGeom>
          <a:solidFill>
            <a:srgbClr val="FCFBF8"/>
          </a:solidFill>
          <a:ln w="12700">
            <a:solidFill>
              <a:srgbClr val="DDE0EA"/>
            </a:solidFill>
            <a:prstDash val="solid"/>
          </a:ln>
        </p:spPr>
        <p:txBody>
          <a:bodyPr/>
          <a:lstStyle/>
          <a:p>
            <a:endParaRPr lang="es-CO" noProof="0" dirty="0"/>
          </a:p>
        </p:txBody>
      </p:sp>
      <p:sp>
        <p:nvSpPr>
          <p:cNvPr id="11" name="Text 9"/>
          <p:cNvSpPr/>
          <p:nvPr/>
        </p:nvSpPr>
        <p:spPr>
          <a:xfrm>
            <a:off x="1079500" y="4513263"/>
            <a:ext cx="4800727" cy="299641"/>
          </a:xfrm>
          <a:prstGeom prst="rect">
            <a:avLst/>
          </a:prstGeom>
          <a:noFill/>
          <a:ln/>
        </p:spPr>
        <p:txBody>
          <a:bodyPr wrap="square" lIns="0" tIns="0" rIns="0" bIns="0" rtlCol="0" anchor="t">
            <a:normAutofit/>
          </a:bodyPr>
          <a:lstStyle/>
          <a:p>
            <a:pPr marL="0" indent="0" algn="l">
              <a:lnSpc>
                <a:spcPts val="2160"/>
              </a:lnSpc>
              <a:buNone/>
            </a:pPr>
            <a:r>
              <a:rPr lang="es-CO" sz="1800" b="1" noProof="0" dirty="0">
                <a:solidFill>
                  <a:srgbClr val="2F3EBF"/>
                </a:solidFill>
                <a:latin typeface="Nunito Sans" pitchFamily="34" charset="0"/>
                <a:ea typeface="Nunito Sans" pitchFamily="34" charset="-122"/>
                <a:cs typeface="Nunito Sans" pitchFamily="34" charset="-120"/>
              </a:rPr>
              <a:t>Autoridad</a:t>
            </a:r>
            <a:endParaRPr lang="es-CO" sz="1800" noProof="0" dirty="0"/>
          </a:p>
        </p:txBody>
      </p:sp>
      <p:sp>
        <p:nvSpPr>
          <p:cNvPr id="12" name="Text 10"/>
          <p:cNvSpPr/>
          <p:nvPr/>
        </p:nvSpPr>
        <p:spPr>
          <a:xfrm>
            <a:off x="1079501" y="4889103"/>
            <a:ext cx="3373628" cy="558800"/>
          </a:xfrm>
          <a:prstGeom prst="rect">
            <a:avLst/>
          </a:prstGeom>
          <a:noFill/>
          <a:ln/>
        </p:spPr>
        <p:txBody>
          <a:bodyPr wrap="square" lIns="0" tIns="0" rIns="0" bIns="0" rtlCol="0" anchor="t">
            <a:normAutofit/>
          </a:bodyPr>
          <a:lstStyle/>
          <a:p>
            <a:pPr marL="0" indent="0" algn="l">
              <a:lnSpc>
                <a:spcPts val="2100"/>
              </a:lnSpc>
              <a:buNone/>
            </a:pPr>
            <a:r>
              <a:rPr lang="es-CO" sz="1500" i="1" noProof="0" dirty="0">
                <a:solidFill>
                  <a:srgbClr val="4A5070"/>
                </a:solidFill>
                <a:latin typeface="Nunito Sans" pitchFamily="34" charset="0"/>
                <a:ea typeface="Nunito Sans" pitchFamily="34" charset="-122"/>
                <a:cs typeface="Nunito Sans" pitchFamily="34" charset="-120"/>
              </a:rPr>
              <a:t>Soy el gerente. Estoy en reunión, no puedo hablar. Hazlo y luego te explico.</a:t>
            </a:r>
            <a:endParaRPr lang="es-CO" sz="1500" noProof="0" dirty="0"/>
          </a:p>
        </p:txBody>
      </p:sp>
      <p:sp>
        <p:nvSpPr>
          <p:cNvPr id="13" name="Shape 11"/>
          <p:cNvSpPr/>
          <p:nvPr/>
        </p:nvSpPr>
        <p:spPr>
          <a:xfrm>
            <a:off x="6191250" y="4252913"/>
            <a:ext cx="5181600" cy="1429941"/>
          </a:xfrm>
          <a:prstGeom prst="roundRect">
            <a:avLst>
              <a:gd name="adj" fmla="val 10214"/>
            </a:avLst>
          </a:prstGeom>
          <a:solidFill>
            <a:srgbClr val="FCFBF8"/>
          </a:solidFill>
          <a:ln w="12700">
            <a:solidFill>
              <a:srgbClr val="DDE0EA"/>
            </a:solidFill>
            <a:prstDash val="solid"/>
          </a:ln>
        </p:spPr>
        <p:txBody>
          <a:bodyPr/>
          <a:lstStyle/>
          <a:p>
            <a:endParaRPr lang="es-CO" noProof="0" dirty="0"/>
          </a:p>
        </p:txBody>
      </p:sp>
      <p:sp>
        <p:nvSpPr>
          <p:cNvPr id="14" name="Text 12"/>
          <p:cNvSpPr/>
          <p:nvPr/>
        </p:nvSpPr>
        <p:spPr>
          <a:xfrm>
            <a:off x="6451600" y="4513263"/>
            <a:ext cx="4800727" cy="299641"/>
          </a:xfrm>
          <a:prstGeom prst="rect">
            <a:avLst/>
          </a:prstGeom>
          <a:noFill/>
          <a:ln/>
        </p:spPr>
        <p:txBody>
          <a:bodyPr wrap="square" lIns="0" tIns="0" rIns="0" bIns="0" rtlCol="0" anchor="t">
            <a:normAutofit/>
          </a:bodyPr>
          <a:lstStyle/>
          <a:p>
            <a:pPr marL="0" indent="0" algn="l">
              <a:lnSpc>
                <a:spcPts val="2160"/>
              </a:lnSpc>
              <a:buNone/>
            </a:pPr>
            <a:r>
              <a:rPr lang="es-CO" sz="1800" b="1" noProof="0" dirty="0">
                <a:solidFill>
                  <a:srgbClr val="2F3EBF"/>
                </a:solidFill>
                <a:latin typeface="Nunito Sans" pitchFamily="34" charset="0"/>
                <a:ea typeface="Nunito Sans" pitchFamily="34" charset="-122"/>
                <a:cs typeface="Nunito Sans" pitchFamily="34" charset="-120"/>
              </a:rPr>
              <a:t>Codicia o curiosidad</a:t>
            </a:r>
            <a:endParaRPr lang="es-CO" sz="1800" noProof="0" dirty="0"/>
          </a:p>
        </p:txBody>
      </p:sp>
      <p:sp>
        <p:nvSpPr>
          <p:cNvPr id="15" name="Text 13"/>
          <p:cNvSpPr/>
          <p:nvPr/>
        </p:nvSpPr>
        <p:spPr>
          <a:xfrm>
            <a:off x="6451600" y="4889103"/>
            <a:ext cx="3135691" cy="558800"/>
          </a:xfrm>
          <a:prstGeom prst="rect">
            <a:avLst/>
          </a:prstGeom>
          <a:noFill/>
          <a:ln/>
        </p:spPr>
        <p:txBody>
          <a:bodyPr wrap="square" lIns="0" tIns="0" rIns="0" bIns="0" rtlCol="0" anchor="t">
            <a:normAutofit/>
          </a:bodyPr>
          <a:lstStyle/>
          <a:p>
            <a:pPr marL="0" indent="0" algn="l">
              <a:lnSpc>
                <a:spcPts val="2100"/>
              </a:lnSpc>
              <a:buNone/>
            </a:pPr>
            <a:r>
              <a:rPr lang="es-CO" sz="1500" i="1" noProof="0" dirty="0">
                <a:solidFill>
                  <a:srgbClr val="4A5070"/>
                </a:solidFill>
                <a:latin typeface="Nunito Sans" pitchFamily="34" charset="0"/>
                <a:ea typeface="Nunito Sans" pitchFamily="34" charset="-122"/>
                <a:cs typeface="Nunito Sans" pitchFamily="34" charset="-120"/>
              </a:rPr>
              <a:t>Tu bono fue aprobado. Confirma tus datos para recibirlo.</a:t>
            </a:r>
            <a:endParaRPr lang="es-CO" sz="1500" noProof="0" dirty="0"/>
          </a:p>
        </p:txBody>
      </p:sp>
      <p:pic>
        <p:nvPicPr>
          <p:cNvPr id="16" name="Image 0" descr="Pralogy"/>
          <p:cNvPicPr>
            <a:picLocks noChangeAspect="1"/>
          </p:cNvPicPr>
          <p:nvPr/>
        </p:nvPicPr>
        <p:blipFill>
          <a:blip r:embed="rId3"/>
          <a:srcRect l="-62" r="-62"/>
          <a:stretch/>
        </p:blipFill>
        <p:spPr>
          <a:xfrm>
            <a:off x="812800" y="6273800"/>
            <a:ext cx="1111250" cy="228600"/>
          </a:xfrm>
          <a:prstGeom prst="rect">
            <a:avLst/>
          </a:prstGeom>
        </p:spPr>
      </p:pic>
      <p:sp>
        <p:nvSpPr>
          <p:cNvPr id="17" name="Text 14"/>
          <p:cNvSpPr/>
          <p:nvPr/>
        </p:nvSpPr>
        <p:spPr>
          <a:xfrm>
            <a:off x="11236920" y="6281440"/>
            <a:ext cx="142280"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solidFill>
                  <a:srgbClr val="6B7085"/>
                </a:solidFill>
                <a:latin typeface="Nunito Sans" pitchFamily="34" charset="0"/>
                <a:ea typeface="Nunito Sans" pitchFamily="34" charset="-122"/>
                <a:cs typeface="Nunito Sans" pitchFamily="34" charset="-120"/>
              </a:rPr>
              <a:t>6</a:t>
            </a:r>
            <a:endParaRPr lang="es-CO" sz="1200" noProof="0" dirty="0"/>
          </a:p>
        </p:txBody>
      </p:sp>
      <p:pic>
        <p:nvPicPr>
          <p:cNvPr id="19" name="Picture 18">
            <a:extLst>
              <a:ext uri="{FF2B5EF4-FFF2-40B4-BE49-F238E27FC236}">
                <a16:creationId xmlns:a16="http://schemas.microsoft.com/office/drawing/2014/main" id="{4F218021-207F-ABB2-4674-E4DEBCE25B34}"/>
              </a:ext>
            </a:extLst>
          </p:cNvPr>
          <p:cNvPicPr>
            <a:picLocks noChangeAspect="1"/>
          </p:cNvPicPr>
          <p:nvPr/>
        </p:nvPicPr>
        <p:blipFill>
          <a:blip r:embed="rId4"/>
          <a:stretch>
            <a:fillRect/>
          </a:stretch>
        </p:blipFill>
        <p:spPr>
          <a:xfrm>
            <a:off x="4351021" y="2764219"/>
            <a:ext cx="1397381" cy="1397381"/>
          </a:xfrm>
          <a:prstGeom prst="rect">
            <a:avLst/>
          </a:prstGeom>
        </p:spPr>
      </p:pic>
      <p:pic>
        <p:nvPicPr>
          <p:cNvPr id="22" name="Picture 21" descr="Ansiedad - Iconos gratis de usuario">
            <a:extLst>
              <a:ext uri="{FF2B5EF4-FFF2-40B4-BE49-F238E27FC236}">
                <a16:creationId xmlns:a16="http://schemas.microsoft.com/office/drawing/2014/main" id="{E9E28415-C1F1-DC9E-D7BA-40234728731E}"/>
              </a:ext>
            </a:extLst>
          </p:cNvPr>
          <p:cNvPicPr>
            <a:picLocks noChangeAspect="1"/>
          </p:cNvPicPr>
          <p:nvPr/>
        </p:nvPicPr>
        <p:blipFill>
          <a:blip r:embed="rId5"/>
          <a:stretch>
            <a:fillRect/>
          </a:stretch>
        </p:blipFill>
        <p:spPr>
          <a:xfrm>
            <a:off x="9742677" y="2775817"/>
            <a:ext cx="1400897" cy="1400897"/>
          </a:xfrm>
          <a:prstGeom prst="rect">
            <a:avLst/>
          </a:prstGeom>
        </p:spPr>
      </p:pic>
      <p:pic>
        <p:nvPicPr>
          <p:cNvPr id="24" name="Picture 23">
            <a:extLst>
              <a:ext uri="{FF2B5EF4-FFF2-40B4-BE49-F238E27FC236}">
                <a16:creationId xmlns:a16="http://schemas.microsoft.com/office/drawing/2014/main" id="{EFAD4869-1D1D-D9FA-DE4C-56A7E9D4C915}"/>
              </a:ext>
            </a:extLst>
          </p:cNvPr>
          <p:cNvPicPr>
            <a:picLocks noChangeAspect="1"/>
          </p:cNvPicPr>
          <p:nvPr/>
        </p:nvPicPr>
        <p:blipFill>
          <a:blip r:embed="rId6"/>
          <a:stretch>
            <a:fillRect/>
          </a:stretch>
        </p:blipFill>
        <p:spPr>
          <a:xfrm>
            <a:off x="4561077" y="4322762"/>
            <a:ext cx="1544637" cy="1544637"/>
          </a:xfrm>
          <a:prstGeom prst="rect">
            <a:avLst/>
          </a:prstGeom>
        </p:spPr>
      </p:pic>
      <p:pic>
        <p:nvPicPr>
          <p:cNvPr id="26" name="Picture 25">
            <a:extLst>
              <a:ext uri="{FF2B5EF4-FFF2-40B4-BE49-F238E27FC236}">
                <a16:creationId xmlns:a16="http://schemas.microsoft.com/office/drawing/2014/main" id="{BA950DA3-5740-35F1-A2E7-62CC209612CB}"/>
              </a:ext>
            </a:extLst>
          </p:cNvPr>
          <p:cNvPicPr>
            <a:picLocks noChangeAspect="1"/>
          </p:cNvPicPr>
          <p:nvPr/>
        </p:nvPicPr>
        <p:blipFill>
          <a:blip r:embed="rId7"/>
          <a:stretch>
            <a:fillRect/>
          </a:stretch>
        </p:blipFill>
        <p:spPr>
          <a:xfrm>
            <a:off x="9622154" y="4367214"/>
            <a:ext cx="1426464" cy="14264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729932" y="1160516"/>
            <a:ext cx="10883392" cy="274241"/>
          </a:xfrm>
          <a:prstGeom prst="rect">
            <a:avLst/>
          </a:prstGeom>
          <a:noFill/>
          <a:ln/>
        </p:spPr>
        <p:txBody>
          <a:bodyPr wrap="square" lIns="0" tIns="0" rIns="0" bIns="0" rtlCol="0" anchor="t">
            <a:normAutofit/>
          </a:bodyPr>
          <a:lstStyle/>
          <a:p>
            <a:pPr>
              <a:lnSpc>
                <a:spcPts val="1960"/>
              </a:lnSpc>
            </a:pPr>
            <a:r>
              <a:rPr lang="es-CO" sz="1400" b="1" kern="0" spc="150" dirty="0">
                <a:solidFill>
                  <a:srgbClr val="2F3EBF"/>
                </a:solidFill>
                <a:latin typeface="Nunito Sans" pitchFamily="34" charset="0"/>
                <a:ea typeface="Nunito Sans" pitchFamily="34" charset="-122"/>
                <a:cs typeface="Nunito Sans" pitchFamily="34" charset="-120"/>
              </a:rPr>
              <a:t>BLOQUE 1 · LA URGENCIA COMO ARMA</a:t>
            </a:r>
            <a:endParaRPr lang="es-CO" sz="1400" dirty="0"/>
          </a:p>
        </p:txBody>
      </p:sp>
      <p:sp>
        <p:nvSpPr>
          <p:cNvPr id="3" name="Text 1"/>
          <p:cNvSpPr>
            <a:spLocks noGrp="1"/>
          </p:cNvSpPr>
          <p:nvPr>
            <p:ph type="title"/>
          </p:nvPr>
        </p:nvSpPr>
        <p:spPr>
          <a:xfrm>
            <a:off x="729932" y="1688757"/>
            <a:ext cx="10883392" cy="528241"/>
          </a:xfrm>
          <a:prstGeom prst="rect">
            <a:avLst/>
          </a:prstGeom>
          <a:noFill/>
          <a:ln/>
        </p:spPr>
        <p:txBody>
          <a:bodyPr wrap="square" lIns="0" tIns="0" rIns="0" bIns="0" rtlCol="0" anchor="t">
            <a:normAutofit/>
          </a:bodyPr>
          <a:lstStyle/>
          <a:p>
            <a:pPr marL="0" indent="0" algn="l">
              <a:lnSpc>
                <a:spcPts val="3960"/>
              </a:lnSpc>
              <a:buNone/>
            </a:pPr>
            <a:r>
              <a:rPr lang="es-CO" dirty="0">
                <a:latin typeface="Fraunces" pitchFamily="18" charset="0"/>
              </a:rPr>
              <a:t>Ingeniería social en su mayor esplendor.</a:t>
            </a:r>
            <a:endParaRPr lang="es-CO" sz="3600" noProof="0" dirty="0"/>
          </a:p>
        </p:txBody>
      </p:sp>
      <p:grpSp>
        <p:nvGrpSpPr>
          <p:cNvPr id="28" name="Group 27">
            <a:extLst>
              <a:ext uri="{FF2B5EF4-FFF2-40B4-BE49-F238E27FC236}">
                <a16:creationId xmlns:a16="http://schemas.microsoft.com/office/drawing/2014/main" id="{9B8323BB-8FAA-7D65-87F5-D43EDFE8E91A}"/>
              </a:ext>
            </a:extLst>
          </p:cNvPr>
          <p:cNvGrpSpPr/>
          <p:nvPr/>
        </p:nvGrpSpPr>
        <p:grpSpPr>
          <a:xfrm>
            <a:off x="729932" y="2654809"/>
            <a:ext cx="2686114" cy="2017624"/>
            <a:chOff x="819150" y="2129631"/>
            <a:chExt cx="2501900" cy="2097584"/>
          </a:xfrm>
        </p:grpSpPr>
        <p:sp>
          <p:nvSpPr>
            <p:cNvPr id="4" name="Shape 2"/>
            <p:cNvSpPr/>
            <p:nvPr/>
          </p:nvSpPr>
          <p:spPr>
            <a:xfrm>
              <a:off x="819150" y="2129631"/>
              <a:ext cx="2501900" cy="2097584"/>
            </a:xfrm>
            <a:prstGeom prst="roundRect">
              <a:avLst>
                <a:gd name="adj" fmla="val 6963"/>
              </a:avLst>
            </a:prstGeom>
            <a:solidFill>
              <a:srgbClr val="FCFBF8"/>
            </a:solidFill>
            <a:ln w="12700">
              <a:solidFill>
                <a:srgbClr val="DDE0EA"/>
              </a:solidFill>
              <a:prstDash val="solid"/>
            </a:ln>
          </p:spPr>
          <p:txBody>
            <a:bodyPr/>
            <a:lstStyle/>
            <a:p>
              <a:endParaRPr lang="es-CO" noProof="0" dirty="0"/>
            </a:p>
          </p:txBody>
        </p:sp>
        <p:sp>
          <p:nvSpPr>
            <p:cNvPr id="6" name="Text 4"/>
            <p:cNvSpPr/>
            <p:nvPr/>
          </p:nvSpPr>
          <p:spPr>
            <a:xfrm>
              <a:off x="1049782" y="2498142"/>
              <a:ext cx="2040636" cy="1617234"/>
            </a:xfrm>
            <a:prstGeom prst="rect">
              <a:avLst/>
            </a:prstGeom>
            <a:noFill/>
            <a:ln/>
          </p:spPr>
          <p:txBody>
            <a:bodyPr wrap="square" lIns="0" tIns="0" rIns="0" bIns="0" rtlCol="0" anchor="t">
              <a:normAutofit/>
            </a:bodyPr>
            <a:lstStyle/>
            <a:p>
              <a:pPr marL="0" indent="0">
                <a:lnSpc>
                  <a:spcPts val="1960"/>
                </a:lnSpc>
                <a:buNone/>
              </a:pPr>
              <a:r>
                <a:rPr lang="es-CO" sz="1600" dirty="0">
                  <a:solidFill>
                    <a:srgbClr val="1C2142"/>
                  </a:solidFill>
                  <a:latin typeface="Nunito Sans" pitchFamily="34" charset="0"/>
                </a:rPr>
                <a:t>Un empleado recibe un correo del </a:t>
              </a:r>
              <a:r>
                <a:rPr lang="es-CO" sz="1600" b="1" dirty="0">
                  <a:solidFill>
                    <a:srgbClr val="1C2142"/>
                  </a:solidFill>
                  <a:latin typeface="Nunito Sans" pitchFamily="34" charset="0"/>
                </a:rPr>
                <a:t>“Director Financiero” </a:t>
              </a:r>
              <a:r>
                <a:rPr lang="es-CO" sz="1600" dirty="0">
                  <a:solidFill>
                    <a:srgbClr val="1C2142"/>
                  </a:solidFill>
                  <a:latin typeface="Nunito Sans" pitchFamily="34" charset="0"/>
                </a:rPr>
                <a:t>para realizar una </a:t>
              </a:r>
              <a:r>
                <a:rPr lang="es-CO" sz="1600" b="1" dirty="0">
                  <a:solidFill>
                    <a:srgbClr val="1C2142"/>
                  </a:solidFill>
                  <a:latin typeface="Nunito Sans" pitchFamily="34" charset="0"/>
                </a:rPr>
                <a:t>transacción confidencial</a:t>
              </a:r>
              <a:r>
                <a:rPr lang="es-CO" sz="1600" noProof="0" dirty="0">
                  <a:solidFill>
                    <a:srgbClr val="4A5070"/>
                  </a:solidFill>
                  <a:latin typeface="Nunito Sans" pitchFamily="34" charset="0"/>
                  <a:ea typeface="Nunito Sans" pitchFamily="34" charset="-122"/>
                  <a:cs typeface="Nunito Sans" pitchFamily="34" charset="-120"/>
                </a:rPr>
                <a:t>.</a:t>
              </a:r>
              <a:endParaRPr lang="es-CO" sz="1600" noProof="0" dirty="0"/>
            </a:p>
          </p:txBody>
        </p:sp>
      </p:grpSp>
      <p:grpSp>
        <p:nvGrpSpPr>
          <p:cNvPr id="29" name="Group 28">
            <a:extLst>
              <a:ext uri="{FF2B5EF4-FFF2-40B4-BE49-F238E27FC236}">
                <a16:creationId xmlns:a16="http://schemas.microsoft.com/office/drawing/2014/main" id="{AB06B7B2-F892-AE1B-CD6C-BD0DEFF3557C}"/>
              </a:ext>
            </a:extLst>
          </p:cNvPr>
          <p:cNvGrpSpPr/>
          <p:nvPr/>
        </p:nvGrpSpPr>
        <p:grpSpPr>
          <a:xfrm>
            <a:off x="3618520" y="2884126"/>
            <a:ext cx="2501900" cy="2097584"/>
            <a:chOff x="3498850" y="2129631"/>
            <a:chExt cx="2501900" cy="2097584"/>
          </a:xfrm>
        </p:grpSpPr>
        <p:sp>
          <p:nvSpPr>
            <p:cNvPr id="20" name="Shape 8">
              <a:extLst>
                <a:ext uri="{FF2B5EF4-FFF2-40B4-BE49-F238E27FC236}">
                  <a16:creationId xmlns:a16="http://schemas.microsoft.com/office/drawing/2014/main" id="{D1F4A3E0-B880-D7C9-4A0F-F4B5BE1C0371}"/>
                </a:ext>
              </a:extLst>
            </p:cNvPr>
            <p:cNvSpPr/>
            <p:nvPr/>
          </p:nvSpPr>
          <p:spPr>
            <a:xfrm>
              <a:off x="3498850" y="2129631"/>
              <a:ext cx="2501900" cy="2097584"/>
            </a:xfrm>
            <a:prstGeom prst="roundRect">
              <a:avLst>
                <a:gd name="adj" fmla="val 6963"/>
              </a:avLst>
            </a:prstGeom>
            <a:solidFill>
              <a:srgbClr val="FCFBF8"/>
            </a:solidFill>
            <a:ln w="12700">
              <a:solidFill>
                <a:srgbClr val="DDE0EA"/>
              </a:solidFill>
              <a:prstDash val="solid"/>
            </a:ln>
          </p:spPr>
          <p:txBody>
            <a:bodyPr/>
            <a:lstStyle/>
            <a:p>
              <a:endParaRPr lang="es-CO" noProof="0" dirty="0"/>
            </a:p>
          </p:txBody>
        </p:sp>
        <p:sp>
          <p:nvSpPr>
            <p:cNvPr id="8" name="Text 6"/>
            <p:cNvSpPr/>
            <p:nvPr/>
          </p:nvSpPr>
          <p:spPr>
            <a:xfrm>
              <a:off x="3759200" y="2377281"/>
              <a:ext cx="2040636" cy="256480"/>
            </a:xfrm>
            <a:prstGeom prst="rect">
              <a:avLst/>
            </a:prstGeom>
            <a:noFill/>
            <a:ln/>
          </p:spPr>
          <p:txBody>
            <a:bodyPr wrap="square" lIns="0" tIns="0" rIns="0" bIns="0" rtlCol="0" anchor="t">
              <a:normAutofit/>
            </a:bodyPr>
            <a:lstStyle/>
            <a:p>
              <a:pPr marL="0" indent="0" algn="l">
                <a:lnSpc>
                  <a:spcPts val="1820"/>
                </a:lnSpc>
                <a:buNone/>
              </a:pPr>
              <a:endParaRPr lang="es-CO" sz="1300" noProof="0" dirty="0"/>
            </a:p>
          </p:txBody>
        </p:sp>
        <p:sp>
          <p:nvSpPr>
            <p:cNvPr id="9" name="Text 7"/>
            <p:cNvSpPr/>
            <p:nvPr/>
          </p:nvSpPr>
          <p:spPr>
            <a:xfrm>
              <a:off x="3723894" y="2548147"/>
              <a:ext cx="2111248" cy="1369791"/>
            </a:xfrm>
            <a:prstGeom prst="rect">
              <a:avLst/>
            </a:prstGeom>
            <a:noFill/>
            <a:ln/>
          </p:spPr>
          <p:txBody>
            <a:bodyPr wrap="square" lIns="0" tIns="0" rIns="0" bIns="0" rtlCol="0" anchor="t">
              <a:noAutofit/>
            </a:bodyPr>
            <a:lstStyle/>
            <a:p>
              <a:pPr marL="0" indent="0" algn="l">
                <a:lnSpc>
                  <a:spcPts val="1960"/>
                </a:lnSpc>
                <a:buNone/>
              </a:pPr>
              <a:r>
                <a:rPr lang="es-CO" sz="1600" b="1" noProof="0" dirty="0">
                  <a:solidFill>
                    <a:srgbClr val="1C2142"/>
                  </a:solidFill>
                  <a:latin typeface="Nunito Sans" pitchFamily="34" charset="0"/>
                  <a:ea typeface="Nunito Sans" pitchFamily="34" charset="-122"/>
                  <a:cs typeface="Nunito Sans" pitchFamily="34" charset="-120"/>
                </a:rPr>
                <a:t>Sospecha que es phishing.</a:t>
              </a:r>
              <a:r>
                <a:rPr lang="es-CO" sz="1600" noProof="0" dirty="0">
                  <a:solidFill>
                    <a:srgbClr val="1C2142"/>
                  </a:solidFill>
                  <a:latin typeface="Nunito Sans" pitchFamily="34" charset="0"/>
                  <a:ea typeface="Nunito Sans" pitchFamily="34" charset="-122"/>
                  <a:cs typeface="Nunito Sans" pitchFamily="34" charset="-120"/>
                </a:rPr>
                <a:t> Su instinto le advierte del peligro pero </a:t>
              </a:r>
              <a:r>
                <a:rPr lang="es-CO" sz="1600" b="1" dirty="0">
                  <a:solidFill>
                    <a:srgbClr val="1C2142"/>
                  </a:solidFill>
                  <a:latin typeface="Nunito Sans" pitchFamily="34" charset="0"/>
                </a:rPr>
                <a:t>lo</a:t>
              </a:r>
              <a:r>
                <a:rPr lang="es-CO" sz="1600" noProof="0" dirty="0">
                  <a:solidFill>
                    <a:srgbClr val="1C2142"/>
                  </a:solidFill>
                  <a:latin typeface="Nunito Sans" pitchFamily="34" charset="0"/>
                  <a:ea typeface="Nunito Sans" pitchFamily="34" charset="-122"/>
                  <a:cs typeface="Nunito Sans" pitchFamily="34" charset="-120"/>
                </a:rPr>
                <a:t> invitan a una </a:t>
              </a:r>
              <a:r>
                <a:rPr lang="es-CO" sz="1600" b="1" noProof="0" dirty="0">
                  <a:solidFill>
                    <a:srgbClr val="1C2142"/>
                  </a:solidFill>
                  <a:latin typeface="Nunito Sans" pitchFamily="34" charset="0"/>
                  <a:ea typeface="Nunito Sans" pitchFamily="34" charset="-122"/>
                  <a:cs typeface="Nunito Sans" pitchFamily="34" charset="-120"/>
                </a:rPr>
                <a:t>videollamada</a:t>
              </a:r>
              <a:r>
                <a:rPr lang="es-CO" sz="1600" noProof="0" dirty="0">
                  <a:solidFill>
                    <a:srgbClr val="1C2142"/>
                  </a:solidFill>
                  <a:latin typeface="Nunito Sans" pitchFamily="34" charset="0"/>
                  <a:ea typeface="Nunito Sans" pitchFamily="34" charset="-122"/>
                  <a:cs typeface="Nunito Sans" pitchFamily="34" charset="-120"/>
                </a:rPr>
                <a:t>.</a:t>
              </a:r>
              <a:endParaRPr lang="es-CO" sz="1600" noProof="0" dirty="0"/>
            </a:p>
          </p:txBody>
        </p:sp>
      </p:grpSp>
      <p:grpSp>
        <p:nvGrpSpPr>
          <p:cNvPr id="30" name="Group 29">
            <a:extLst>
              <a:ext uri="{FF2B5EF4-FFF2-40B4-BE49-F238E27FC236}">
                <a16:creationId xmlns:a16="http://schemas.microsoft.com/office/drawing/2014/main" id="{F18CCC9C-84FB-B83B-8E3E-4FAC1F1307E0}"/>
              </a:ext>
            </a:extLst>
          </p:cNvPr>
          <p:cNvGrpSpPr/>
          <p:nvPr/>
        </p:nvGrpSpPr>
        <p:grpSpPr>
          <a:xfrm>
            <a:off x="6279896" y="3131776"/>
            <a:ext cx="2501900" cy="2097584"/>
            <a:chOff x="6184900" y="2123282"/>
            <a:chExt cx="2501900" cy="2097584"/>
          </a:xfrm>
        </p:grpSpPr>
        <p:sp>
          <p:nvSpPr>
            <p:cNvPr id="10" name="Shape 8"/>
            <p:cNvSpPr/>
            <p:nvPr/>
          </p:nvSpPr>
          <p:spPr>
            <a:xfrm>
              <a:off x="6184900" y="2123282"/>
              <a:ext cx="2501900" cy="2097584"/>
            </a:xfrm>
            <a:prstGeom prst="roundRect">
              <a:avLst>
                <a:gd name="adj" fmla="val 6963"/>
              </a:avLst>
            </a:prstGeom>
            <a:solidFill>
              <a:srgbClr val="FCFBF8"/>
            </a:solidFill>
            <a:ln w="12700">
              <a:solidFill>
                <a:srgbClr val="DDE0EA"/>
              </a:solidFill>
              <a:prstDash val="solid"/>
            </a:ln>
          </p:spPr>
          <p:txBody>
            <a:bodyPr/>
            <a:lstStyle/>
            <a:p>
              <a:endParaRPr lang="es-CO" noProof="0" dirty="0"/>
            </a:p>
          </p:txBody>
        </p:sp>
        <p:sp>
          <p:nvSpPr>
            <p:cNvPr id="11" name="Text 9"/>
            <p:cNvSpPr/>
            <p:nvPr/>
          </p:nvSpPr>
          <p:spPr>
            <a:xfrm>
              <a:off x="6438900" y="2389981"/>
              <a:ext cx="2040636" cy="256480"/>
            </a:xfrm>
            <a:prstGeom prst="rect">
              <a:avLst/>
            </a:prstGeom>
            <a:noFill/>
            <a:ln/>
          </p:spPr>
          <p:txBody>
            <a:bodyPr wrap="square" lIns="0" tIns="0" rIns="0" bIns="0" rtlCol="0" anchor="t">
              <a:normAutofit/>
            </a:bodyPr>
            <a:lstStyle/>
            <a:p>
              <a:pPr marL="0" indent="0" algn="l">
                <a:lnSpc>
                  <a:spcPts val="1820"/>
                </a:lnSpc>
                <a:buNone/>
              </a:pPr>
              <a:endParaRPr lang="es-CO" sz="1300" noProof="0" dirty="0"/>
            </a:p>
          </p:txBody>
        </p:sp>
        <p:sp>
          <p:nvSpPr>
            <p:cNvPr id="12" name="Text 10"/>
            <p:cNvSpPr/>
            <p:nvPr/>
          </p:nvSpPr>
          <p:spPr>
            <a:xfrm>
              <a:off x="6438900" y="2513541"/>
              <a:ext cx="2040636" cy="1269603"/>
            </a:xfrm>
            <a:prstGeom prst="rect">
              <a:avLst/>
            </a:prstGeom>
            <a:noFill/>
            <a:ln/>
          </p:spPr>
          <p:txBody>
            <a:bodyPr wrap="square" lIns="0" tIns="0" rIns="0" bIns="0" rtlCol="0" anchor="t">
              <a:normAutofit/>
            </a:bodyPr>
            <a:lstStyle/>
            <a:p>
              <a:pPr marL="0" indent="0" algn="l">
                <a:lnSpc>
                  <a:spcPts val="1960"/>
                </a:lnSpc>
                <a:buNone/>
              </a:pPr>
              <a:r>
                <a:rPr lang="es-CO" sz="1600" dirty="0">
                  <a:solidFill>
                    <a:srgbClr val="1C2142"/>
                  </a:solidFill>
                  <a:latin typeface="Nunito Sans" pitchFamily="34" charset="0"/>
                </a:rPr>
                <a:t>En la </a:t>
              </a:r>
              <a:r>
                <a:rPr lang="es-CO" sz="1600" b="1" dirty="0">
                  <a:solidFill>
                    <a:srgbClr val="1C2142"/>
                  </a:solidFill>
                  <a:latin typeface="Nunito Sans" pitchFamily="34" charset="0"/>
                </a:rPr>
                <a:t>videollamada</a:t>
              </a:r>
              <a:r>
                <a:rPr lang="es-CO" sz="1600" dirty="0">
                  <a:solidFill>
                    <a:srgbClr val="1C2142"/>
                  </a:solidFill>
                  <a:latin typeface="Nunito Sans" pitchFamily="34" charset="0"/>
                </a:rPr>
                <a:t> se encuentra con el </a:t>
              </a:r>
              <a:r>
                <a:rPr lang="es-CO" sz="1600" b="1" dirty="0">
                  <a:solidFill>
                    <a:srgbClr val="1C2142"/>
                  </a:solidFill>
                  <a:latin typeface="Nunito Sans" pitchFamily="34" charset="0"/>
                </a:rPr>
                <a:t>“Director financiero</a:t>
              </a:r>
              <a:r>
                <a:rPr lang="es-CO" sz="1600" dirty="0">
                  <a:solidFill>
                    <a:srgbClr val="1C2142"/>
                  </a:solidFill>
                  <a:latin typeface="Nunito Sans" pitchFamily="34" charset="0"/>
                </a:rPr>
                <a:t>” y compañeros. Todos eran </a:t>
              </a:r>
              <a:r>
                <a:rPr lang="es-CO" sz="1600" b="1" dirty="0">
                  <a:solidFill>
                    <a:srgbClr val="1C2142"/>
                  </a:solidFill>
                  <a:latin typeface="Nunito Sans" pitchFamily="34" charset="0"/>
                </a:rPr>
                <a:t>hechos con IA.</a:t>
              </a:r>
            </a:p>
          </p:txBody>
        </p:sp>
      </p:grpSp>
      <p:grpSp>
        <p:nvGrpSpPr>
          <p:cNvPr id="31" name="Group 30">
            <a:extLst>
              <a:ext uri="{FF2B5EF4-FFF2-40B4-BE49-F238E27FC236}">
                <a16:creationId xmlns:a16="http://schemas.microsoft.com/office/drawing/2014/main" id="{3B4A2170-58A3-D5AE-72C5-F972C9AE3741}"/>
              </a:ext>
            </a:extLst>
          </p:cNvPr>
          <p:cNvGrpSpPr/>
          <p:nvPr/>
        </p:nvGrpSpPr>
        <p:grpSpPr>
          <a:xfrm>
            <a:off x="8941272" y="3398475"/>
            <a:ext cx="2501900" cy="2097584"/>
            <a:chOff x="8870950" y="2129631"/>
            <a:chExt cx="2501900" cy="2097584"/>
          </a:xfrm>
        </p:grpSpPr>
        <p:sp>
          <p:nvSpPr>
            <p:cNvPr id="13" name="Shape 11"/>
            <p:cNvSpPr/>
            <p:nvPr/>
          </p:nvSpPr>
          <p:spPr>
            <a:xfrm>
              <a:off x="8870950" y="2129631"/>
              <a:ext cx="2501900" cy="2097584"/>
            </a:xfrm>
            <a:prstGeom prst="roundRect">
              <a:avLst>
                <a:gd name="adj" fmla="val 6963"/>
              </a:avLst>
            </a:prstGeom>
            <a:solidFill>
              <a:srgbClr val="FCFBF8"/>
            </a:solidFill>
            <a:ln w="12700">
              <a:solidFill>
                <a:srgbClr val="DDE0EA"/>
              </a:solidFill>
              <a:prstDash val="solid"/>
            </a:ln>
          </p:spPr>
          <p:txBody>
            <a:bodyPr/>
            <a:lstStyle/>
            <a:p>
              <a:endParaRPr lang="es-CO" noProof="0" dirty="0"/>
            </a:p>
          </p:txBody>
        </p:sp>
        <p:sp>
          <p:nvSpPr>
            <p:cNvPr id="14" name="Text 12"/>
            <p:cNvSpPr/>
            <p:nvPr/>
          </p:nvSpPr>
          <p:spPr>
            <a:xfrm>
              <a:off x="9131300" y="2389981"/>
              <a:ext cx="2040636" cy="256480"/>
            </a:xfrm>
            <a:prstGeom prst="rect">
              <a:avLst/>
            </a:prstGeom>
            <a:noFill/>
            <a:ln/>
          </p:spPr>
          <p:txBody>
            <a:bodyPr wrap="square" lIns="0" tIns="0" rIns="0" bIns="0" rtlCol="0" anchor="t">
              <a:normAutofit/>
            </a:bodyPr>
            <a:lstStyle/>
            <a:p>
              <a:pPr marL="0" indent="0" algn="l">
                <a:lnSpc>
                  <a:spcPts val="1820"/>
                </a:lnSpc>
                <a:buNone/>
              </a:pPr>
              <a:endParaRPr lang="es-CO" sz="1300" noProof="0" dirty="0"/>
            </a:p>
          </p:txBody>
        </p:sp>
        <p:sp>
          <p:nvSpPr>
            <p:cNvPr id="15" name="Text 13"/>
            <p:cNvSpPr/>
            <p:nvPr/>
          </p:nvSpPr>
          <p:spPr>
            <a:xfrm>
              <a:off x="9131300" y="2376558"/>
              <a:ext cx="2010918" cy="1584162"/>
            </a:xfrm>
            <a:prstGeom prst="rect">
              <a:avLst/>
            </a:prstGeom>
            <a:noFill/>
            <a:ln/>
          </p:spPr>
          <p:txBody>
            <a:bodyPr wrap="square" lIns="0" tIns="0" rIns="0" bIns="0" rtlCol="0" anchor="t">
              <a:normAutofit/>
            </a:bodyPr>
            <a:lstStyle/>
            <a:p>
              <a:pPr marL="0" indent="0" algn="l">
                <a:lnSpc>
                  <a:spcPts val="1960"/>
                </a:lnSpc>
                <a:buNone/>
              </a:pPr>
              <a:r>
                <a:rPr lang="es-CO" sz="1600" dirty="0">
                  <a:solidFill>
                    <a:srgbClr val="1C2142"/>
                  </a:solidFill>
                  <a:latin typeface="Nunito Sans" pitchFamily="34" charset="0"/>
                </a:rPr>
                <a:t>Al ser </a:t>
              </a:r>
              <a:r>
                <a:rPr lang="es-CO" sz="1600" b="1" dirty="0">
                  <a:solidFill>
                    <a:srgbClr val="1C2142"/>
                  </a:solidFill>
                  <a:latin typeface="Nunito Sans" pitchFamily="34" charset="0"/>
                </a:rPr>
                <a:t>urgente</a:t>
              </a:r>
              <a:r>
                <a:rPr lang="es-CO" sz="1600" dirty="0">
                  <a:solidFill>
                    <a:srgbClr val="1C2142"/>
                  </a:solidFill>
                  <a:latin typeface="Nunito Sans" pitchFamily="34" charset="0"/>
                </a:rPr>
                <a:t> y tener confirmación por </a:t>
              </a:r>
              <a:r>
                <a:rPr lang="es-CO" sz="1600" b="1" dirty="0">
                  <a:solidFill>
                    <a:srgbClr val="1C2142"/>
                  </a:solidFill>
                  <a:latin typeface="Nunito Sans" pitchFamily="34" charset="0"/>
                </a:rPr>
                <a:t>videollamada</a:t>
              </a:r>
              <a:r>
                <a:rPr lang="es-CO" sz="1600" dirty="0">
                  <a:solidFill>
                    <a:srgbClr val="1C2142"/>
                  </a:solidFill>
                  <a:latin typeface="Nunito Sans" pitchFamily="34" charset="0"/>
                </a:rPr>
                <a:t>, el empleado </a:t>
              </a:r>
              <a:r>
                <a:rPr lang="es-CO" sz="1600" b="1" dirty="0">
                  <a:solidFill>
                    <a:srgbClr val="1C2142"/>
                  </a:solidFill>
                  <a:latin typeface="Nunito Sans" pitchFamily="34" charset="0"/>
                </a:rPr>
                <a:t>transfiere</a:t>
              </a:r>
              <a:r>
                <a:rPr lang="es-CO" sz="1600" dirty="0">
                  <a:solidFill>
                    <a:srgbClr val="1C2142"/>
                  </a:solidFill>
                  <a:latin typeface="Nunito Sans" pitchFamily="34" charset="0"/>
                </a:rPr>
                <a:t> alrededor de </a:t>
              </a:r>
              <a:r>
                <a:rPr lang="es-CO" sz="1600" b="1" dirty="0">
                  <a:solidFill>
                    <a:srgbClr val="1C2142"/>
                  </a:solidFill>
                  <a:latin typeface="Nunito Sans" pitchFamily="34" charset="0"/>
                </a:rPr>
                <a:t>25 millones de dólares</a:t>
              </a:r>
              <a:r>
                <a:rPr lang="es-CO" sz="1600" dirty="0">
                  <a:solidFill>
                    <a:srgbClr val="1C2142"/>
                  </a:solidFill>
                  <a:latin typeface="Nunito Sans" pitchFamily="34" charset="0"/>
                </a:rPr>
                <a:t>.</a:t>
              </a:r>
            </a:p>
          </p:txBody>
        </p:sp>
      </p:grpSp>
      <p:pic>
        <p:nvPicPr>
          <p:cNvPr id="17" name="Image 0" descr="Pralogy"/>
          <p:cNvPicPr>
            <a:picLocks noChangeAspect="1"/>
          </p:cNvPicPr>
          <p:nvPr/>
        </p:nvPicPr>
        <p:blipFill>
          <a:blip r:embed="rId3"/>
          <a:srcRect l="-62" r="-62"/>
          <a:stretch/>
        </p:blipFill>
        <p:spPr>
          <a:xfrm>
            <a:off x="812800" y="6273800"/>
            <a:ext cx="1111250" cy="228600"/>
          </a:xfrm>
          <a:prstGeom prst="rect">
            <a:avLst/>
          </a:prstGeom>
        </p:spPr>
      </p:pic>
      <p:sp>
        <p:nvSpPr>
          <p:cNvPr id="18" name="Text 15"/>
          <p:cNvSpPr/>
          <p:nvPr/>
        </p:nvSpPr>
        <p:spPr>
          <a:xfrm>
            <a:off x="11236920" y="6281440"/>
            <a:ext cx="142280"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t>7</a:t>
            </a:r>
          </a:p>
        </p:txBody>
      </p:sp>
      <p:sp>
        <p:nvSpPr>
          <p:cNvPr id="23" name="TextBox 22">
            <a:extLst>
              <a:ext uri="{FF2B5EF4-FFF2-40B4-BE49-F238E27FC236}">
                <a16:creationId xmlns:a16="http://schemas.microsoft.com/office/drawing/2014/main" id="{812239C9-1D05-8982-C1D9-E21E4879EE3E}"/>
              </a:ext>
            </a:extLst>
          </p:cNvPr>
          <p:cNvSpPr txBox="1"/>
          <p:nvPr/>
        </p:nvSpPr>
        <p:spPr>
          <a:xfrm>
            <a:off x="9656302" y="1045539"/>
            <a:ext cx="1503132" cy="246221"/>
          </a:xfrm>
          <a:prstGeom prst="rect">
            <a:avLst/>
          </a:prstGeom>
          <a:noFill/>
        </p:spPr>
        <p:txBody>
          <a:bodyPr wrap="square">
            <a:spAutoFit/>
          </a:bodyPr>
          <a:lstStyle/>
          <a:p>
            <a:r>
              <a:rPr lang="en-US" sz="1000" dirty="0"/>
              <a:t>https://www.arup.com/</a:t>
            </a:r>
          </a:p>
        </p:txBody>
      </p:sp>
      <p:sp>
        <p:nvSpPr>
          <p:cNvPr id="25" name="TextBox 24">
            <a:extLst>
              <a:ext uri="{FF2B5EF4-FFF2-40B4-BE49-F238E27FC236}">
                <a16:creationId xmlns:a16="http://schemas.microsoft.com/office/drawing/2014/main" id="{CEB87520-40BA-E9AC-B63D-B1CF090FB5E8}"/>
              </a:ext>
            </a:extLst>
          </p:cNvPr>
          <p:cNvSpPr txBox="1"/>
          <p:nvPr/>
        </p:nvSpPr>
        <p:spPr>
          <a:xfrm>
            <a:off x="875538" y="5856660"/>
            <a:ext cx="7244334" cy="246221"/>
          </a:xfrm>
          <a:prstGeom prst="rect">
            <a:avLst/>
          </a:prstGeom>
          <a:noFill/>
        </p:spPr>
        <p:txBody>
          <a:bodyPr wrap="square">
            <a:spAutoFit/>
          </a:bodyPr>
          <a:lstStyle/>
          <a:p>
            <a:r>
              <a:rPr lang="en-US" sz="1000" dirty="0">
                <a:solidFill>
                  <a:schemeClr val="accent5">
                    <a:lumMod val="60000"/>
                    <a:lumOff val="40000"/>
                  </a:schemeClr>
                </a:solidFill>
                <a:hlinkClick r:id="rId4">
                  <a:extLst>
                    <a:ext uri="{A12FA001-AC4F-418D-AE19-62706E023703}">
                      <ahyp:hlinkClr xmlns:ahyp="http://schemas.microsoft.com/office/drawing/2018/hyperlinkcolor" val="tx"/>
                    </a:ext>
                  </a:extLst>
                </a:hlinkClick>
              </a:rPr>
              <a:t>https://westoahu.hawaii.edu/cyber/forensics-weekly-executive-summmaries/arup-deekfake-scam-forensic-analysis/</a:t>
            </a:r>
            <a:endParaRPr lang="en-US" sz="1000" dirty="0">
              <a:solidFill>
                <a:schemeClr val="accent5">
                  <a:lumMod val="60000"/>
                  <a:lumOff val="40000"/>
                </a:schemeClr>
              </a:solidFill>
            </a:endParaRPr>
          </a:p>
        </p:txBody>
      </p:sp>
      <p:pic>
        <p:nvPicPr>
          <p:cNvPr id="27" name="Picture 26">
            <a:extLst>
              <a:ext uri="{FF2B5EF4-FFF2-40B4-BE49-F238E27FC236}">
                <a16:creationId xmlns:a16="http://schemas.microsoft.com/office/drawing/2014/main" id="{CD3762F9-87D5-2D1C-FE6A-DF04043B7944}"/>
              </a:ext>
            </a:extLst>
          </p:cNvPr>
          <p:cNvPicPr>
            <a:picLocks noChangeAspect="1"/>
          </p:cNvPicPr>
          <p:nvPr/>
        </p:nvPicPr>
        <p:blipFill>
          <a:blip r:embed="rId5"/>
          <a:srcRect t="28390" b="27263"/>
          <a:stretch>
            <a:fillRect/>
          </a:stretch>
        </p:blipFill>
        <p:spPr>
          <a:xfrm>
            <a:off x="9201622" y="304617"/>
            <a:ext cx="2412492" cy="855899"/>
          </a:xfrm>
          <a:prstGeom prst="rect">
            <a:avLst/>
          </a:prstGeom>
        </p:spPr>
      </p:pic>
      <p:sp>
        <p:nvSpPr>
          <p:cNvPr id="32" name="Rectangle 31">
            <a:extLst>
              <a:ext uri="{FF2B5EF4-FFF2-40B4-BE49-F238E27FC236}">
                <a16:creationId xmlns:a16="http://schemas.microsoft.com/office/drawing/2014/main" id="{DCBA9F19-5F09-7AAB-6F88-E40A8E61F52A}"/>
              </a:ext>
            </a:extLst>
          </p:cNvPr>
          <p:cNvSpPr/>
          <p:nvPr/>
        </p:nvSpPr>
        <p:spPr>
          <a:xfrm>
            <a:off x="729932" y="4228294"/>
            <a:ext cx="771365"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p>
        </p:txBody>
      </p:sp>
      <p:sp>
        <p:nvSpPr>
          <p:cNvPr id="34" name="Rectangle 33">
            <a:extLst>
              <a:ext uri="{FF2B5EF4-FFF2-40B4-BE49-F238E27FC236}">
                <a16:creationId xmlns:a16="http://schemas.microsoft.com/office/drawing/2014/main" id="{73894C1B-46E7-8967-27C0-2F37E9F959C1}"/>
              </a:ext>
            </a:extLst>
          </p:cNvPr>
          <p:cNvSpPr/>
          <p:nvPr/>
        </p:nvSpPr>
        <p:spPr>
          <a:xfrm>
            <a:off x="3626741" y="4547771"/>
            <a:ext cx="771365" cy="923330"/>
          </a:xfrm>
          <a:prstGeom prst="rect">
            <a:avLst/>
          </a:prstGeom>
          <a:noFill/>
        </p:spPr>
        <p:txBody>
          <a:bodyPr wrap="none" lIns="91440" tIns="45720" rIns="91440" bIns="45720">
            <a:spAutoFit/>
          </a:bodyPr>
          <a:lstStyle/>
          <a:p>
            <a:pPr algn="ctr"/>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p>
        </p:txBody>
      </p:sp>
      <p:sp>
        <p:nvSpPr>
          <p:cNvPr id="36" name="Rectangle 35">
            <a:extLst>
              <a:ext uri="{FF2B5EF4-FFF2-40B4-BE49-F238E27FC236}">
                <a16:creationId xmlns:a16="http://schemas.microsoft.com/office/drawing/2014/main" id="{71CEC38E-B972-00C9-32DD-E615998AE98C}"/>
              </a:ext>
            </a:extLst>
          </p:cNvPr>
          <p:cNvSpPr/>
          <p:nvPr/>
        </p:nvSpPr>
        <p:spPr>
          <a:xfrm>
            <a:off x="6322723" y="4744284"/>
            <a:ext cx="771365"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sp>
        <p:nvSpPr>
          <p:cNvPr id="38" name="Rectangle 37">
            <a:extLst>
              <a:ext uri="{FF2B5EF4-FFF2-40B4-BE49-F238E27FC236}">
                <a16:creationId xmlns:a16="http://schemas.microsoft.com/office/drawing/2014/main" id="{3F23E8C2-E41A-F0E5-8E2B-1DAE4C6DB019}"/>
              </a:ext>
            </a:extLst>
          </p:cNvPr>
          <p:cNvSpPr/>
          <p:nvPr/>
        </p:nvSpPr>
        <p:spPr>
          <a:xfrm>
            <a:off x="8960630" y="5129285"/>
            <a:ext cx="771365"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E9ECF4"/>
        </a:solidFill>
        <a:effectLst/>
      </p:bgPr>
    </p:bg>
    <p:spTree>
      <p:nvGrpSpPr>
        <p:cNvPr id="1" name=""/>
        <p:cNvGrpSpPr/>
        <p:nvPr/>
      </p:nvGrpSpPr>
      <p:grpSpPr>
        <a:xfrm>
          <a:off x="0" y="0"/>
          <a:ext cx="0" cy="0"/>
          <a:chOff x="0" y="0"/>
          <a:chExt cx="0" cy="0"/>
        </a:xfrm>
      </p:grpSpPr>
      <p:pic>
        <p:nvPicPr>
          <p:cNvPr id="10" name="Image 1" descr="Pralogy"/>
          <p:cNvPicPr>
            <a:picLocks noChangeAspect="1"/>
          </p:cNvPicPr>
          <p:nvPr/>
        </p:nvPicPr>
        <p:blipFill>
          <a:blip r:embed="rId5"/>
          <a:srcRect l="-62" r="-62"/>
          <a:stretch/>
        </p:blipFill>
        <p:spPr>
          <a:xfrm>
            <a:off x="812800" y="6273800"/>
            <a:ext cx="1111250" cy="228600"/>
          </a:xfrm>
          <a:prstGeom prst="rect">
            <a:avLst/>
          </a:prstGeom>
        </p:spPr>
      </p:pic>
      <p:sp>
        <p:nvSpPr>
          <p:cNvPr id="11" name="Text 7"/>
          <p:cNvSpPr/>
          <p:nvPr/>
        </p:nvSpPr>
        <p:spPr>
          <a:xfrm>
            <a:off x="11145441" y="6281440"/>
            <a:ext cx="233759"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solidFill>
                  <a:srgbClr val="6B7085"/>
                </a:solidFill>
                <a:latin typeface="Nunito Sans" pitchFamily="34" charset="0"/>
                <a:ea typeface="Nunito Sans" pitchFamily="34" charset="-122"/>
                <a:cs typeface="Nunito Sans" pitchFamily="34" charset="-120"/>
              </a:rPr>
              <a:t>8</a:t>
            </a:r>
            <a:endParaRPr lang="es-CO" sz="1200" noProof="0" dirty="0"/>
          </a:p>
        </p:txBody>
      </p:sp>
      <p:pic>
        <p:nvPicPr>
          <p:cNvPr id="16" name="deepfake example">
            <a:hlinkClick r:id="" action="ppaction://media"/>
            <a:extLst>
              <a:ext uri="{FF2B5EF4-FFF2-40B4-BE49-F238E27FC236}">
                <a16:creationId xmlns:a16="http://schemas.microsoft.com/office/drawing/2014/main" id="{F2FA7142-23B9-9624-ED0F-6208125A734A}"/>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0" y="9525"/>
            <a:ext cx="12192000" cy="6838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1625"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6"/>
                </p:tgtEl>
              </p:cMediaNode>
            </p:vide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1AC77A0C-6E56-3A92-DB32-0BB483F3964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2C1FEA5-FF3E-D61F-E6F8-B275105EE9F4}"/>
              </a:ext>
            </a:extLst>
          </p:cNvPr>
          <p:cNvSpPr/>
          <p:nvPr/>
        </p:nvSpPr>
        <p:spPr>
          <a:xfrm>
            <a:off x="812800" y="652184"/>
            <a:ext cx="10883392" cy="274241"/>
          </a:xfrm>
          <a:prstGeom prst="rect">
            <a:avLst/>
          </a:prstGeom>
          <a:noFill/>
          <a:ln/>
        </p:spPr>
        <p:txBody>
          <a:bodyPr wrap="square" lIns="0" tIns="0" rIns="0" bIns="0" rtlCol="0" anchor="t">
            <a:normAutofit/>
          </a:bodyPr>
          <a:lstStyle/>
          <a:p>
            <a:pPr marL="0" indent="0" algn="l">
              <a:lnSpc>
                <a:spcPts val="1960"/>
              </a:lnSpc>
              <a:buNone/>
            </a:pPr>
            <a:r>
              <a:rPr lang="es-CO" sz="1400" b="1" kern="0" spc="150" noProof="0" dirty="0">
                <a:solidFill>
                  <a:srgbClr val="2F3EBF"/>
                </a:solidFill>
                <a:latin typeface="Nunito Sans" pitchFamily="34" charset="0"/>
                <a:ea typeface="Nunito Sans" pitchFamily="34" charset="-122"/>
                <a:cs typeface="Nunito Sans" pitchFamily="34" charset="-120"/>
              </a:rPr>
              <a:t>BLOQUE 1 · LA URGENCIA COMO ARMA</a:t>
            </a:r>
            <a:endParaRPr lang="es-CO" sz="1400" noProof="0" dirty="0"/>
          </a:p>
        </p:txBody>
      </p:sp>
      <p:sp>
        <p:nvSpPr>
          <p:cNvPr id="3" name="Text 1">
            <a:extLst>
              <a:ext uri="{FF2B5EF4-FFF2-40B4-BE49-F238E27FC236}">
                <a16:creationId xmlns:a16="http://schemas.microsoft.com/office/drawing/2014/main" id="{5E61F51D-B91B-8CC8-E9DE-73CE02DEE3A7}"/>
              </a:ext>
            </a:extLst>
          </p:cNvPr>
          <p:cNvSpPr>
            <a:spLocks noGrp="1"/>
          </p:cNvSpPr>
          <p:nvPr>
            <p:ph type="title"/>
          </p:nvPr>
        </p:nvSpPr>
        <p:spPr>
          <a:xfrm>
            <a:off x="812800" y="1180425"/>
            <a:ext cx="10883392" cy="528241"/>
          </a:xfrm>
          <a:prstGeom prst="rect">
            <a:avLst/>
          </a:prstGeom>
          <a:noFill/>
          <a:ln/>
        </p:spPr>
        <p:txBody>
          <a:bodyPr wrap="square" lIns="0" tIns="0" rIns="0" bIns="0" rtlCol="0" anchor="t">
            <a:normAutofit/>
          </a:bodyPr>
          <a:lstStyle/>
          <a:p>
            <a:pPr marL="0" indent="0" algn="l">
              <a:lnSpc>
                <a:spcPts val="3960"/>
              </a:lnSpc>
              <a:buNone/>
            </a:pPr>
            <a:r>
              <a:rPr lang="es-CO" dirty="0">
                <a:latin typeface="Fraunces" pitchFamily="18" charset="0"/>
              </a:rPr>
              <a:t>Confía en mí, me conoces.</a:t>
            </a:r>
            <a:endParaRPr lang="es-CO" sz="3600" noProof="0" dirty="0"/>
          </a:p>
        </p:txBody>
      </p:sp>
      <p:pic>
        <p:nvPicPr>
          <p:cNvPr id="10" name="Image 1" descr="Pralogy">
            <a:extLst>
              <a:ext uri="{FF2B5EF4-FFF2-40B4-BE49-F238E27FC236}">
                <a16:creationId xmlns:a16="http://schemas.microsoft.com/office/drawing/2014/main" id="{96CE8DA4-661A-CA93-EF67-4CEB17A6BF29}"/>
              </a:ext>
            </a:extLst>
          </p:cNvPr>
          <p:cNvPicPr>
            <a:picLocks noChangeAspect="1"/>
          </p:cNvPicPr>
          <p:nvPr/>
        </p:nvPicPr>
        <p:blipFill>
          <a:blip r:embed="rId3"/>
          <a:srcRect l="-62" r="-62"/>
          <a:stretch/>
        </p:blipFill>
        <p:spPr>
          <a:xfrm>
            <a:off x="812800" y="6273800"/>
            <a:ext cx="1111250" cy="228600"/>
          </a:xfrm>
          <a:prstGeom prst="rect">
            <a:avLst/>
          </a:prstGeom>
        </p:spPr>
      </p:pic>
      <p:sp>
        <p:nvSpPr>
          <p:cNvPr id="11" name="Text 7">
            <a:extLst>
              <a:ext uri="{FF2B5EF4-FFF2-40B4-BE49-F238E27FC236}">
                <a16:creationId xmlns:a16="http://schemas.microsoft.com/office/drawing/2014/main" id="{CE93B04B-7710-AA20-7E3B-148CEF66BED4}"/>
              </a:ext>
            </a:extLst>
          </p:cNvPr>
          <p:cNvSpPr/>
          <p:nvPr/>
        </p:nvSpPr>
        <p:spPr>
          <a:xfrm>
            <a:off x="11145441" y="6281440"/>
            <a:ext cx="233759"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solidFill>
                  <a:srgbClr val="6B7085"/>
                </a:solidFill>
                <a:latin typeface="Nunito Sans" pitchFamily="34" charset="0"/>
                <a:ea typeface="Nunito Sans" pitchFamily="34" charset="-122"/>
                <a:cs typeface="Nunito Sans" pitchFamily="34" charset="-120"/>
              </a:rPr>
              <a:t>9</a:t>
            </a:r>
            <a:endParaRPr lang="es-CO" sz="1200" noProof="0" dirty="0"/>
          </a:p>
        </p:txBody>
      </p:sp>
      <p:grpSp>
        <p:nvGrpSpPr>
          <p:cNvPr id="49" name="Group 48">
            <a:extLst>
              <a:ext uri="{FF2B5EF4-FFF2-40B4-BE49-F238E27FC236}">
                <a16:creationId xmlns:a16="http://schemas.microsoft.com/office/drawing/2014/main" id="{3DD92F5E-8FA2-0947-A83B-4A4DAD25248C}"/>
              </a:ext>
            </a:extLst>
          </p:cNvPr>
          <p:cNvGrpSpPr/>
          <p:nvPr/>
        </p:nvGrpSpPr>
        <p:grpSpPr>
          <a:xfrm>
            <a:off x="1642649" y="2003919"/>
            <a:ext cx="2810545" cy="1691535"/>
            <a:chOff x="945027" y="2121182"/>
            <a:chExt cx="2810545" cy="1691535"/>
          </a:xfrm>
        </p:grpSpPr>
        <p:pic>
          <p:nvPicPr>
            <p:cNvPr id="15" name="Picture 14">
              <a:extLst>
                <a:ext uri="{FF2B5EF4-FFF2-40B4-BE49-F238E27FC236}">
                  <a16:creationId xmlns:a16="http://schemas.microsoft.com/office/drawing/2014/main" id="{29B2614E-9DA1-FC5C-C936-B19E4834B3A7}"/>
                </a:ext>
              </a:extLst>
            </p:cNvPr>
            <p:cNvPicPr>
              <a:picLocks noChangeAspect="1"/>
            </p:cNvPicPr>
            <p:nvPr/>
          </p:nvPicPr>
          <p:blipFill>
            <a:blip r:embed="rId4"/>
            <a:stretch>
              <a:fillRect/>
            </a:stretch>
          </p:blipFill>
          <p:spPr>
            <a:xfrm>
              <a:off x="945027" y="2121182"/>
              <a:ext cx="1111250" cy="1111250"/>
            </a:xfrm>
            <a:prstGeom prst="rect">
              <a:avLst/>
            </a:prstGeom>
          </p:spPr>
        </p:pic>
        <p:cxnSp>
          <p:nvCxnSpPr>
            <p:cNvPr id="17" name="Straight Connector 16">
              <a:extLst>
                <a:ext uri="{FF2B5EF4-FFF2-40B4-BE49-F238E27FC236}">
                  <a16:creationId xmlns:a16="http://schemas.microsoft.com/office/drawing/2014/main" id="{358AC1DB-29E1-949E-C956-161FCA1397D7}"/>
                </a:ext>
              </a:extLst>
            </p:cNvPr>
            <p:cNvCxnSpPr>
              <a:cxnSpLocks/>
            </p:cNvCxnSpPr>
            <p:nvPr/>
          </p:nvCxnSpPr>
          <p:spPr>
            <a:xfrm flipV="1">
              <a:off x="2087154" y="2535355"/>
              <a:ext cx="492880" cy="894811"/>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AABB949C-8286-51D7-696D-72413FDE8EF5}"/>
                </a:ext>
              </a:extLst>
            </p:cNvPr>
            <p:cNvPicPr>
              <a:picLocks noChangeAspect="1"/>
            </p:cNvPicPr>
            <p:nvPr/>
          </p:nvPicPr>
          <p:blipFill>
            <a:blip r:embed="rId5"/>
            <a:srcRect b="7916"/>
            <a:stretch>
              <a:fillRect/>
            </a:stretch>
          </p:blipFill>
          <p:spPr>
            <a:xfrm>
              <a:off x="2465319" y="2533205"/>
              <a:ext cx="1290253" cy="1279512"/>
            </a:xfrm>
            <a:prstGeom prst="rect">
              <a:avLst/>
            </a:prstGeom>
          </p:spPr>
        </p:pic>
      </p:grpSp>
      <p:grpSp>
        <p:nvGrpSpPr>
          <p:cNvPr id="51" name="Group 50">
            <a:extLst>
              <a:ext uri="{FF2B5EF4-FFF2-40B4-BE49-F238E27FC236}">
                <a16:creationId xmlns:a16="http://schemas.microsoft.com/office/drawing/2014/main" id="{26419563-8240-B5B7-AFEC-E3B24B60BD01}"/>
              </a:ext>
            </a:extLst>
          </p:cNvPr>
          <p:cNvGrpSpPr/>
          <p:nvPr/>
        </p:nvGrpSpPr>
        <p:grpSpPr>
          <a:xfrm>
            <a:off x="7567363" y="4318949"/>
            <a:ext cx="3713290" cy="1043501"/>
            <a:chOff x="416837" y="4468844"/>
            <a:chExt cx="3713290" cy="1043501"/>
          </a:xfrm>
        </p:grpSpPr>
        <p:sp>
          <p:nvSpPr>
            <p:cNvPr id="38" name="Shape 4">
              <a:extLst>
                <a:ext uri="{FF2B5EF4-FFF2-40B4-BE49-F238E27FC236}">
                  <a16:creationId xmlns:a16="http://schemas.microsoft.com/office/drawing/2014/main" id="{EA12E7D1-7E7C-8526-97F8-FE23B9E2AE52}"/>
                </a:ext>
              </a:extLst>
            </p:cNvPr>
            <p:cNvSpPr/>
            <p:nvPr/>
          </p:nvSpPr>
          <p:spPr>
            <a:xfrm>
              <a:off x="416837" y="4614209"/>
              <a:ext cx="3642939" cy="898136"/>
            </a:xfrm>
            <a:prstGeom prst="roundRect">
              <a:avLst>
                <a:gd name="adj" fmla="val 6972"/>
              </a:avLst>
            </a:prstGeom>
            <a:solidFill>
              <a:srgbClr val="FCFBF8"/>
            </a:solidFill>
            <a:ln/>
          </p:spPr>
          <p:txBody>
            <a:bodyPr/>
            <a:lstStyle/>
            <a:p>
              <a:endParaRPr lang="es-CO" noProof="0" dirty="0"/>
            </a:p>
          </p:txBody>
        </p:sp>
        <p:sp>
          <p:nvSpPr>
            <p:cNvPr id="40" name="Text 2">
              <a:extLst>
                <a:ext uri="{FF2B5EF4-FFF2-40B4-BE49-F238E27FC236}">
                  <a16:creationId xmlns:a16="http://schemas.microsoft.com/office/drawing/2014/main" id="{D8EAE1D3-7466-D974-B275-843E3C7D1092}"/>
                </a:ext>
              </a:extLst>
            </p:cNvPr>
            <p:cNvSpPr/>
            <p:nvPr/>
          </p:nvSpPr>
          <p:spPr>
            <a:xfrm>
              <a:off x="598042" y="4759338"/>
              <a:ext cx="3324573" cy="734719"/>
            </a:xfrm>
            <a:prstGeom prst="rect">
              <a:avLst/>
            </a:prstGeom>
            <a:noFill/>
            <a:ln/>
          </p:spPr>
          <p:txBody>
            <a:bodyPr wrap="square" lIns="0" tIns="0" rIns="0" bIns="0" rtlCol="0" anchor="t">
              <a:normAutofit/>
            </a:bodyPr>
            <a:lstStyle/>
            <a:p>
              <a:pPr marL="0" indent="0" algn="l">
                <a:lnSpc>
                  <a:spcPts val="2465"/>
                </a:lnSpc>
                <a:buNone/>
              </a:pPr>
              <a:r>
                <a:rPr lang="es-CO" dirty="0">
                  <a:solidFill>
                    <a:srgbClr val="1C2142"/>
                  </a:solidFill>
                  <a:latin typeface="Nunito Sans" pitchFamily="34" charset="0"/>
                </a:rPr>
                <a:t>El atacante no supo qué responder y </a:t>
              </a:r>
              <a:r>
                <a:rPr lang="es-CO" b="1" dirty="0">
                  <a:solidFill>
                    <a:srgbClr val="1C2142"/>
                  </a:solidFill>
                  <a:latin typeface="Nunito Sans" pitchFamily="34" charset="0"/>
                </a:rPr>
                <a:t>colgó</a:t>
              </a:r>
              <a:r>
                <a:rPr lang="es-CO" dirty="0">
                  <a:solidFill>
                    <a:srgbClr val="1C2142"/>
                  </a:solidFill>
                  <a:latin typeface="Nunito Sans" pitchFamily="34" charset="0"/>
                </a:rPr>
                <a:t> la llamada.</a:t>
              </a:r>
            </a:p>
          </p:txBody>
        </p:sp>
        <p:pic>
          <p:nvPicPr>
            <p:cNvPr id="41" name="Picture 40" descr="Hang up - Free interface icons">
              <a:extLst>
                <a:ext uri="{FF2B5EF4-FFF2-40B4-BE49-F238E27FC236}">
                  <a16:creationId xmlns:a16="http://schemas.microsoft.com/office/drawing/2014/main" id="{11AEEA78-2FC4-54EE-D2FF-C1502C4D0DCD}"/>
                </a:ext>
              </a:extLst>
            </p:cNvPr>
            <p:cNvPicPr>
              <a:picLocks noChangeAspect="1"/>
            </p:cNvPicPr>
            <p:nvPr/>
          </p:nvPicPr>
          <p:blipFill>
            <a:blip r:embed="rId6"/>
            <a:stretch>
              <a:fillRect/>
            </a:stretch>
          </p:blipFill>
          <p:spPr>
            <a:xfrm>
              <a:off x="3592301" y="4468844"/>
              <a:ext cx="537826" cy="571517"/>
            </a:xfrm>
            <a:prstGeom prst="rect">
              <a:avLst/>
            </a:prstGeom>
          </p:spPr>
        </p:pic>
      </p:grpSp>
      <p:grpSp>
        <p:nvGrpSpPr>
          <p:cNvPr id="50" name="Group 49">
            <a:extLst>
              <a:ext uri="{FF2B5EF4-FFF2-40B4-BE49-F238E27FC236}">
                <a16:creationId xmlns:a16="http://schemas.microsoft.com/office/drawing/2014/main" id="{947EA1DE-9F3D-6A1F-ADC1-C7FDEEA97E7F}"/>
              </a:ext>
            </a:extLst>
          </p:cNvPr>
          <p:cNvGrpSpPr/>
          <p:nvPr/>
        </p:nvGrpSpPr>
        <p:grpSpPr>
          <a:xfrm>
            <a:off x="812800" y="4024518"/>
            <a:ext cx="6268396" cy="1920218"/>
            <a:chOff x="5535168" y="3423612"/>
            <a:chExt cx="6268396" cy="1920218"/>
          </a:xfrm>
        </p:grpSpPr>
        <p:sp>
          <p:nvSpPr>
            <p:cNvPr id="29" name="Shape 4">
              <a:extLst>
                <a:ext uri="{FF2B5EF4-FFF2-40B4-BE49-F238E27FC236}">
                  <a16:creationId xmlns:a16="http://schemas.microsoft.com/office/drawing/2014/main" id="{C3A85E29-9DE8-CE6B-DD24-84D1E3A753F3}"/>
                </a:ext>
              </a:extLst>
            </p:cNvPr>
            <p:cNvSpPr/>
            <p:nvPr/>
          </p:nvSpPr>
          <p:spPr>
            <a:xfrm>
              <a:off x="5535168" y="3423612"/>
              <a:ext cx="5589867" cy="1920218"/>
            </a:xfrm>
            <a:prstGeom prst="roundRect">
              <a:avLst>
                <a:gd name="adj" fmla="val 6972"/>
              </a:avLst>
            </a:prstGeom>
            <a:solidFill>
              <a:srgbClr val="FCFBF8"/>
            </a:solidFill>
            <a:ln/>
          </p:spPr>
          <p:txBody>
            <a:bodyPr/>
            <a:lstStyle/>
            <a:p>
              <a:endParaRPr lang="es-CO" noProof="0" dirty="0"/>
            </a:p>
          </p:txBody>
        </p:sp>
        <p:sp>
          <p:nvSpPr>
            <p:cNvPr id="36" name="Text 2">
              <a:extLst>
                <a:ext uri="{FF2B5EF4-FFF2-40B4-BE49-F238E27FC236}">
                  <a16:creationId xmlns:a16="http://schemas.microsoft.com/office/drawing/2014/main" id="{8AEB1585-B324-6603-0FEE-493BE6CB4BDB}"/>
                </a:ext>
              </a:extLst>
            </p:cNvPr>
            <p:cNvSpPr/>
            <p:nvPr/>
          </p:nvSpPr>
          <p:spPr>
            <a:xfrm>
              <a:off x="5812485" y="3765735"/>
              <a:ext cx="4624089" cy="1277541"/>
            </a:xfrm>
            <a:prstGeom prst="rect">
              <a:avLst/>
            </a:prstGeom>
            <a:noFill/>
            <a:ln/>
          </p:spPr>
          <p:txBody>
            <a:bodyPr wrap="square" lIns="0" tIns="0" rIns="0" bIns="0" rtlCol="0" anchor="t">
              <a:normAutofit/>
            </a:bodyPr>
            <a:lstStyle/>
            <a:p>
              <a:pPr marL="0" indent="0" algn="l">
                <a:lnSpc>
                  <a:spcPts val="2465"/>
                </a:lnSpc>
                <a:buNone/>
              </a:pPr>
              <a:r>
                <a:rPr lang="es-CO" dirty="0">
                  <a:solidFill>
                    <a:srgbClr val="1C2142"/>
                  </a:solidFill>
                  <a:latin typeface="Nunito Sans" pitchFamily="34" charset="0"/>
                </a:rPr>
                <a:t>El ejecutivo </a:t>
              </a:r>
              <a:r>
                <a:rPr lang="es-CO" b="1" dirty="0">
                  <a:solidFill>
                    <a:srgbClr val="1C2142"/>
                  </a:solidFill>
                  <a:latin typeface="Nunito Sans" pitchFamily="34" charset="0"/>
                </a:rPr>
                <a:t>sospechó</a:t>
              </a:r>
              <a:r>
                <a:rPr lang="es-CO" dirty="0">
                  <a:solidFill>
                    <a:srgbClr val="1C2142"/>
                  </a:solidFill>
                  <a:latin typeface="Nunito Sans" pitchFamily="34" charset="0"/>
                </a:rPr>
                <a:t> de la llamada y de la petición inusual del “</a:t>
              </a:r>
              <a:r>
                <a:rPr lang="es-CO" b="1" dirty="0">
                  <a:solidFill>
                    <a:srgbClr val="1C2142"/>
                  </a:solidFill>
                  <a:latin typeface="Nunito Sans" pitchFamily="34" charset="0"/>
                </a:rPr>
                <a:t>CEO</a:t>
              </a:r>
              <a:r>
                <a:rPr lang="es-CO" dirty="0">
                  <a:solidFill>
                    <a:srgbClr val="1C2142"/>
                  </a:solidFill>
                  <a:latin typeface="Nunito Sans" pitchFamily="34" charset="0"/>
                </a:rPr>
                <a:t>”, lo que lo llevó a preguntarle por el </a:t>
              </a:r>
              <a:r>
                <a:rPr lang="es-CO" b="1" dirty="0">
                  <a:solidFill>
                    <a:srgbClr val="1C2142"/>
                  </a:solidFill>
                  <a:latin typeface="Nunito Sans" pitchFamily="34" charset="0"/>
                </a:rPr>
                <a:t>libro</a:t>
              </a:r>
              <a:r>
                <a:rPr lang="es-CO" dirty="0">
                  <a:solidFill>
                    <a:srgbClr val="1C2142"/>
                  </a:solidFill>
                  <a:latin typeface="Nunito Sans" pitchFamily="34" charset="0"/>
                </a:rPr>
                <a:t> que hace poco le había recomendado </a:t>
              </a:r>
              <a:r>
                <a:rPr lang="es-CO" b="1" dirty="0">
                  <a:solidFill>
                    <a:srgbClr val="1C2142"/>
                  </a:solidFill>
                  <a:latin typeface="Nunito Sans" pitchFamily="34" charset="0"/>
                </a:rPr>
                <a:t>personalmente</a:t>
              </a:r>
              <a:r>
                <a:rPr lang="es-CO" dirty="0">
                  <a:solidFill>
                    <a:srgbClr val="1C2142"/>
                  </a:solidFill>
                  <a:latin typeface="Nunito Sans" pitchFamily="34" charset="0"/>
                </a:rPr>
                <a:t>.</a:t>
              </a:r>
            </a:p>
          </p:txBody>
        </p:sp>
        <p:pic>
          <p:nvPicPr>
            <p:cNvPr id="44" name="Picture 43">
              <a:extLst>
                <a:ext uri="{FF2B5EF4-FFF2-40B4-BE49-F238E27FC236}">
                  <a16:creationId xmlns:a16="http://schemas.microsoft.com/office/drawing/2014/main" id="{F7C02683-1E0B-4D8B-3623-B131735AFB0E}"/>
                </a:ext>
              </a:extLst>
            </p:cNvPr>
            <p:cNvPicPr>
              <a:picLocks noChangeAspect="1"/>
            </p:cNvPicPr>
            <p:nvPr/>
          </p:nvPicPr>
          <p:blipFill>
            <a:blip r:embed="rId7"/>
            <a:stretch>
              <a:fillRect/>
            </a:stretch>
          </p:blipFill>
          <p:spPr>
            <a:xfrm>
              <a:off x="10526023" y="3812717"/>
              <a:ext cx="1277541" cy="1277541"/>
            </a:xfrm>
            <a:prstGeom prst="rect">
              <a:avLst/>
            </a:prstGeom>
          </p:spPr>
        </p:pic>
      </p:grpSp>
      <p:grpSp>
        <p:nvGrpSpPr>
          <p:cNvPr id="48" name="Group 47">
            <a:extLst>
              <a:ext uri="{FF2B5EF4-FFF2-40B4-BE49-F238E27FC236}">
                <a16:creationId xmlns:a16="http://schemas.microsoft.com/office/drawing/2014/main" id="{32F1F9CC-297E-7D7E-8D54-0FB852B972FE}"/>
              </a:ext>
            </a:extLst>
          </p:cNvPr>
          <p:cNvGrpSpPr/>
          <p:nvPr/>
        </p:nvGrpSpPr>
        <p:grpSpPr>
          <a:xfrm>
            <a:off x="5317733" y="1858067"/>
            <a:ext cx="6155949" cy="2023579"/>
            <a:chOff x="5942161" y="896001"/>
            <a:chExt cx="6155949" cy="2023579"/>
          </a:xfrm>
        </p:grpSpPr>
        <p:grpSp>
          <p:nvGrpSpPr>
            <p:cNvPr id="27" name="Group 26">
              <a:extLst>
                <a:ext uri="{FF2B5EF4-FFF2-40B4-BE49-F238E27FC236}">
                  <a16:creationId xmlns:a16="http://schemas.microsoft.com/office/drawing/2014/main" id="{F95DCA90-5A95-5BB2-831D-D132B5F562DA}"/>
                </a:ext>
              </a:extLst>
            </p:cNvPr>
            <p:cNvGrpSpPr/>
            <p:nvPr/>
          </p:nvGrpSpPr>
          <p:grpSpPr>
            <a:xfrm>
              <a:off x="5942161" y="896001"/>
              <a:ext cx="5991079" cy="2023579"/>
              <a:chOff x="6162040" y="2785739"/>
              <a:chExt cx="5991079" cy="2023579"/>
            </a:xfrm>
          </p:grpSpPr>
          <p:sp>
            <p:nvSpPr>
              <p:cNvPr id="6" name="Shape 4">
                <a:extLst>
                  <a:ext uri="{FF2B5EF4-FFF2-40B4-BE49-F238E27FC236}">
                    <a16:creationId xmlns:a16="http://schemas.microsoft.com/office/drawing/2014/main" id="{493858E8-E889-1CB4-3868-0468156B511E}"/>
                  </a:ext>
                </a:extLst>
              </p:cNvPr>
              <p:cNvSpPr/>
              <p:nvPr/>
            </p:nvSpPr>
            <p:spPr>
              <a:xfrm>
                <a:off x="6162040" y="2785739"/>
                <a:ext cx="5844032" cy="2023579"/>
              </a:xfrm>
              <a:prstGeom prst="roundRect">
                <a:avLst>
                  <a:gd name="adj" fmla="val 6972"/>
                </a:avLst>
              </a:prstGeom>
              <a:solidFill>
                <a:srgbClr val="FCFBF8"/>
              </a:solidFill>
              <a:ln/>
            </p:spPr>
            <p:txBody>
              <a:bodyPr/>
              <a:lstStyle/>
              <a:p>
                <a:endParaRPr lang="es-CO" noProof="0" dirty="0"/>
              </a:p>
            </p:txBody>
          </p:sp>
          <p:sp>
            <p:nvSpPr>
              <p:cNvPr id="4" name="Text 2">
                <a:extLst>
                  <a:ext uri="{FF2B5EF4-FFF2-40B4-BE49-F238E27FC236}">
                    <a16:creationId xmlns:a16="http://schemas.microsoft.com/office/drawing/2014/main" id="{81968C44-6E76-5753-832E-BFD0F9DB449F}"/>
                  </a:ext>
                </a:extLst>
              </p:cNvPr>
              <p:cNvSpPr/>
              <p:nvPr/>
            </p:nvSpPr>
            <p:spPr>
              <a:xfrm>
                <a:off x="6446012" y="3328388"/>
                <a:ext cx="4270756" cy="1277541"/>
              </a:xfrm>
              <a:prstGeom prst="rect">
                <a:avLst/>
              </a:prstGeom>
              <a:noFill/>
              <a:ln/>
            </p:spPr>
            <p:txBody>
              <a:bodyPr wrap="square" lIns="0" tIns="0" rIns="0" bIns="0" rtlCol="0" anchor="t">
                <a:normAutofit fontScale="85000" lnSpcReduction="10000"/>
              </a:bodyPr>
              <a:lstStyle/>
              <a:p>
                <a:pPr marL="0" indent="0" algn="l">
                  <a:lnSpc>
                    <a:spcPts val="2465"/>
                  </a:lnSpc>
                  <a:buNone/>
                </a:pPr>
                <a:r>
                  <a:rPr lang="es-CO" sz="2000" dirty="0">
                    <a:solidFill>
                      <a:srgbClr val="1C2142"/>
                    </a:solidFill>
                    <a:latin typeface="Nunito Sans" pitchFamily="34" charset="0"/>
                  </a:rPr>
                  <a:t>Un ejecutivo de </a:t>
                </a:r>
                <a:r>
                  <a:rPr lang="es-CO" sz="2000" b="1" dirty="0">
                    <a:solidFill>
                      <a:srgbClr val="1C2142"/>
                    </a:solidFill>
                    <a:latin typeface="Nunito Sans" pitchFamily="34" charset="0"/>
                  </a:rPr>
                  <a:t>Ferrari</a:t>
                </a:r>
                <a:r>
                  <a:rPr lang="es-CO" sz="2000" dirty="0">
                    <a:solidFill>
                      <a:srgbClr val="1C2142"/>
                    </a:solidFill>
                    <a:latin typeface="Nunito Sans" pitchFamily="34" charset="0"/>
                  </a:rPr>
                  <a:t> mensajea y luego recibe una llamada del </a:t>
                </a:r>
                <a:r>
                  <a:rPr lang="es-CO" sz="2000" b="1" dirty="0">
                    <a:solidFill>
                      <a:srgbClr val="1C2142"/>
                    </a:solidFill>
                    <a:latin typeface="Nunito Sans" pitchFamily="34" charset="0"/>
                  </a:rPr>
                  <a:t>“CEO” </a:t>
                </a:r>
                <a:r>
                  <a:rPr lang="es-CO" sz="2000" dirty="0">
                    <a:solidFill>
                      <a:srgbClr val="1C2142"/>
                    </a:solidFill>
                    <a:latin typeface="Nunito Sans" pitchFamily="34" charset="0"/>
                  </a:rPr>
                  <a:t>con el acento perfecto. Le pide apoyo </a:t>
                </a:r>
                <a:r>
                  <a:rPr lang="es-CO" sz="2000" b="1" dirty="0">
                    <a:solidFill>
                      <a:srgbClr val="1C2142"/>
                    </a:solidFill>
                    <a:latin typeface="Nunito Sans" pitchFamily="34" charset="0"/>
                  </a:rPr>
                  <a:t>urgente</a:t>
                </a:r>
                <a:r>
                  <a:rPr lang="es-CO" sz="2000" dirty="0">
                    <a:solidFill>
                      <a:srgbClr val="1C2142"/>
                    </a:solidFill>
                    <a:latin typeface="Nunito Sans" pitchFamily="34" charset="0"/>
                  </a:rPr>
                  <a:t> en una transacción confidencial.</a:t>
                </a:r>
              </a:p>
            </p:txBody>
          </p:sp>
          <p:pic>
            <p:nvPicPr>
              <p:cNvPr id="7" name="Image 0" descr="Chat">
                <a:extLst>
                  <a:ext uri="{FF2B5EF4-FFF2-40B4-BE49-F238E27FC236}">
                    <a16:creationId xmlns:a16="http://schemas.microsoft.com/office/drawing/2014/main" id="{B1BC419E-CFBC-8FE5-0243-43BE447F7B52}"/>
                  </a:ext>
                </a:extLst>
              </p:cNvPr>
              <p:cNvPicPr>
                <a:picLocks noChangeAspect="1"/>
              </p:cNvPicPr>
              <p:nvPr/>
            </p:nvPicPr>
            <p:blipFill>
              <a:blip r:embed="rId8"/>
              <a:srcRect/>
              <a:stretch/>
            </p:blipFill>
            <p:spPr>
              <a:xfrm>
                <a:off x="8880856" y="2840385"/>
                <a:ext cx="406400" cy="406400"/>
              </a:xfrm>
              <a:prstGeom prst="rect">
                <a:avLst/>
              </a:prstGeom>
            </p:spPr>
          </p:pic>
          <p:grpSp>
            <p:nvGrpSpPr>
              <p:cNvPr id="26" name="Group 25">
                <a:extLst>
                  <a:ext uri="{FF2B5EF4-FFF2-40B4-BE49-F238E27FC236}">
                    <a16:creationId xmlns:a16="http://schemas.microsoft.com/office/drawing/2014/main" id="{6EBEC4CC-388E-3A14-1EAF-DA97975800C4}"/>
                  </a:ext>
                </a:extLst>
              </p:cNvPr>
              <p:cNvGrpSpPr/>
              <p:nvPr/>
            </p:nvGrpSpPr>
            <p:grpSpPr>
              <a:xfrm>
                <a:off x="10786129" y="3071520"/>
                <a:ext cx="1366990" cy="1686997"/>
                <a:chOff x="6007620" y="4605929"/>
                <a:chExt cx="1366990" cy="1686997"/>
              </a:xfrm>
            </p:grpSpPr>
            <p:pic>
              <p:nvPicPr>
                <p:cNvPr id="23" name="Picture 22" descr="Benedetto Vigna, CEO Ferrari">
                  <a:extLst>
                    <a:ext uri="{FF2B5EF4-FFF2-40B4-BE49-F238E27FC236}">
                      <a16:creationId xmlns:a16="http://schemas.microsoft.com/office/drawing/2014/main" id="{DBF2C860-FADE-D255-F3CF-60BEB65764DE}"/>
                    </a:ext>
                  </a:extLst>
                </p:cNvPr>
                <p:cNvPicPr>
                  <a:picLocks noChangeAspect="1"/>
                </p:cNvPicPr>
                <p:nvPr/>
              </p:nvPicPr>
              <p:blipFill>
                <a:blip r:embed="rId9"/>
                <a:srcRect l="20342" r="18442"/>
                <a:stretch>
                  <a:fillRect/>
                </a:stretch>
              </p:blipFill>
              <p:spPr>
                <a:xfrm>
                  <a:off x="6007620" y="4605929"/>
                  <a:ext cx="1366990" cy="1256110"/>
                </a:xfrm>
                <a:prstGeom prst="rect">
                  <a:avLst/>
                </a:prstGeom>
              </p:spPr>
            </p:pic>
            <p:sp>
              <p:nvSpPr>
                <p:cNvPr id="25" name="TextBox 24">
                  <a:extLst>
                    <a:ext uri="{FF2B5EF4-FFF2-40B4-BE49-F238E27FC236}">
                      <a16:creationId xmlns:a16="http://schemas.microsoft.com/office/drawing/2014/main" id="{2F45667D-8BF4-EA97-4A7A-F16B9170E605}"/>
                    </a:ext>
                  </a:extLst>
                </p:cNvPr>
                <p:cNvSpPr txBox="1"/>
                <p:nvPr/>
              </p:nvSpPr>
              <p:spPr>
                <a:xfrm>
                  <a:off x="6007620" y="5862039"/>
                  <a:ext cx="1366990" cy="430887"/>
                </a:xfrm>
                <a:prstGeom prst="rect">
                  <a:avLst/>
                </a:prstGeom>
                <a:noFill/>
              </p:spPr>
              <p:txBody>
                <a:bodyPr wrap="square">
                  <a:spAutoFit/>
                </a:bodyPr>
                <a:lstStyle/>
                <a:p>
                  <a:pPr algn="ctr"/>
                  <a:r>
                    <a:rPr lang="en-US" sz="1100" dirty="0"/>
                    <a:t>Benedetto Vigna</a:t>
                  </a:r>
                </a:p>
                <a:p>
                  <a:pPr algn="ctr"/>
                  <a:r>
                    <a:rPr lang="en-US" sz="1100" dirty="0"/>
                    <a:t>CEO Ferrari</a:t>
                  </a:r>
                </a:p>
              </p:txBody>
            </p:sp>
          </p:grpSp>
        </p:grpSp>
        <p:pic>
          <p:nvPicPr>
            <p:cNvPr id="13" name="Picture 12">
              <a:extLst>
                <a:ext uri="{FF2B5EF4-FFF2-40B4-BE49-F238E27FC236}">
                  <a16:creationId xmlns:a16="http://schemas.microsoft.com/office/drawing/2014/main" id="{393B8717-E1DA-004D-7255-811840E401F0}"/>
                </a:ext>
              </a:extLst>
            </p:cNvPr>
            <p:cNvPicPr>
              <a:picLocks noChangeAspect="1"/>
            </p:cNvPicPr>
            <p:nvPr/>
          </p:nvPicPr>
          <p:blipFill>
            <a:blip r:embed="rId10"/>
            <a:srcRect/>
            <a:stretch>
              <a:fillRect/>
            </a:stretch>
          </p:blipFill>
          <p:spPr>
            <a:xfrm>
              <a:off x="11526678" y="1186103"/>
              <a:ext cx="571432" cy="683179"/>
            </a:xfrm>
            <a:prstGeom prst="rect">
              <a:avLst/>
            </a:prstGeom>
          </p:spPr>
        </p:pic>
      </p:grpSp>
      <p:sp>
        <p:nvSpPr>
          <p:cNvPr id="53" name="TextBox 52">
            <a:extLst>
              <a:ext uri="{FF2B5EF4-FFF2-40B4-BE49-F238E27FC236}">
                <a16:creationId xmlns:a16="http://schemas.microsoft.com/office/drawing/2014/main" id="{A362AEC1-7E8D-E361-3ACD-D87FDBDEBA75}"/>
              </a:ext>
            </a:extLst>
          </p:cNvPr>
          <p:cNvSpPr txBox="1"/>
          <p:nvPr/>
        </p:nvSpPr>
        <p:spPr>
          <a:xfrm>
            <a:off x="3444846" y="6066259"/>
            <a:ext cx="6093500" cy="261610"/>
          </a:xfrm>
          <a:prstGeom prst="rect">
            <a:avLst/>
          </a:prstGeom>
          <a:noFill/>
        </p:spPr>
        <p:txBody>
          <a:bodyPr wrap="square">
            <a:spAutoFit/>
          </a:bodyPr>
          <a:lstStyle/>
          <a:p>
            <a:r>
              <a:rPr lang="en-US" sz="1100" dirty="0">
                <a:solidFill>
                  <a:schemeClr val="accent5">
                    <a:lumMod val="60000"/>
                    <a:lumOff val="40000"/>
                  </a:schemeClr>
                </a:solidFill>
                <a:hlinkClick r:id="rId11">
                  <a:extLst>
                    <a:ext uri="{A12FA001-AC4F-418D-AE19-62706E023703}">
                      <ahyp:hlinkClr xmlns:ahyp="http://schemas.microsoft.com/office/drawing/2018/hyperlinkcolor" val="tx"/>
                    </a:ext>
                  </a:extLst>
                </a:hlinkClick>
              </a:rPr>
              <a:t>https://inspiredelearning.com/blog/ferrari-deepfake-attack-foiled-with-simple-question/</a:t>
            </a:r>
            <a:endParaRPr lang="en-US" sz="1100" dirty="0">
              <a:solidFill>
                <a:schemeClr val="accent5">
                  <a:lumMod val="60000"/>
                  <a:lumOff val="40000"/>
                </a:schemeClr>
              </a:solidFill>
            </a:endParaRPr>
          </a:p>
        </p:txBody>
      </p:sp>
    </p:spTree>
    <p:extLst>
      <p:ext uri="{BB962C8B-B14F-4D97-AF65-F5344CB8AC3E}">
        <p14:creationId xmlns:p14="http://schemas.microsoft.com/office/powerpoint/2010/main" val="3036857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2E3A9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2192040"/>
            <a:ext cx="10137775" cy="2036961"/>
          </a:xfrm>
          <a:prstGeom prst="rect">
            <a:avLst/>
          </a:prstGeom>
          <a:noFill/>
          <a:ln/>
        </p:spPr>
        <p:txBody>
          <a:bodyPr wrap="square" lIns="0" tIns="0" rIns="0" bIns="0" rtlCol="0" anchor="t">
            <a:normAutofit/>
          </a:bodyPr>
          <a:lstStyle/>
          <a:p>
            <a:pPr marL="0" indent="0" algn="l">
              <a:lnSpc>
                <a:spcPts val="5280"/>
              </a:lnSpc>
              <a:buNone/>
            </a:pPr>
            <a:r>
              <a:rPr lang="es-CO" sz="4800" b="0" i="0" noProof="0" dirty="0">
                <a:solidFill>
                  <a:srgbClr val="F6F5F1"/>
                </a:solidFill>
                <a:latin typeface="Fraunces" pitchFamily="18" charset="0"/>
                <a:ea typeface="Fraunces" pitchFamily="18" charset="-122"/>
                <a:cs typeface="Fraunces" pitchFamily="18" charset="-120"/>
              </a:rPr>
              <a:t>Las estafas funcionan porque inducen pánico inmediato.</a:t>
            </a:r>
            <a:endParaRPr lang="es-CO" sz="4800" noProof="0" dirty="0"/>
          </a:p>
        </p:txBody>
      </p:sp>
      <p:sp>
        <p:nvSpPr>
          <p:cNvPr id="4" name="Text 2"/>
          <p:cNvSpPr/>
          <p:nvPr/>
        </p:nvSpPr>
        <p:spPr>
          <a:xfrm>
            <a:off x="812800" y="4559201"/>
            <a:ext cx="9156700" cy="736600"/>
          </a:xfrm>
          <a:prstGeom prst="rect">
            <a:avLst/>
          </a:prstGeom>
          <a:noFill/>
          <a:ln/>
        </p:spPr>
        <p:txBody>
          <a:bodyPr wrap="square" lIns="0" tIns="0" rIns="0" bIns="0" rtlCol="0" anchor="t">
            <a:normAutofit/>
          </a:bodyPr>
          <a:lstStyle/>
          <a:p>
            <a:pPr marL="0" indent="0" algn="l">
              <a:lnSpc>
                <a:spcPts val="2800"/>
              </a:lnSpc>
              <a:buNone/>
            </a:pPr>
            <a:r>
              <a:rPr lang="es-CO" sz="2000" dirty="0">
                <a:solidFill>
                  <a:srgbClr val="DCE0F5"/>
                </a:solidFill>
                <a:latin typeface="Nunito Sans" pitchFamily="34" charset="0"/>
                <a:ea typeface="Nunito Sans" pitchFamily="34" charset="-122"/>
                <a:cs typeface="Nunito Sans" pitchFamily="34" charset="-120"/>
              </a:rPr>
              <a:t>Toma un momento para pausar y juzgar la situación</a:t>
            </a:r>
            <a:r>
              <a:rPr lang="es-CO" sz="2000" noProof="0" dirty="0">
                <a:solidFill>
                  <a:srgbClr val="DCE0F5"/>
                </a:solidFill>
                <a:latin typeface="Nunito Sans" pitchFamily="34" charset="0"/>
                <a:ea typeface="Nunito Sans" pitchFamily="34" charset="-122"/>
                <a:cs typeface="Nunito Sans" pitchFamily="34" charset="-120"/>
              </a:rPr>
              <a:t>. </a:t>
            </a:r>
            <a:r>
              <a:rPr lang="es-CO" sz="2000" dirty="0">
                <a:solidFill>
                  <a:srgbClr val="DCE0F5"/>
                </a:solidFill>
                <a:latin typeface="Nunito Sans" pitchFamily="34" charset="0"/>
                <a:ea typeface="Nunito Sans" pitchFamily="34" charset="-122"/>
                <a:cs typeface="Nunito Sans" pitchFamily="34" charset="-120"/>
              </a:rPr>
              <a:t>Es mejor tardar un poco más pero estar seguro.</a:t>
            </a:r>
            <a:endParaRPr lang="es-CO" sz="20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1C2142"/>
        </a:solidFill>
        <a:effectLst/>
      </p:bgPr>
    </p:bg>
    <p:spTree>
      <p:nvGrpSpPr>
        <p:cNvPr id="1" name=""/>
        <p:cNvGrpSpPr/>
        <p:nvPr/>
      </p:nvGrpSpPr>
      <p:grpSpPr>
        <a:xfrm>
          <a:off x="0" y="0"/>
          <a:ext cx="0" cy="0"/>
          <a:chOff x="0" y="0"/>
          <a:chExt cx="0" cy="0"/>
        </a:xfrm>
      </p:grpSpPr>
      <p:sp>
        <p:nvSpPr>
          <p:cNvPr id="2" name="Shape 0"/>
          <p:cNvSpPr/>
          <p:nvPr/>
        </p:nvSpPr>
        <p:spPr>
          <a:xfrm>
            <a:off x="8255000" y="0"/>
            <a:ext cx="4572000" cy="4572000"/>
          </a:xfrm>
          <a:prstGeom prst="roundRect">
            <a:avLst>
              <a:gd name="adj" fmla="val 35556"/>
            </a:avLst>
          </a:prstGeom>
          <a:solidFill>
            <a:srgbClr val="252B55"/>
          </a:solidFill>
          <a:ln/>
        </p:spPr>
        <p:txBody>
          <a:bodyPr/>
          <a:lstStyle/>
          <a:p>
            <a:endParaRPr lang="es-CO" noProof="0" dirty="0"/>
          </a:p>
        </p:txBody>
      </p:sp>
      <p:sp>
        <p:nvSpPr>
          <p:cNvPr id="3" name="Text 1"/>
          <p:cNvSpPr/>
          <p:nvPr/>
        </p:nvSpPr>
        <p:spPr>
          <a:xfrm>
            <a:off x="812800" y="812800"/>
            <a:ext cx="10883392" cy="1168400"/>
          </a:xfrm>
          <a:prstGeom prst="rect">
            <a:avLst/>
          </a:prstGeom>
          <a:noFill/>
          <a:ln/>
        </p:spPr>
        <p:txBody>
          <a:bodyPr wrap="square" lIns="0" tIns="0" rIns="0" bIns="0" rtlCol="0" anchor="t">
            <a:normAutofit fontScale="92500"/>
          </a:bodyPr>
          <a:lstStyle/>
          <a:p>
            <a:pPr marL="0" indent="0" algn="l">
              <a:lnSpc>
                <a:spcPts val="9000"/>
              </a:lnSpc>
              <a:buNone/>
            </a:pPr>
            <a:r>
              <a:rPr lang="es-CO" sz="9000" noProof="0" dirty="0">
                <a:solidFill>
                  <a:srgbClr val="9DA8F2"/>
                </a:solidFill>
                <a:latin typeface="Fraunces" pitchFamily="18" charset="0"/>
                <a:ea typeface="Fraunces" pitchFamily="18" charset="-122"/>
                <a:cs typeface="Fraunces" pitchFamily="18" charset="-120"/>
              </a:rPr>
              <a:t>02</a:t>
            </a:r>
            <a:endParaRPr lang="es-CO" sz="9000" noProof="0" dirty="0"/>
          </a:p>
        </p:txBody>
      </p:sp>
      <p:sp>
        <p:nvSpPr>
          <p:cNvPr id="4" name="Text 2"/>
          <p:cNvSpPr>
            <a:spLocks noGrp="1"/>
          </p:cNvSpPr>
          <p:nvPr>
            <p:ph type="title"/>
          </p:nvPr>
        </p:nvSpPr>
        <p:spPr>
          <a:xfrm>
            <a:off x="812800" y="4876801"/>
            <a:ext cx="8502650" cy="777082"/>
          </a:xfrm>
          <a:prstGeom prst="rect">
            <a:avLst/>
          </a:prstGeom>
          <a:noFill/>
          <a:ln/>
        </p:spPr>
        <p:txBody>
          <a:bodyPr wrap="square" lIns="0" tIns="0" rIns="0" bIns="0" rtlCol="0" anchor="t">
            <a:normAutofit/>
          </a:bodyPr>
          <a:lstStyle/>
          <a:p>
            <a:pPr marL="0" indent="0" algn="l">
              <a:lnSpc>
                <a:spcPts val="5460"/>
              </a:lnSpc>
              <a:buNone/>
            </a:pPr>
            <a:r>
              <a:rPr lang="es-CO" sz="5200" b="0" i="0" noProof="0" dirty="0">
                <a:solidFill>
                  <a:srgbClr val="F6F5F1"/>
                </a:solidFill>
                <a:latin typeface="Fraunces" pitchFamily="18" charset="0"/>
                <a:ea typeface="Fraunces" pitchFamily="18" charset="-122"/>
                <a:cs typeface="Fraunces" pitchFamily="18" charset="-120"/>
              </a:rPr>
              <a:t>Tres hábitos útiles.</a:t>
            </a:r>
            <a:endParaRPr lang="es-CO" sz="5200" noProof="0" dirty="0"/>
          </a:p>
        </p:txBody>
      </p:sp>
      <p:sp>
        <p:nvSpPr>
          <p:cNvPr id="5" name="Text 3"/>
          <p:cNvSpPr/>
          <p:nvPr/>
        </p:nvSpPr>
        <p:spPr>
          <a:xfrm>
            <a:off x="812800" y="5689600"/>
            <a:ext cx="8502650" cy="381000"/>
          </a:xfrm>
          <a:prstGeom prst="rect">
            <a:avLst/>
          </a:prstGeom>
          <a:noFill/>
          <a:ln/>
        </p:spPr>
        <p:txBody>
          <a:bodyPr wrap="square" lIns="0" tIns="0" rIns="0" bIns="0" rtlCol="0" anchor="t">
            <a:normAutofit/>
          </a:bodyPr>
          <a:lstStyle/>
          <a:p>
            <a:pPr marL="0" indent="0" algn="l">
              <a:lnSpc>
                <a:spcPts val="2800"/>
              </a:lnSpc>
              <a:buNone/>
            </a:pPr>
            <a:r>
              <a:rPr lang="es-CO" sz="2000" noProof="0" dirty="0">
                <a:solidFill>
                  <a:srgbClr val="C7CCE8"/>
                </a:solidFill>
                <a:latin typeface="Nunito Sans" pitchFamily="34" charset="0"/>
                <a:ea typeface="Nunito Sans" pitchFamily="34" charset="-122"/>
                <a:cs typeface="Nunito Sans" pitchFamily="34" charset="-120"/>
              </a:rPr>
              <a:t>Rutinas simples que te ayudan a reducir la carga mental en tu día a día.</a:t>
            </a:r>
            <a:endParaRPr lang="es-CO" sz="20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s-CO" sz="1400" b="1" kern="0" spc="150" noProof="0" dirty="0">
                <a:solidFill>
                  <a:srgbClr val="2F3EBF"/>
                </a:solidFill>
                <a:latin typeface="Nunito Sans" pitchFamily="34" charset="0"/>
                <a:ea typeface="Nunito Sans" pitchFamily="34" charset="-122"/>
                <a:cs typeface="Nunito Sans" pitchFamily="34" charset="-120"/>
              </a:rPr>
              <a:t>BLOQUE 02: TRES HÁBITOS ÚTILES.</a:t>
            </a:r>
            <a:endParaRPr lang="es-CO" sz="1400" noProof="0" dirty="0"/>
          </a:p>
        </p:txBody>
      </p:sp>
      <p:sp>
        <p:nvSpPr>
          <p:cNvPr id="3" name="Text 1"/>
          <p:cNvSpPr>
            <a:spLocks noGrp="1"/>
          </p:cNvSpPr>
          <p:nvPr>
            <p:ph type="title"/>
          </p:nvPr>
        </p:nvSpPr>
        <p:spPr>
          <a:xfrm>
            <a:off x="812800" y="1341041"/>
            <a:ext cx="10883392" cy="528241"/>
          </a:xfrm>
          <a:prstGeom prst="rect">
            <a:avLst/>
          </a:prstGeom>
          <a:noFill/>
          <a:ln/>
        </p:spPr>
        <p:txBody>
          <a:bodyPr wrap="square" lIns="0" tIns="0" rIns="0" bIns="0" rtlCol="0" anchor="t">
            <a:normAutofit/>
          </a:bodyPr>
          <a:lstStyle/>
          <a:p>
            <a:pPr marL="0" indent="0" algn="l">
              <a:lnSpc>
                <a:spcPts val="3960"/>
              </a:lnSpc>
              <a:buNone/>
            </a:pPr>
            <a:r>
              <a:rPr lang="es-CO" sz="3600" b="0" i="0" noProof="0" dirty="0">
                <a:solidFill>
                  <a:srgbClr val="1C2142"/>
                </a:solidFill>
                <a:latin typeface="Fraunces" pitchFamily="18" charset="0"/>
                <a:ea typeface="Fraunces" pitchFamily="18" charset="-122"/>
                <a:cs typeface="Fraunces" pitchFamily="18" charset="-120"/>
              </a:rPr>
              <a:t>Un gestor de contraseñas recuerda por ti.</a:t>
            </a:r>
            <a:endParaRPr lang="es-CO" sz="3600" noProof="0" dirty="0"/>
          </a:p>
        </p:txBody>
      </p:sp>
      <p:sp>
        <p:nvSpPr>
          <p:cNvPr id="6" name="Text 4"/>
          <p:cNvSpPr/>
          <p:nvPr/>
        </p:nvSpPr>
        <p:spPr>
          <a:xfrm>
            <a:off x="980821" y="2137869"/>
            <a:ext cx="4851401" cy="2458938"/>
          </a:xfrm>
          <a:prstGeom prst="rect">
            <a:avLst/>
          </a:prstGeom>
          <a:noFill/>
          <a:ln/>
        </p:spPr>
        <p:txBody>
          <a:bodyPr wrap="square" lIns="0" tIns="0" rIns="0" bIns="0" rtlCol="0" anchor="t">
            <a:normAutofit/>
          </a:bodyPr>
          <a:lstStyle/>
          <a:p>
            <a:pPr>
              <a:lnSpc>
                <a:spcPts val="2320"/>
              </a:lnSpc>
            </a:pPr>
            <a:r>
              <a:rPr lang="es-CO" sz="1600" dirty="0">
                <a:solidFill>
                  <a:srgbClr val="1C2142"/>
                </a:solidFill>
                <a:latin typeface="Nunito Sans" pitchFamily="34" charset="0"/>
              </a:rPr>
              <a:t>Recordar muchas contraseñas es tedioso y para evitarlo recurrimos a prácticas poco recomendables como: </a:t>
            </a:r>
          </a:p>
          <a:p>
            <a:pPr marL="285750" indent="-285750">
              <a:lnSpc>
                <a:spcPts val="2320"/>
              </a:lnSpc>
              <a:buFont typeface="Wingdings" panose="05000000000000000000" pitchFamily="2" charset="2"/>
              <a:buChar char="§"/>
            </a:pPr>
            <a:r>
              <a:rPr lang="es-CO" sz="1600" dirty="0">
                <a:solidFill>
                  <a:srgbClr val="1C2142"/>
                </a:solidFill>
                <a:latin typeface="Nunito Sans" pitchFamily="34" charset="0"/>
              </a:rPr>
              <a:t>Utilizar la misma contraseña para todo.</a:t>
            </a:r>
          </a:p>
          <a:p>
            <a:pPr marL="285750" indent="-285750">
              <a:lnSpc>
                <a:spcPts val="2320"/>
              </a:lnSpc>
              <a:buFont typeface="Wingdings" panose="05000000000000000000" pitchFamily="2" charset="2"/>
              <a:buChar char="§"/>
            </a:pPr>
            <a:r>
              <a:rPr lang="es-CO" sz="1600" dirty="0">
                <a:solidFill>
                  <a:srgbClr val="1C2142"/>
                </a:solidFill>
                <a:latin typeface="Nunito Sans" pitchFamily="34" charset="0"/>
              </a:rPr>
              <a:t>Construir contraseñas con fechas, nombres u otros datos personales.</a:t>
            </a:r>
          </a:p>
          <a:p>
            <a:pPr marL="285750" indent="-285750">
              <a:lnSpc>
                <a:spcPts val="2320"/>
              </a:lnSpc>
              <a:buFont typeface="Wingdings" panose="05000000000000000000" pitchFamily="2" charset="2"/>
              <a:buChar char="§"/>
            </a:pPr>
            <a:r>
              <a:rPr lang="es-CO" sz="1600" dirty="0">
                <a:solidFill>
                  <a:srgbClr val="1C2142"/>
                </a:solidFill>
                <a:latin typeface="Nunito Sans" pitchFamily="34" charset="0"/>
              </a:rPr>
              <a:t>Hacer contraseñas cortas.</a:t>
            </a:r>
          </a:p>
          <a:p>
            <a:pPr marL="285750" indent="-285750" algn="l">
              <a:lnSpc>
                <a:spcPts val="2320"/>
              </a:lnSpc>
              <a:buFont typeface="Wingdings" panose="05000000000000000000" pitchFamily="2" charset="2"/>
              <a:buChar char="§"/>
            </a:pPr>
            <a:endParaRPr lang="es-CO" sz="1600" dirty="0">
              <a:solidFill>
                <a:srgbClr val="4A5070"/>
              </a:solidFill>
              <a:latin typeface="Nunito Sans" pitchFamily="34" charset="0"/>
            </a:endParaRPr>
          </a:p>
          <a:p>
            <a:pPr marL="285750" indent="-285750" algn="l">
              <a:lnSpc>
                <a:spcPts val="2320"/>
              </a:lnSpc>
              <a:buFont typeface="Wingdings" panose="05000000000000000000" pitchFamily="2" charset="2"/>
              <a:buChar char="§"/>
            </a:pPr>
            <a:endParaRPr lang="es-CO" sz="1600" noProof="0" dirty="0"/>
          </a:p>
        </p:txBody>
      </p:sp>
      <p:sp>
        <p:nvSpPr>
          <p:cNvPr id="7" name="Shape 5"/>
          <p:cNvSpPr/>
          <p:nvPr/>
        </p:nvSpPr>
        <p:spPr>
          <a:xfrm>
            <a:off x="6359780" y="2137869"/>
            <a:ext cx="5485892" cy="2808886"/>
          </a:xfrm>
          <a:prstGeom prst="roundRect">
            <a:avLst>
              <a:gd name="adj" fmla="val 4862"/>
            </a:avLst>
          </a:prstGeom>
          <a:solidFill>
            <a:srgbClr val="E9ECF4"/>
          </a:solidFill>
          <a:ln/>
        </p:spPr>
        <p:txBody>
          <a:bodyPr/>
          <a:lstStyle/>
          <a:p>
            <a:endParaRPr lang="es-CO" noProof="0" dirty="0"/>
          </a:p>
        </p:txBody>
      </p:sp>
      <p:sp>
        <p:nvSpPr>
          <p:cNvPr id="9" name="Text 7"/>
          <p:cNvSpPr/>
          <p:nvPr/>
        </p:nvSpPr>
        <p:spPr>
          <a:xfrm>
            <a:off x="6515100" y="2521140"/>
            <a:ext cx="5330572" cy="2425615"/>
          </a:xfrm>
          <a:prstGeom prst="rect">
            <a:avLst/>
          </a:prstGeom>
          <a:noFill/>
          <a:ln/>
        </p:spPr>
        <p:txBody>
          <a:bodyPr wrap="square" lIns="0" tIns="0" rIns="0" bIns="0" rtlCol="0" anchor="t">
            <a:normAutofit/>
          </a:bodyPr>
          <a:lstStyle/>
          <a:p>
            <a:pPr marL="0" indent="0" algn="l">
              <a:lnSpc>
                <a:spcPts val="2320"/>
              </a:lnSpc>
              <a:buNone/>
            </a:pPr>
            <a:r>
              <a:rPr lang="es-CO" sz="1600" b="1" noProof="0" dirty="0">
                <a:solidFill>
                  <a:srgbClr val="1C2142"/>
                </a:solidFill>
                <a:latin typeface="Nunito Sans" pitchFamily="34" charset="0"/>
              </a:rPr>
              <a:t>Gestor de contraseñas: </a:t>
            </a:r>
            <a:r>
              <a:rPr lang="es-CO" sz="1600" noProof="0" dirty="0">
                <a:solidFill>
                  <a:srgbClr val="1C2142"/>
                </a:solidFill>
                <a:latin typeface="Nunito Sans" pitchFamily="34" charset="0"/>
              </a:rPr>
              <a:t>Sistema que guarda y administra contraseñas.</a:t>
            </a:r>
          </a:p>
          <a:p>
            <a:pPr marL="0" indent="0" algn="l">
              <a:lnSpc>
                <a:spcPts val="2320"/>
              </a:lnSpc>
              <a:buNone/>
            </a:pPr>
            <a:endParaRPr lang="es-CO" sz="1600" dirty="0">
              <a:solidFill>
                <a:srgbClr val="1C2142"/>
              </a:solidFill>
              <a:latin typeface="Nunito Sans" pitchFamily="34" charset="0"/>
            </a:endParaRPr>
          </a:p>
          <a:p>
            <a:pPr marL="0" indent="0" algn="l">
              <a:lnSpc>
                <a:spcPts val="2320"/>
              </a:lnSpc>
              <a:buNone/>
            </a:pPr>
            <a:r>
              <a:rPr lang="es-CO" sz="1600" noProof="0" dirty="0">
                <a:solidFill>
                  <a:srgbClr val="1C2142"/>
                </a:solidFill>
                <a:latin typeface="Nunito Sans" pitchFamily="34" charset="0"/>
              </a:rPr>
              <a:t>Funcionalidades:</a:t>
            </a:r>
          </a:p>
          <a:p>
            <a:pPr marL="285750" indent="-285750" algn="l">
              <a:lnSpc>
                <a:spcPts val="2320"/>
              </a:lnSpc>
              <a:buFont typeface="Wingdings" panose="05000000000000000000" pitchFamily="2" charset="2"/>
              <a:buChar char="§"/>
            </a:pPr>
            <a:r>
              <a:rPr lang="es-CO" sz="1600" dirty="0">
                <a:solidFill>
                  <a:srgbClr val="1C2142"/>
                </a:solidFill>
                <a:latin typeface="Nunito Sans" pitchFamily="34" charset="0"/>
              </a:rPr>
              <a:t>Generar contraseñas aleatorias de cualquier tamaño.</a:t>
            </a:r>
          </a:p>
          <a:p>
            <a:pPr marL="285750" indent="-285750" algn="l">
              <a:lnSpc>
                <a:spcPts val="2320"/>
              </a:lnSpc>
              <a:buFont typeface="Wingdings" panose="05000000000000000000" pitchFamily="2" charset="2"/>
              <a:buChar char="§"/>
            </a:pPr>
            <a:r>
              <a:rPr lang="es-CO" sz="1600" dirty="0">
                <a:solidFill>
                  <a:srgbClr val="1C2142"/>
                </a:solidFill>
                <a:latin typeface="Nunito Sans" pitchFamily="34" charset="0"/>
              </a:rPr>
              <a:t>Rellenar los espacios en las páginas web donde requerimos usar una contraseña.</a:t>
            </a:r>
          </a:p>
          <a:p>
            <a:pPr marL="285750" indent="-285750" algn="l">
              <a:lnSpc>
                <a:spcPts val="2320"/>
              </a:lnSpc>
              <a:buFont typeface="Wingdings" panose="05000000000000000000" pitchFamily="2" charset="2"/>
              <a:buChar char="§"/>
            </a:pPr>
            <a:r>
              <a:rPr lang="es-CO" sz="1600" dirty="0">
                <a:solidFill>
                  <a:srgbClr val="1C2142"/>
                </a:solidFill>
                <a:latin typeface="Nunito Sans" pitchFamily="34" charset="0"/>
              </a:rPr>
              <a:t>Se accede al gestor una contraseña maestra.</a:t>
            </a:r>
          </a:p>
          <a:p>
            <a:pPr marL="285750" indent="-285750" algn="l">
              <a:lnSpc>
                <a:spcPts val="2320"/>
              </a:lnSpc>
              <a:buFont typeface="Wingdings" panose="05000000000000000000" pitchFamily="2" charset="2"/>
              <a:buChar char="§"/>
            </a:pPr>
            <a:endParaRPr lang="es-CO" sz="1600" noProof="0" dirty="0">
              <a:solidFill>
                <a:srgbClr val="1C2142"/>
              </a:solidFill>
              <a:latin typeface="Nunito Sans" pitchFamily="34" charset="0"/>
            </a:endParaRPr>
          </a:p>
          <a:p>
            <a:pPr marL="0" indent="0" algn="l">
              <a:lnSpc>
                <a:spcPts val="2320"/>
              </a:lnSpc>
              <a:buNone/>
            </a:pPr>
            <a:endParaRPr lang="es-CO" sz="1600" noProof="0" dirty="0">
              <a:solidFill>
                <a:srgbClr val="1C2142"/>
              </a:solidFill>
              <a:latin typeface="Nunito Sans" pitchFamily="34" charset="0"/>
            </a:endParaRPr>
          </a:p>
        </p:txBody>
      </p:sp>
      <p:sp>
        <p:nvSpPr>
          <p:cNvPr id="10" name="Text 8"/>
          <p:cNvSpPr/>
          <p:nvPr/>
        </p:nvSpPr>
        <p:spPr>
          <a:xfrm>
            <a:off x="6515100" y="3412383"/>
            <a:ext cx="4696079" cy="614561"/>
          </a:xfrm>
          <a:prstGeom prst="rect">
            <a:avLst/>
          </a:prstGeom>
          <a:noFill/>
          <a:ln/>
        </p:spPr>
        <p:txBody>
          <a:bodyPr wrap="square" lIns="0" tIns="0" rIns="0" bIns="0" rtlCol="0" anchor="t">
            <a:normAutofit/>
          </a:bodyPr>
          <a:lstStyle/>
          <a:p>
            <a:pPr marL="0" indent="0" algn="l">
              <a:lnSpc>
                <a:spcPts val="2320"/>
              </a:lnSpc>
              <a:buNone/>
            </a:pPr>
            <a:endParaRPr lang="es-CO" sz="1600" noProof="0" dirty="0"/>
          </a:p>
        </p:txBody>
      </p:sp>
      <p:pic>
        <p:nvPicPr>
          <p:cNvPr id="11" name="Image 0" descr="Key"/>
          <p:cNvPicPr>
            <a:picLocks noChangeAspect="1"/>
          </p:cNvPicPr>
          <p:nvPr/>
        </p:nvPicPr>
        <p:blipFill>
          <a:blip r:embed="rId3"/>
          <a:srcRect/>
          <a:stretch/>
        </p:blipFill>
        <p:spPr>
          <a:xfrm>
            <a:off x="8950326" y="2216340"/>
            <a:ext cx="304800" cy="304800"/>
          </a:xfrm>
          <a:prstGeom prst="rect">
            <a:avLst/>
          </a:prstGeom>
        </p:spPr>
      </p:pic>
      <p:pic>
        <p:nvPicPr>
          <p:cNvPr id="13" name="Image 1" descr="Pralogy"/>
          <p:cNvPicPr>
            <a:picLocks noChangeAspect="1"/>
          </p:cNvPicPr>
          <p:nvPr/>
        </p:nvPicPr>
        <p:blipFill>
          <a:blip r:embed="rId4"/>
          <a:srcRect l="-62" r="-62"/>
          <a:stretch/>
        </p:blipFill>
        <p:spPr>
          <a:xfrm>
            <a:off x="812800" y="6273800"/>
            <a:ext cx="1111250" cy="228600"/>
          </a:xfrm>
          <a:prstGeom prst="rect">
            <a:avLst/>
          </a:prstGeom>
        </p:spPr>
      </p:pic>
      <p:sp>
        <p:nvSpPr>
          <p:cNvPr id="14" name="Text 10"/>
          <p:cNvSpPr/>
          <p:nvPr/>
        </p:nvSpPr>
        <p:spPr>
          <a:xfrm>
            <a:off x="11145441" y="6281440"/>
            <a:ext cx="233759"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solidFill>
                  <a:srgbClr val="6B7085"/>
                </a:solidFill>
                <a:latin typeface="Nunito Sans" pitchFamily="34" charset="0"/>
                <a:ea typeface="Nunito Sans" pitchFamily="34" charset="-122"/>
                <a:cs typeface="Nunito Sans" pitchFamily="34" charset="-120"/>
              </a:rPr>
              <a:t>12</a:t>
            </a:r>
            <a:endParaRPr lang="es-CO" sz="1200" noProof="0" dirty="0"/>
          </a:p>
        </p:txBody>
      </p:sp>
      <p:pic>
        <p:nvPicPr>
          <p:cNvPr id="4" name="Picture 3" descr="Google Password Manager Icon &amp; Logo - SVG, PNG, WebP | Dashboard Icons &amp;  Logos">
            <a:extLst>
              <a:ext uri="{FF2B5EF4-FFF2-40B4-BE49-F238E27FC236}">
                <a16:creationId xmlns:a16="http://schemas.microsoft.com/office/drawing/2014/main" id="{A892F638-E474-49CC-8A60-3C68D9D52C66}"/>
              </a:ext>
            </a:extLst>
          </p:cNvPr>
          <p:cNvPicPr>
            <a:picLocks noChangeAspect="1"/>
          </p:cNvPicPr>
          <p:nvPr/>
        </p:nvPicPr>
        <p:blipFill>
          <a:blip r:embed="rId5"/>
          <a:stretch>
            <a:fillRect/>
          </a:stretch>
        </p:blipFill>
        <p:spPr>
          <a:xfrm>
            <a:off x="509402" y="4667645"/>
            <a:ext cx="1309802" cy="667947"/>
          </a:xfrm>
          <a:prstGeom prst="rect">
            <a:avLst/>
          </a:prstGeom>
        </p:spPr>
      </p:pic>
      <p:sp>
        <p:nvSpPr>
          <p:cNvPr id="8" name="TextBox 7">
            <a:extLst>
              <a:ext uri="{FF2B5EF4-FFF2-40B4-BE49-F238E27FC236}">
                <a16:creationId xmlns:a16="http://schemas.microsoft.com/office/drawing/2014/main" id="{CCAE20BD-A17B-7308-24AD-84F55A66221D}"/>
              </a:ext>
            </a:extLst>
          </p:cNvPr>
          <p:cNvSpPr txBox="1"/>
          <p:nvPr/>
        </p:nvSpPr>
        <p:spPr>
          <a:xfrm>
            <a:off x="713524" y="5854066"/>
            <a:ext cx="6771806" cy="253916"/>
          </a:xfrm>
          <a:prstGeom prst="rect">
            <a:avLst/>
          </a:prstGeom>
          <a:noFill/>
        </p:spPr>
        <p:txBody>
          <a:bodyPr wrap="square">
            <a:spAutoFit/>
          </a:bodyPr>
          <a:lstStyle/>
          <a:p>
            <a:r>
              <a:rPr lang="en-US" sz="1050" dirty="0">
                <a:solidFill>
                  <a:schemeClr val="bg2">
                    <a:lumMod val="75000"/>
                  </a:schemeClr>
                </a:solidFill>
              </a:rPr>
              <a:t>https://www.xataka.com/basics/16-mejores-gestores-contrasenas-para-proteger-recordar-todas-que-tengas</a:t>
            </a:r>
          </a:p>
        </p:txBody>
      </p:sp>
      <p:pic>
        <p:nvPicPr>
          <p:cNvPr id="15" name="Picture 14">
            <a:extLst>
              <a:ext uri="{FF2B5EF4-FFF2-40B4-BE49-F238E27FC236}">
                <a16:creationId xmlns:a16="http://schemas.microsoft.com/office/drawing/2014/main" id="{B9A45D70-209B-DA1B-2988-5004D2F2586A}"/>
              </a:ext>
            </a:extLst>
          </p:cNvPr>
          <p:cNvPicPr>
            <a:picLocks noChangeAspect="1"/>
          </p:cNvPicPr>
          <p:nvPr/>
        </p:nvPicPr>
        <p:blipFill>
          <a:blip r:embed="rId6"/>
          <a:stretch>
            <a:fillRect/>
          </a:stretch>
        </p:blipFill>
        <p:spPr>
          <a:xfrm>
            <a:off x="2108652" y="4493780"/>
            <a:ext cx="1043940" cy="1043940"/>
          </a:xfrm>
          <a:prstGeom prst="rect">
            <a:avLst/>
          </a:prstGeom>
        </p:spPr>
      </p:pic>
      <p:pic>
        <p:nvPicPr>
          <p:cNvPr id="17" name="Picture 16">
            <a:extLst>
              <a:ext uri="{FF2B5EF4-FFF2-40B4-BE49-F238E27FC236}">
                <a16:creationId xmlns:a16="http://schemas.microsoft.com/office/drawing/2014/main" id="{05237CFD-C430-F746-2503-650E419C48C6}"/>
              </a:ext>
            </a:extLst>
          </p:cNvPr>
          <p:cNvPicPr>
            <a:picLocks noChangeAspect="1"/>
          </p:cNvPicPr>
          <p:nvPr/>
        </p:nvPicPr>
        <p:blipFill>
          <a:blip r:embed="rId7"/>
          <a:stretch>
            <a:fillRect/>
          </a:stretch>
        </p:blipFill>
        <p:spPr>
          <a:xfrm>
            <a:off x="3442041" y="4436124"/>
            <a:ext cx="1178528" cy="1178528"/>
          </a:xfrm>
          <a:prstGeom prst="rect">
            <a:avLst/>
          </a:prstGeom>
        </p:spPr>
      </p:pic>
      <p:pic>
        <p:nvPicPr>
          <p:cNvPr id="19" name="Picture 18">
            <a:extLst>
              <a:ext uri="{FF2B5EF4-FFF2-40B4-BE49-F238E27FC236}">
                <a16:creationId xmlns:a16="http://schemas.microsoft.com/office/drawing/2014/main" id="{14244F60-A28C-CC74-FE00-D8E51F105A86}"/>
              </a:ext>
            </a:extLst>
          </p:cNvPr>
          <p:cNvPicPr>
            <a:picLocks noChangeAspect="1"/>
          </p:cNvPicPr>
          <p:nvPr/>
        </p:nvPicPr>
        <p:blipFill>
          <a:blip r:embed="rId8"/>
          <a:stretch>
            <a:fillRect/>
          </a:stretch>
        </p:blipFill>
        <p:spPr>
          <a:xfrm>
            <a:off x="4910273" y="4472513"/>
            <a:ext cx="1142139" cy="114213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995680"/>
            <a:ext cx="10883392" cy="274241"/>
          </a:xfrm>
          <a:prstGeom prst="rect">
            <a:avLst/>
          </a:prstGeom>
          <a:noFill/>
          <a:ln/>
        </p:spPr>
        <p:txBody>
          <a:bodyPr wrap="square" lIns="0" tIns="0" rIns="0" bIns="0" rtlCol="0" anchor="t">
            <a:normAutofit/>
          </a:bodyPr>
          <a:lstStyle/>
          <a:p>
            <a:pPr>
              <a:lnSpc>
                <a:spcPts val="1960"/>
              </a:lnSpc>
            </a:pPr>
            <a:r>
              <a:rPr lang="es-CO" sz="1400" b="1" kern="0" spc="150" dirty="0">
                <a:solidFill>
                  <a:srgbClr val="2F3EBF"/>
                </a:solidFill>
                <a:latin typeface="Nunito Sans" pitchFamily="34" charset="0"/>
                <a:ea typeface="Nunito Sans" pitchFamily="34" charset="-122"/>
                <a:cs typeface="Nunito Sans" pitchFamily="34" charset="-120"/>
              </a:rPr>
              <a:t>BLOQUE 02: TRES HÁBITOS ÚTILES.</a:t>
            </a:r>
            <a:endParaRPr lang="es-CO" sz="1400" dirty="0"/>
          </a:p>
        </p:txBody>
      </p:sp>
      <p:sp>
        <p:nvSpPr>
          <p:cNvPr id="3" name="Text 1"/>
          <p:cNvSpPr>
            <a:spLocks noGrp="1"/>
          </p:cNvSpPr>
          <p:nvPr>
            <p:ph type="title"/>
          </p:nvPr>
        </p:nvSpPr>
        <p:spPr>
          <a:xfrm>
            <a:off x="812800" y="1523921"/>
            <a:ext cx="10883392" cy="528241"/>
          </a:xfrm>
          <a:prstGeom prst="rect">
            <a:avLst/>
          </a:prstGeom>
          <a:noFill/>
          <a:ln/>
        </p:spPr>
        <p:txBody>
          <a:bodyPr wrap="square" lIns="0" tIns="0" rIns="0" bIns="0" rtlCol="0" anchor="t">
            <a:normAutofit/>
          </a:bodyPr>
          <a:lstStyle/>
          <a:p>
            <a:pPr marL="0" indent="0" algn="l">
              <a:lnSpc>
                <a:spcPts val="3960"/>
              </a:lnSpc>
              <a:buNone/>
            </a:pPr>
            <a:r>
              <a:rPr lang="es-CO" sz="3600" b="0" i="0" noProof="0" dirty="0">
                <a:solidFill>
                  <a:srgbClr val="1C2142"/>
                </a:solidFill>
                <a:latin typeface="Fraunces" pitchFamily="18" charset="0"/>
                <a:ea typeface="Fraunces" pitchFamily="18" charset="-122"/>
                <a:cs typeface="Fraunces" pitchFamily="18" charset="-120"/>
              </a:rPr>
              <a:t>Pausa y verifica por otro canal</a:t>
            </a:r>
            <a:endParaRPr lang="es-CO" sz="3600" noProof="0" dirty="0"/>
          </a:p>
        </p:txBody>
      </p:sp>
      <p:grpSp>
        <p:nvGrpSpPr>
          <p:cNvPr id="16" name="Group 15">
            <a:extLst>
              <a:ext uri="{FF2B5EF4-FFF2-40B4-BE49-F238E27FC236}">
                <a16:creationId xmlns:a16="http://schemas.microsoft.com/office/drawing/2014/main" id="{D06B2760-82B9-DC8D-B902-A4D1C372F99D}"/>
              </a:ext>
            </a:extLst>
          </p:cNvPr>
          <p:cNvGrpSpPr/>
          <p:nvPr/>
        </p:nvGrpSpPr>
        <p:grpSpPr>
          <a:xfrm>
            <a:off x="755078" y="2301486"/>
            <a:ext cx="5181600" cy="2608760"/>
            <a:chOff x="887539" y="2255731"/>
            <a:chExt cx="5181600" cy="2299594"/>
          </a:xfrm>
        </p:grpSpPr>
        <p:sp>
          <p:nvSpPr>
            <p:cNvPr id="4" name="Shape 2"/>
            <p:cNvSpPr/>
            <p:nvPr/>
          </p:nvSpPr>
          <p:spPr>
            <a:xfrm>
              <a:off x="887539" y="2255731"/>
              <a:ext cx="5181600" cy="2299594"/>
            </a:xfrm>
            <a:prstGeom prst="roundRect">
              <a:avLst>
                <a:gd name="adj" fmla="val 4678"/>
              </a:avLst>
            </a:prstGeom>
            <a:solidFill>
              <a:srgbClr val="FCFBF8"/>
            </a:solidFill>
            <a:ln w="12700">
              <a:solidFill>
                <a:srgbClr val="DDE0EA"/>
              </a:solidFill>
              <a:prstDash val="solid"/>
            </a:ln>
          </p:spPr>
          <p:txBody>
            <a:bodyPr/>
            <a:lstStyle/>
            <a:p>
              <a:endParaRPr lang="es-CO" noProof="0" dirty="0"/>
            </a:p>
          </p:txBody>
        </p:sp>
        <p:sp>
          <p:nvSpPr>
            <p:cNvPr id="5" name="Text 3"/>
            <p:cNvSpPr/>
            <p:nvPr/>
          </p:nvSpPr>
          <p:spPr>
            <a:xfrm>
              <a:off x="1130300" y="2440781"/>
              <a:ext cx="4696079" cy="256480"/>
            </a:xfrm>
            <a:prstGeom prst="rect">
              <a:avLst/>
            </a:prstGeom>
            <a:noFill/>
            <a:ln/>
          </p:spPr>
          <p:txBody>
            <a:bodyPr wrap="square" lIns="0" tIns="0" rIns="0" bIns="0" rtlCol="0" anchor="t">
              <a:normAutofit/>
            </a:bodyPr>
            <a:lstStyle/>
            <a:p>
              <a:pPr marL="0" indent="0" algn="l">
                <a:lnSpc>
                  <a:spcPts val="1820"/>
                </a:lnSpc>
                <a:buNone/>
              </a:pPr>
              <a:endParaRPr lang="es-CO" sz="1300" noProof="0" dirty="0"/>
            </a:p>
          </p:txBody>
        </p:sp>
        <p:sp>
          <p:nvSpPr>
            <p:cNvPr id="6" name="Text 4"/>
            <p:cNvSpPr/>
            <p:nvPr/>
          </p:nvSpPr>
          <p:spPr>
            <a:xfrm>
              <a:off x="1130300" y="2598946"/>
              <a:ext cx="4696079" cy="1233739"/>
            </a:xfrm>
            <a:prstGeom prst="rect">
              <a:avLst/>
            </a:prstGeom>
            <a:noFill/>
            <a:ln/>
          </p:spPr>
          <p:txBody>
            <a:bodyPr wrap="square" lIns="0" tIns="0" rIns="0" bIns="0" rtlCol="0" anchor="t">
              <a:normAutofit fontScale="92500"/>
            </a:bodyPr>
            <a:lstStyle/>
            <a:p>
              <a:pPr algn="just">
                <a:lnSpc>
                  <a:spcPts val="2560"/>
                </a:lnSpc>
                <a:buSzPct val="100000"/>
              </a:pPr>
              <a:r>
                <a:rPr lang="es-CO" noProof="0" dirty="0">
                  <a:solidFill>
                    <a:schemeClr val="bg2">
                      <a:lumMod val="10000"/>
                    </a:schemeClr>
                  </a:solidFill>
                  <a:latin typeface="Nunito Sans" pitchFamily="34" charset="0"/>
                  <a:ea typeface="Nunito Sans" pitchFamily="34" charset="-122"/>
                  <a:cs typeface="Nunito Sans" pitchFamily="34" charset="-120"/>
                </a:rPr>
                <a:t>Si la petición involucra una transferencia de dinero, enviar archivos de empleados o clientes o divulgar información que consideras valiosa, pausa y verifica con la persona.</a:t>
              </a:r>
              <a:endParaRPr lang="es-CO" noProof="0" dirty="0">
                <a:solidFill>
                  <a:schemeClr val="bg2">
                    <a:lumMod val="10000"/>
                  </a:schemeClr>
                </a:solidFill>
              </a:endParaRPr>
            </a:p>
          </p:txBody>
        </p:sp>
        <p:sp>
          <p:nvSpPr>
            <p:cNvPr id="7" name="Text 5"/>
            <p:cNvSpPr/>
            <p:nvPr/>
          </p:nvSpPr>
          <p:spPr>
            <a:xfrm>
              <a:off x="1258316" y="4096702"/>
              <a:ext cx="4696079" cy="283170"/>
            </a:xfrm>
            <a:prstGeom prst="rect">
              <a:avLst/>
            </a:prstGeom>
            <a:noFill/>
            <a:ln/>
          </p:spPr>
          <p:txBody>
            <a:bodyPr wrap="square" lIns="0" tIns="0" rIns="0" bIns="0" rtlCol="0" anchor="t">
              <a:normAutofit/>
            </a:bodyPr>
            <a:lstStyle/>
            <a:p>
              <a:pPr marL="0" indent="0" algn="l">
                <a:lnSpc>
                  <a:spcPts val="2030"/>
                </a:lnSpc>
                <a:buNone/>
              </a:pPr>
              <a:r>
                <a:rPr lang="es-CO" sz="1400" noProof="0" dirty="0">
                  <a:solidFill>
                    <a:srgbClr val="6B7085"/>
                  </a:solidFill>
                  <a:latin typeface="Nunito Sans" pitchFamily="34" charset="0"/>
                  <a:ea typeface="Nunito Sans" pitchFamily="34" charset="-122"/>
                  <a:cs typeface="Nunito Sans" pitchFamily="34" charset="-120"/>
                </a:rPr>
                <a:t>Aunque parezca venir del jefe o de un cliente conocido.</a:t>
              </a:r>
              <a:endParaRPr lang="es-CO" sz="1400" noProof="0" dirty="0"/>
            </a:p>
          </p:txBody>
        </p:sp>
      </p:grpSp>
      <p:grpSp>
        <p:nvGrpSpPr>
          <p:cNvPr id="17" name="Group 16">
            <a:extLst>
              <a:ext uri="{FF2B5EF4-FFF2-40B4-BE49-F238E27FC236}">
                <a16:creationId xmlns:a16="http://schemas.microsoft.com/office/drawing/2014/main" id="{EE783F28-D70E-C5AF-4FA1-99E17C27172C}"/>
              </a:ext>
            </a:extLst>
          </p:cNvPr>
          <p:cNvGrpSpPr/>
          <p:nvPr/>
        </p:nvGrpSpPr>
        <p:grpSpPr>
          <a:xfrm>
            <a:off x="6228461" y="2301486"/>
            <a:ext cx="5168900" cy="2608760"/>
            <a:chOff x="6210300" y="2123282"/>
            <a:chExt cx="5168900" cy="2608760"/>
          </a:xfrm>
        </p:grpSpPr>
        <p:sp>
          <p:nvSpPr>
            <p:cNvPr id="8" name="Shape 6"/>
            <p:cNvSpPr/>
            <p:nvPr/>
          </p:nvSpPr>
          <p:spPr>
            <a:xfrm>
              <a:off x="6210300" y="2123282"/>
              <a:ext cx="5168900" cy="2608760"/>
            </a:xfrm>
            <a:prstGeom prst="roundRect">
              <a:avLst>
                <a:gd name="adj" fmla="val 4862"/>
              </a:avLst>
            </a:prstGeom>
            <a:solidFill>
              <a:srgbClr val="E9ECF4"/>
            </a:solidFill>
            <a:ln/>
          </p:spPr>
          <p:txBody>
            <a:bodyPr/>
            <a:lstStyle/>
            <a:p>
              <a:endParaRPr lang="es-CO" noProof="0" dirty="0"/>
            </a:p>
          </p:txBody>
        </p:sp>
        <p:sp>
          <p:nvSpPr>
            <p:cNvPr id="9" name="Text 7"/>
            <p:cNvSpPr/>
            <p:nvPr/>
          </p:nvSpPr>
          <p:spPr>
            <a:xfrm>
              <a:off x="6515100" y="2428081"/>
              <a:ext cx="4696079" cy="256480"/>
            </a:xfrm>
            <a:prstGeom prst="rect">
              <a:avLst/>
            </a:prstGeom>
            <a:noFill/>
            <a:ln/>
          </p:spPr>
          <p:txBody>
            <a:bodyPr wrap="square" lIns="0" tIns="0" rIns="0" bIns="0" rtlCol="0" anchor="t">
              <a:normAutofit/>
            </a:bodyPr>
            <a:lstStyle/>
            <a:p>
              <a:pPr marL="0" indent="0" algn="l">
                <a:lnSpc>
                  <a:spcPts val="1820"/>
                </a:lnSpc>
                <a:buNone/>
              </a:pPr>
              <a:r>
                <a:rPr lang="es-CO" sz="1300" b="1" kern="0" spc="100" noProof="0" dirty="0">
                  <a:solidFill>
                    <a:srgbClr val="2F3EBF"/>
                  </a:solidFill>
                  <a:latin typeface="Nunito Sans" pitchFamily="34" charset="0"/>
                  <a:ea typeface="Nunito Sans" pitchFamily="34" charset="-122"/>
                  <a:cs typeface="Nunito Sans" pitchFamily="34" charset="-120"/>
                </a:rPr>
                <a:t>PARA VERIFICAR:</a:t>
              </a:r>
              <a:endParaRPr lang="es-CO" sz="1300" noProof="0" dirty="0"/>
            </a:p>
          </p:txBody>
        </p:sp>
        <p:sp>
          <p:nvSpPr>
            <p:cNvPr id="10" name="Text 8"/>
            <p:cNvSpPr/>
            <p:nvPr/>
          </p:nvSpPr>
          <p:spPr>
            <a:xfrm>
              <a:off x="6553708" y="2786162"/>
              <a:ext cx="4650613" cy="1000522"/>
            </a:xfrm>
            <a:prstGeom prst="rect">
              <a:avLst/>
            </a:prstGeom>
            <a:noFill/>
            <a:ln/>
          </p:spPr>
          <p:txBody>
            <a:bodyPr wrap="square" lIns="0" tIns="0" rIns="0" bIns="0" rtlCol="0" anchor="t">
              <a:normAutofit/>
            </a:bodyPr>
            <a:lstStyle/>
            <a:p>
              <a:pPr marL="189992" indent="-189992" algn="l">
                <a:lnSpc>
                  <a:spcPts val="2560"/>
                </a:lnSpc>
                <a:buSzPct val="100000"/>
                <a:buChar char="•"/>
              </a:pPr>
              <a:r>
                <a:rPr lang="es-CO" noProof="0" dirty="0">
                  <a:solidFill>
                    <a:srgbClr val="1C2142"/>
                  </a:solidFill>
                  <a:latin typeface="Nunito Sans" pitchFamily="34" charset="0"/>
                  <a:ea typeface="Nunito Sans" pitchFamily="34" charset="-122"/>
                  <a:cs typeface="Nunito Sans" pitchFamily="34" charset="-120"/>
                </a:rPr>
                <a:t>Camina hasta su escritorio.</a:t>
              </a:r>
              <a:endParaRPr lang="es-CO" noProof="0" dirty="0"/>
            </a:p>
            <a:p>
              <a:pPr marL="189992" indent="-189992" algn="l">
                <a:lnSpc>
                  <a:spcPts val="2560"/>
                </a:lnSpc>
                <a:buSzPct val="100000"/>
                <a:buChar char="•"/>
              </a:pPr>
              <a:r>
                <a:rPr lang="es-CO" noProof="0" dirty="0">
                  <a:solidFill>
                    <a:srgbClr val="1C2142"/>
                  </a:solidFill>
                  <a:latin typeface="Nunito Sans" pitchFamily="34" charset="0"/>
                  <a:ea typeface="Nunito Sans" pitchFamily="34" charset="-122"/>
                  <a:cs typeface="Nunito Sans" pitchFamily="34" charset="-120"/>
                </a:rPr>
                <a:t>Llámalo su número personal.</a:t>
              </a:r>
              <a:endParaRPr lang="es-CO" noProof="0" dirty="0"/>
            </a:p>
            <a:p>
              <a:pPr marL="189992" indent="-189992" algn="l">
                <a:lnSpc>
                  <a:spcPts val="2560"/>
                </a:lnSpc>
                <a:buSzPct val="100000"/>
                <a:buChar char="•"/>
              </a:pPr>
              <a:r>
                <a:rPr lang="es-CO" noProof="0" dirty="0">
                  <a:solidFill>
                    <a:srgbClr val="1C2142"/>
                  </a:solidFill>
                  <a:latin typeface="Nunito Sans" pitchFamily="34" charset="0"/>
                  <a:ea typeface="Nunito Sans" pitchFamily="34" charset="-122"/>
                  <a:cs typeface="Nunito Sans" pitchFamily="34" charset="-120"/>
                </a:rPr>
                <a:t>Escríbele al número comprobado.</a:t>
              </a:r>
              <a:endParaRPr lang="es-CO" noProof="0" dirty="0"/>
            </a:p>
          </p:txBody>
        </p:sp>
        <p:sp>
          <p:nvSpPr>
            <p:cNvPr id="11" name="Text 9"/>
            <p:cNvSpPr/>
            <p:nvPr/>
          </p:nvSpPr>
          <p:spPr>
            <a:xfrm>
              <a:off x="6515100" y="3888284"/>
              <a:ext cx="4696079" cy="540941"/>
            </a:xfrm>
            <a:prstGeom prst="rect">
              <a:avLst/>
            </a:prstGeom>
            <a:noFill/>
            <a:ln/>
          </p:spPr>
          <p:txBody>
            <a:bodyPr wrap="square" lIns="0" tIns="0" rIns="0" bIns="0" rtlCol="0" anchor="t">
              <a:normAutofit/>
            </a:bodyPr>
            <a:lstStyle/>
            <a:p>
              <a:pPr marL="0" indent="0" algn="l">
                <a:lnSpc>
                  <a:spcPts val="2030"/>
                </a:lnSpc>
                <a:buNone/>
              </a:pPr>
              <a:r>
                <a:rPr lang="es-CO" sz="1400" noProof="0" dirty="0">
                  <a:solidFill>
                    <a:srgbClr val="4A5070"/>
                  </a:solidFill>
                  <a:latin typeface="Nunito Sans" pitchFamily="34" charset="0"/>
                  <a:ea typeface="Nunito Sans" pitchFamily="34" charset="-122"/>
                  <a:cs typeface="Nunito Sans" pitchFamily="34" charset="-120"/>
                </a:rPr>
                <a:t>Nunca respondas por el mismo canal por el que llegó la solicitud.</a:t>
              </a:r>
              <a:endParaRPr lang="es-CO" sz="1400" noProof="0" dirty="0"/>
            </a:p>
          </p:txBody>
        </p:sp>
      </p:grpSp>
      <p:pic>
        <p:nvPicPr>
          <p:cNvPr id="12" name="Image 0" descr="Trust"/>
          <p:cNvPicPr>
            <a:picLocks noChangeAspect="1"/>
          </p:cNvPicPr>
          <p:nvPr/>
        </p:nvPicPr>
        <p:blipFill>
          <a:blip r:embed="rId3"/>
          <a:srcRect/>
          <a:stretch/>
        </p:blipFill>
        <p:spPr>
          <a:xfrm>
            <a:off x="499150" y="5288955"/>
            <a:ext cx="304800" cy="304800"/>
          </a:xfrm>
          <a:prstGeom prst="rect">
            <a:avLst/>
          </a:prstGeom>
        </p:spPr>
      </p:pic>
      <p:sp>
        <p:nvSpPr>
          <p:cNvPr id="13" name="Text 10"/>
          <p:cNvSpPr/>
          <p:nvPr/>
        </p:nvSpPr>
        <p:spPr>
          <a:xfrm>
            <a:off x="847511" y="5299075"/>
            <a:ext cx="5452705" cy="309860"/>
          </a:xfrm>
          <a:prstGeom prst="rect">
            <a:avLst/>
          </a:prstGeom>
          <a:noFill/>
          <a:ln/>
        </p:spPr>
        <p:txBody>
          <a:bodyPr wrap="square" lIns="0" tIns="0" rIns="0" bIns="0" rtlCol="0" anchor="t">
            <a:normAutofit/>
          </a:bodyPr>
          <a:lstStyle/>
          <a:p>
            <a:pPr marL="0" indent="0" algn="l">
              <a:lnSpc>
                <a:spcPts val="2240"/>
              </a:lnSpc>
              <a:buNone/>
            </a:pPr>
            <a:r>
              <a:rPr lang="es-CO" sz="1600" noProof="0" dirty="0">
                <a:solidFill>
                  <a:srgbClr val="1C2142"/>
                </a:solidFill>
                <a:latin typeface="Nunito Sans" pitchFamily="34" charset="0"/>
                <a:ea typeface="Nunito Sans" pitchFamily="34" charset="-122"/>
                <a:cs typeface="Nunito Sans" pitchFamily="34" charset="-120"/>
              </a:rPr>
              <a:t>No adivines si el mensaje es real, mejor sigue el proceso.</a:t>
            </a:r>
            <a:endParaRPr lang="es-CO" sz="1600" noProof="0" dirty="0"/>
          </a:p>
        </p:txBody>
      </p:sp>
      <p:pic>
        <p:nvPicPr>
          <p:cNvPr id="14" name="Image 1" descr="Pralogy"/>
          <p:cNvPicPr>
            <a:picLocks noChangeAspect="1"/>
          </p:cNvPicPr>
          <p:nvPr/>
        </p:nvPicPr>
        <p:blipFill>
          <a:blip r:embed="rId4"/>
          <a:srcRect l="-62" r="-62"/>
          <a:stretch/>
        </p:blipFill>
        <p:spPr>
          <a:xfrm>
            <a:off x="812800" y="6273800"/>
            <a:ext cx="1111250" cy="228600"/>
          </a:xfrm>
          <a:prstGeom prst="rect">
            <a:avLst/>
          </a:prstGeom>
        </p:spPr>
      </p:pic>
      <p:sp>
        <p:nvSpPr>
          <p:cNvPr id="15" name="Text 11"/>
          <p:cNvSpPr/>
          <p:nvPr/>
        </p:nvSpPr>
        <p:spPr>
          <a:xfrm>
            <a:off x="11145441" y="6281440"/>
            <a:ext cx="233759"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solidFill>
                  <a:srgbClr val="6B7085"/>
                </a:solidFill>
                <a:latin typeface="Nunito Sans" pitchFamily="34" charset="0"/>
                <a:ea typeface="Nunito Sans" pitchFamily="34" charset="-122"/>
                <a:cs typeface="Nunito Sans" pitchFamily="34" charset="-120"/>
              </a:rPr>
              <a:t>13</a:t>
            </a:r>
            <a:endParaRPr lang="es-CO" sz="1200" noProof="0" dirty="0"/>
          </a:p>
        </p:txBody>
      </p:sp>
      <p:pic>
        <p:nvPicPr>
          <p:cNvPr id="19" name="Picture 18">
            <a:extLst>
              <a:ext uri="{FF2B5EF4-FFF2-40B4-BE49-F238E27FC236}">
                <a16:creationId xmlns:a16="http://schemas.microsoft.com/office/drawing/2014/main" id="{73021D24-6B6D-09A5-F0BE-D9C80AF619D8}"/>
              </a:ext>
            </a:extLst>
          </p:cNvPr>
          <p:cNvPicPr>
            <a:picLocks noChangeAspect="1"/>
          </p:cNvPicPr>
          <p:nvPr/>
        </p:nvPicPr>
        <p:blipFill>
          <a:blip r:embed="rId5"/>
          <a:stretch>
            <a:fillRect/>
          </a:stretch>
        </p:blipFill>
        <p:spPr>
          <a:xfrm>
            <a:off x="10269728" y="2473644"/>
            <a:ext cx="1426464" cy="1426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nSpc>
                <a:spcPts val="1960"/>
              </a:lnSpc>
            </a:pPr>
            <a:r>
              <a:rPr lang="es-CO" sz="1400" b="1" kern="0" spc="150" dirty="0">
                <a:solidFill>
                  <a:srgbClr val="2F3EBF"/>
                </a:solidFill>
                <a:latin typeface="Nunito Sans" pitchFamily="34" charset="0"/>
                <a:ea typeface="Nunito Sans" pitchFamily="34" charset="-122"/>
                <a:cs typeface="Nunito Sans" pitchFamily="34" charset="-120"/>
              </a:rPr>
              <a:t>BLOQUE 02: TRES HÁBITOS ÚTILES.</a:t>
            </a:r>
            <a:endParaRPr lang="es-CO" sz="1400" dirty="0"/>
          </a:p>
        </p:txBody>
      </p:sp>
      <p:sp>
        <p:nvSpPr>
          <p:cNvPr id="3" name="Text 1"/>
          <p:cNvSpPr>
            <a:spLocks noGrp="1"/>
          </p:cNvSpPr>
          <p:nvPr>
            <p:ph type="title"/>
          </p:nvPr>
        </p:nvSpPr>
        <p:spPr>
          <a:xfrm>
            <a:off x="812800" y="1341041"/>
            <a:ext cx="10883392" cy="528241"/>
          </a:xfrm>
          <a:prstGeom prst="rect">
            <a:avLst/>
          </a:prstGeom>
          <a:noFill/>
          <a:ln/>
        </p:spPr>
        <p:txBody>
          <a:bodyPr wrap="square" lIns="0" tIns="0" rIns="0" bIns="0" rtlCol="0" anchor="t">
            <a:normAutofit/>
          </a:bodyPr>
          <a:lstStyle/>
          <a:p>
            <a:pPr marL="0" indent="0" algn="l">
              <a:lnSpc>
                <a:spcPts val="3960"/>
              </a:lnSpc>
              <a:buNone/>
            </a:pPr>
            <a:r>
              <a:rPr lang="es-CO" sz="3600" b="0" i="0" noProof="0" dirty="0">
                <a:solidFill>
                  <a:srgbClr val="1C2142"/>
                </a:solidFill>
                <a:latin typeface="Fraunces" pitchFamily="18" charset="0"/>
                <a:ea typeface="Fraunces" pitchFamily="18" charset="-122"/>
                <a:cs typeface="Fraunces" pitchFamily="18" charset="-120"/>
              </a:rPr>
              <a:t>Activa la verificación en dos pasos.</a:t>
            </a:r>
            <a:endParaRPr lang="es-CO" sz="3600" noProof="0" dirty="0"/>
          </a:p>
        </p:txBody>
      </p:sp>
      <p:sp>
        <p:nvSpPr>
          <p:cNvPr id="4" name="Shape 2"/>
          <p:cNvSpPr/>
          <p:nvPr/>
        </p:nvSpPr>
        <p:spPr>
          <a:xfrm>
            <a:off x="819150" y="2129631"/>
            <a:ext cx="3399334" cy="3124398"/>
          </a:xfrm>
          <a:prstGeom prst="roundRect">
            <a:avLst>
              <a:gd name="adj" fmla="val 4675"/>
            </a:avLst>
          </a:prstGeom>
          <a:solidFill>
            <a:srgbClr val="FCFBF8"/>
          </a:solidFill>
          <a:ln w="12700">
            <a:solidFill>
              <a:srgbClr val="DDE0EA"/>
            </a:solidFill>
            <a:prstDash val="solid"/>
          </a:ln>
        </p:spPr>
        <p:txBody>
          <a:bodyPr/>
          <a:lstStyle/>
          <a:p>
            <a:endParaRPr lang="es-CO" noProof="0" dirty="0"/>
          </a:p>
        </p:txBody>
      </p:sp>
      <p:pic>
        <p:nvPicPr>
          <p:cNvPr id="5" name="Image 0" descr="Celular"/>
          <p:cNvPicPr>
            <a:picLocks noChangeAspect="1"/>
          </p:cNvPicPr>
          <p:nvPr/>
        </p:nvPicPr>
        <p:blipFill>
          <a:blip r:embed="rId3"/>
          <a:srcRect/>
          <a:stretch/>
        </p:blipFill>
        <p:spPr>
          <a:xfrm>
            <a:off x="1130300" y="2440781"/>
            <a:ext cx="406400" cy="406400"/>
          </a:xfrm>
          <a:prstGeom prst="rect">
            <a:avLst/>
          </a:prstGeom>
        </p:spPr>
      </p:pic>
      <p:sp>
        <p:nvSpPr>
          <p:cNvPr id="6" name="Text 3"/>
          <p:cNvSpPr/>
          <p:nvPr/>
        </p:nvSpPr>
        <p:spPr>
          <a:xfrm>
            <a:off x="1130300" y="2999581"/>
            <a:ext cx="2860345" cy="635000"/>
          </a:xfrm>
          <a:prstGeom prst="rect">
            <a:avLst/>
          </a:prstGeom>
          <a:noFill/>
          <a:ln/>
        </p:spPr>
        <p:txBody>
          <a:bodyPr wrap="square" lIns="0" tIns="0" rIns="0" bIns="0" rtlCol="0" anchor="t">
            <a:normAutofit/>
          </a:bodyPr>
          <a:lstStyle/>
          <a:p>
            <a:pPr marL="0" indent="0" algn="l">
              <a:lnSpc>
                <a:spcPts val="2400"/>
              </a:lnSpc>
              <a:buNone/>
            </a:pPr>
            <a:r>
              <a:rPr lang="es-CO" sz="2000" b="1" noProof="0" dirty="0">
                <a:solidFill>
                  <a:srgbClr val="1C2142"/>
                </a:solidFill>
                <a:latin typeface="Nunito Sans" pitchFamily="34" charset="0"/>
                <a:ea typeface="Nunito Sans" pitchFamily="34" charset="-122"/>
                <a:cs typeface="Nunito Sans" pitchFamily="34" charset="-120"/>
              </a:rPr>
              <a:t>Qué es</a:t>
            </a:r>
            <a:endParaRPr lang="es-CO" sz="2000" noProof="0" dirty="0"/>
          </a:p>
        </p:txBody>
      </p:sp>
      <p:sp>
        <p:nvSpPr>
          <p:cNvPr id="7" name="Text 4"/>
          <p:cNvSpPr/>
          <p:nvPr/>
        </p:nvSpPr>
        <p:spPr>
          <a:xfrm>
            <a:off x="1130300" y="3761581"/>
            <a:ext cx="2860345" cy="1130300"/>
          </a:xfrm>
          <a:prstGeom prst="rect">
            <a:avLst/>
          </a:prstGeom>
          <a:noFill/>
          <a:ln/>
        </p:spPr>
        <p:txBody>
          <a:bodyPr wrap="square" lIns="0" tIns="0" rIns="0" bIns="0" rtlCol="0" anchor="t">
            <a:noAutofit/>
          </a:bodyPr>
          <a:lstStyle/>
          <a:p>
            <a:pPr marL="0" indent="0" algn="l">
              <a:lnSpc>
                <a:spcPts val="2175"/>
              </a:lnSpc>
              <a:buNone/>
            </a:pPr>
            <a:r>
              <a:rPr lang="es-CO" sz="1500" noProof="0" dirty="0">
                <a:solidFill>
                  <a:srgbClr val="4A5070"/>
                </a:solidFill>
                <a:latin typeface="Nunito Sans" pitchFamily="34" charset="0"/>
                <a:ea typeface="Nunito Sans" pitchFamily="34" charset="-122"/>
                <a:cs typeface="Nunito Sans" pitchFamily="34" charset="-120"/>
              </a:rPr>
              <a:t>Además de la contraseña, la cuenta te pide un código o una confirmación en tu celular.</a:t>
            </a:r>
            <a:endParaRPr lang="es-CO" sz="1500" noProof="0" dirty="0"/>
          </a:p>
        </p:txBody>
      </p:sp>
      <p:sp>
        <p:nvSpPr>
          <p:cNvPr id="8" name="Shape 5"/>
          <p:cNvSpPr/>
          <p:nvPr/>
        </p:nvSpPr>
        <p:spPr>
          <a:xfrm>
            <a:off x="4408984" y="2129631"/>
            <a:ext cx="3399433" cy="3124398"/>
          </a:xfrm>
          <a:prstGeom prst="roundRect">
            <a:avLst>
              <a:gd name="adj" fmla="val 4675"/>
            </a:avLst>
          </a:prstGeom>
          <a:solidFill>
            <a:srgbClr val="FCFBF8"/>
          </a:solidFill>
          <a:ln w="12700">
            <a:solidFill>
              <a:srgbClr val="DDE0EA"/>
            </a:solidFill>
            <a:prstDash val="solid"/>
          </a:ln>
        </p:spPr>
        <p:txBody>
          <a:bodyPr/>
          <a:lstStyle/>
          <a:p>
            <a:endParaRPr lang="es-CO" noProof="0" dirty="0"/>
          </a:p>
        </p:txBody>
      </p:sp>
      <p:pic>
        <p:nvPicPr>
          <p:cNvPr id="9" name="Image 1" descr="Escudo"/>
          <p:cNvPicPr>
            <a:picLocks noChangeAspect="1"/>
          </p:cNvPicPr>
          <p:nvPr/>
        </p:nvPicPr>
        <p:blipFill>
          <a:blip r:embed="rId4"/>
          <a:srcRect/>
          <a:stretch/>
        </p:blipFill>
        <p:spPr>
          <a:xfrm>
            <a:off x="4720134" y="2440781"/>
            <a:ext cx="406400" cy="406400"/>
          </a:xfrm>
          <a:prstGeom prst="rect">
            <a:avLst/>
          </a:prstGeom>
        </p:spPr>
      </p:pic>
      <p:sp>
        <p:nvSpPr>
          <p:cNvPr id="10" name="Text 6"/>
          <p:cNvSpPr/>
          <p:nvPr/>
        </p:nvSpPr>
        <p:spPr>
          <a:xfrm>
            <a:off x="4720134" y="2999581"/>
            <a:ext cx="2860447" cy="635000"/>
          </a:xfrm>
          <a:prstGeom prst="rect">
            <a:avLst/>
          </a:prstGeom>
          <a:noFill/>
          <a:ln/>
        </p:spPr>
        <p:txBody>
          <a:bodyPr wrap="square" lIns="0" tIns="0" rIns="0" bIns="0" rtlCol="0" anchor="t">
            <a:normAutofit/>
          </a:bodyPr>
          <a:lstStyle/>
          <a:p>
            <a:pPr marL="0" indent="0" algn="l">
              <a:lnSpc>
                <a:spcPts val="2400"/>
              </a:lnSpc>
              <a:buNone/>
            </a:pPr>
            <a:r>
              <a:rPr lang="es-CO" sz="2000" b="1" noProof="0" dirty="0">
                <a:solidFill>
                  <a:srgbClr val="1C2142"/>
                </a:solidFill>
                <a:latin typeface="Nunito Sans" pitchFamily="34" charset="0"/>
                <a:ea typeface="Nunito Sans" pitchFamily="34" charset="-122"/>
                <a:cs typeface="Nunito Sans" pitchFamily="34" charset="-120"/>
              </a:rPr>
              <a:t>Por qué da tranquilidad</a:t>
            </a:r>
            <a:endParaRPr lang="es-CO" sz="2000" noProof="0" dirty="0"/>
          </a:p>
        </p:txBody>
      </p:sp>
      <p:sp>
        <p:nvSpPr>
          <p:cNvPr id="11" name="Text 7"/>
          <p:cNvSpPr/>
          <p:nvPr/>
        </p:nvSpPr>
        <p:spPr>
          <a:xfrm>
            <a:off x="4720134" y="3761581"/>
            <a:ext cx="2860447" cy="1130300"/>
          </a:xfrm>
          <a:prstGeom prst="rect">
            <a:avLst/>
          </a:prstGeom>
          <a:noFill/>
          <a:ln/>
        </p:spPr>
        <p:txBody>
          <a:bodyPr wrap="square" lIns="0" tIns="0" rIns="0" bIns="0" rtlCol="0" anchor="t">
            <a:noAutofit/>
          </a:bodyPr>
          <a:lstStyle/>
          <a:p>
            <a:pPr marL="0" indent="0" algn="l">
              <a:lnSpc>
                <a:spcPts val="2175"/>
              </a:lnSpc>
              <a:buNone/>
            </a:pPr>
            <a:r>
              <a:rPr lang="es-CO" sz="1500" noProof="0" dirty="0">
                <a:solidFill>
                  <a:srgbClr val="4A5070"/>
                </a:solidFill>
                <a:latin typeface="Nunito Sans" pitchFamily="34" charset="0"/>
                <a:ea typeface="Nunito Sans" pitchFamily="34" charset="-122"/>
                <a:cs typeface="Nunito Sans" pitchFamily="34" charset="-120"/>
              </a:rPr>
              <a:t>Si un día entregas tu contraseña por error, el atacante igual no puede entrar.</a:t>
            </a:r>
            <a:endParaRPr lang="es-CO" sz="1500" noProof="0" dirty="0"/>
          </a:p>
        </p:txBody>
      </p:sp>
      <p:sp>
        <p:nvSpPr>
          <p:cNvPr id="12" name="Shape 8"/>
          <p:cNvSpPr/>
          <p:nvPr/>
        </p:nvSpPr>
        <p:spPr>
          <a:xfrm>
            <a:off x="7992566" y="2129631"/>
            <a:ext cx="3386634" cy="3124398"/>
          </a:xfrm>
          <a:prstGeom prst="roundRect">
            <a:avLst>
              <a:gd name="adj" fmla="val 4858"/>
            </a:avLst>
          </a:prstGeom>
          <a:solidFill>
            <a:srgbClr val="E9ECF4"/>
          </a:solidFill>
          <a:ln/>
        </p:spPr>
        <p:txBody>
          <a:bodyPr/>
          <a:lstStyle/>
          <a:p>
            <a:endParaRPr lang="es-CO" noProof="0" dirty="0"/>
          </a:p>
        </p:txBody>
      </p:sp>
      <p:pic>
        <p:nvPicPr>
          <p:cNvPr id="13" name="Image 2" descr="Reloj"/>
          <p:cNvPicPr>
            <a:picLocks noChangeAspect="1"/>
          </p:cNvPicPr>
          <p:nvPr/>
        </p:nvPicPr>
        <p:blipFill>
          <a:blip r:embed="rId5"/>
          <a:srcRect/>
          <a:stretch/>
        </p:blipFill>
        <p:spPr>
          <a:xfrm>
            <a:off x="8297366" y="2440781"/>
            <a:ext cx="406400" cy="406400"/>
          </a:xfrm>
          <a:prstGeom prst="rect">
            <a:avLst/>
          </a:prstGeom>
        </p:spPr>
      </p:pic>
      <p:sp>
        <p:nvSpPr>
          <p:cNvPr id="14" name="Text 9"/>
          <p:cNvSpPr/>
          <p:nvPr/>
        </p:nvSpPr>
        <p:spPr>
          <a:xfrm>
            <a:off x="8297366" y="2999581"/>
            <a:ext cx="2860345" cy="635000"/>
          </a:xfrm>
          <a:prstGeom prst="rect">
            <a:avLst/>
          </a:prstGeom>
          <a:noFill/>
          <a:ln/>
        </p:spPr>
        <p:txBody>
          <a:bodyPr wrap="square" lIns="0" tIns="0" rIns="0" bIns="0" rtlCol="0" anchor="t">
            <a:normAutofit/>
          </a:bodyPr>
          <a:lstStyle/>
          <a:p>
            <a:pPr marL="0" indent="0" algn="l">
              <a:lnSpc>
                <a:spcPts val="2400"/>
              </a:lnSpc>
              <a:buNone/>
            </a:pPr>
            <a:r>
              <a:rPr lang="es-CO" sz="2000" b="1" noProof="0" dirty="0">
                <a:solidFill>
                  <a:srgbClr val="1C2142"/>
                </a:solidFill>
                <a:latin typeface="Nunito Sans" pitchFamily="34" charset="0"/>
                <a:ea typeface="Nunito Sans" pitchFamily="34" charset="-122"/>
                <a:cs typeface="Nunito Sans" pitchFamily="34" charset="-120"/>
              </a:rPr>
              <a:t>Cómo empezar</a:t>
            </a:r>
            <a:endParaRPr lang="es-CO" sz="2000" noProof="0" dirty="0"/>
          </a:p>
        </p:txBody>
      </p:sp>
      <p:sp>
        <p:nvSpPr>
          <p:cNvPr id="15" name="Text 10"/>
          <p:cNvSpPr/>
          <p:nvPr/>
        </p:nvSpPr>
        <p:spPr>
          <a:xfrm>
            <a:off x="8297366" y="3761581"/>
            <a:ext cx="2860345" cy="1130300"/>
          </a:xfrm>
          <a:prstGeom prst="rect">
            <a:avLst/>
          </a:prstGeom>
          <a:noFill/>
          <a:ln/>
        </p:spPr>
        <p:txBody>
          <a:bodyPr wrap="square" lIns="0" tIns="0" rIns="0" bIns="0" rtlCol="0" anchor="t">
            <a:noAutofit/>
          </a:bodyPr>
          <a:lstStyle/>
          <a:p>
            <a:pPr marL="0" indent="0" algn="l">
              <a:lnSpc>
                <a:spcPts val="2175"/>
              </a:lnSpc>
              <a:buNone/>
            </a:pPr>
            <a:r>
              <a:rPr lang="es-CO" sz="1500" noProof="0" dirty="0">
                <a:solidFill>
                  <a:srgbClr val="1C2142"/>
                </a:solidFill>
                <a:latin typeface="Nunito Sans" pitchFamily="34" charset="0"/>
                <a:ea typeface="Nunito Sans" pitchFamily="34" charset="-122"/>
                <a:cs typeface="Nunito Sans" pitchFamily="34" charset="-120"/>
              </a:rPr>
              <a:t>Actívala hoy en el correo, el banco y WhatsApp. Una vez y listo.</a:t>
            </a:r>
            <a:endParaRPr lang="es-CO" sz="1500" noProof="0" dirty="0"/>
          </a:p>
        </p:txBody>
      </p:sp>
      <p:sp>
        <p:nvSpPr>
          <p:cNvPr id="16" name="Text 11"/>
          <p:cNvSpPr/>
          <p:nvPr/>
        </p:nvSpPr>
        <p:spPr>
          <a:xfrm>
            <a:off x="812800" y="5539780"/>
            <a:ext cx="10883392" cy="327620"/>
          </a:xfrm>
          <a:prstGeom prst="rect">
            <a:avLst/>
          </a:prstGeom>
          <a:noFill/>
          <a:ln/>
        </p:spPr>
        <p:txBody>
          <a:bodyPr wrap="square" lIns="0" tIns="0" rIns="0" bIns="0" rtlCol="0" anchor="t">
            <a:noAutofit/>
          </a:bodyPr>
          <a:lstStyle/>
          <a:p>
            <a:pPr marL="0" indent="0" algn="l">
              <a:lnSpc>
                <a:spcPts val="2380"/>
              </a:lnSpc>
              <a:buNone/>
            </a:pPr>
            <a:r>
              <a:rPr lang="es-CO" sz="1600" b="1" noProof="0" dirty="0">
                <a:solidFill>
                  <a:srgbClr val="1C2142"/>
                </a:solidFill>
                <a:latin typeface="Nunito Sans" pitchFamily="34" charset="0"/>
                <a:ea typeface="Nunito Sans" pitchFamily="34" charset="-122"/>
                <a:cs typeface="Nunito Sans" pitchFamily="34" charset="-120"/>
              </a:rPr>
              <a:t>¿Te llega un código que no pediste?</a:t>
            </a:r>
            <a:r>
              <a:rPr lang="es-CO" sz="1600" noProof="0" dirty="0">
                <a:solidFill>
                  <a:srgbClr val="1C2142"/>
                </a:solidFill>
                <a:latin typeface="Nunito Sans" pitchFamily="34" charset="0"/>
                <a:ea typeface="Nunito Sans" pitchFamily="34" charset="-122"/>
                <a:cs typeface="Nunito Sans" pitchFamily="34" charset="-120"/>
              </a:rPr>
              <a:t xml:space="preserve"> No lo compartas: tu segundo paso acaba de protegerte.</a:t>
            </a:r>
            <a:endParaRPr lang="es-CO" sz="1700" noProof="0" dirty="0"/>
          </a:p>
        </p:txBody>
      </p:sp>
      <p:pic>
        <p:nvPicPr>
          <p:cNvPr id="17" name="Image 3" descr="Pralogy"/>
          <p:cNvPicPr>
            <a:picLocks noChangeAspect="1"/>
          </p:cNvPicPr>
          <p:nvPr/>
        </p:nvPicPr>
        <p:blipFill>
          <a:blip r:embed="rId6"/>
          <a:srcRect l="-62" r="-62"/>
          <a:stretch/>
        </p:blipFill>
        <p:spPr>
          <a:xfrm>
            <a:off x="812800" y="6273800"/>
            <a:ext cx="1111250" cy="228600"/>
          </a:xfrm>
          <a:prstGeom prst="rect">
            <a:avLst/>
          </a:prstGeom>
        </p:spPr>
      </p:pic>
      <p:sp>
        <p:nvSpPr>
          <p:cNvPr id="18" name="Text 12"/>
          <p:cNvSpPr/>
          <p:nvPr/>
        </p:nvSpPr>
        <p:spPr>
          <a:xfrm>
            <a:off x="11145441" y="6281440"/>
            <a:ext cx="233759"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solidFill>
                  <a:srgbClr val="6B7085"/>
                </a:solidFill>
                <a:latin typeface="Nunito Sans" pitchFamily="34" charset="0"/>
                <a:ea typeface="Nunito Sans" pitchFamily="34" charset="-122"/>
                <a:cs typeface="Nunito Sans" pitchFamily="34" charset="-120"/>
              </a:rPr>
              <a:t>14</a:t>
            </a:r>
            <a:endParaRPr lang="es-CO" sz="120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4">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s-CO" sz="1400" b="1" kern="0" spc="150" noProof="0" dirty="0">
                <a:solidFill>
                  <a:srgbClr val="2F3EBF"/>
                </a:solidFill>
                <a:latin typeface="Nunito Sans" pitchFamily="34" charset="0"/>
                <a:ea typeface="Nunito Sans" pitchFamily="34" charset="-122"/>
                <a:cs typeface="Nunito Sans" pitchFamily="34" charset="-120"/>
              </a:rPr>
              <a:t>UN EXTRA · LA IA EN TU ESCRITORIO</a:t>
            </a:r>
            <a:endParaRPr lang="es-CO" sz="1400" noProof="0" dirty="0"/>
          </a:p>
        </p:txBody>
      </p:sp>
      <p:sp>
        <p:nvSpPr>
          <p:cNvPr id="3" name="Text 1"/>
          <p:cNvSpPr>
            <a:spLocks noGrp="1"/>
          </p:cNvSpPr>
          <p:nvPr>
            <p:ph type="title"/>
          </p:nvPr>
        </p:nvSpPr>
        <p:spPr>
          <a:xfrm>
            <a:off x="812800" y="1341041"/>
            <a:ext cx="10883392" cy="528241"/>
          </a:xfrm>
          <a:prstGeom prst="rect">
            <a:avLst/>
          </a:prstGeom>
          <a:noFill/>
          <a:ln/>
        </p:spPr>
        <p:txBody>
          <a:bodyPr wrap="square" lIns="0" tIns="0" rIns="0" bIns="0" rtlCol="0" anchor="t">
            <a:normAutofit/>
          </a:bodyPr>
          <a:lstStyle/>
          <a:p>
            <a:pPr marL="0" indent="0" algn="l">
              <a:lnSpc>
                <a:spcPts val="3960"/>
              </a:lnSpc>
              <a:buNone/>
            </a:pPr>
            <a:r>
              <a:rPr lang="es-CO" sz="3600" b="0" i="0" noProof="0" dirty="0">
                <a:solidFill>
                  <a:srgbClr val="1C2142"/>
                </a:solidFill>
                <a:latin typeface="Fraunces" pitchFamily="18" charset="0"/>
                <a:ea typeface="Fraunces" pitchFamily="18" charset="-122"/>
                <a:cs typeface="Fraunces" pitchFamily="18" charset="-120"/>
              </a:rPr>
              <a:t>¿A dónde van tus datos cuando usas IA?</a:t>
            </a:r>
            <a:endParaRPr lang="es-CO" sz="3600" noProof="0" dirty="0"/>
          </a:p>
        </p:txBody>
      </p:sp>
      <p:sp>
        <p:nvSpPr>
          <p:cNvPr id="4" name="Shape 2"/>
          <p:cNvSpPr/>
          <p:nvPr/>
        </p:nvSpPr>
        <p:spPr>
          <a:xfrm>
            <a:off x="819150" y="2483743"/>
            <a:ext cx="3077567" cy="2416175"/>
          </a:xfrm>
          <a:prstGeom prst="roundRect">
            <a:avLst>
              <a:gd name="adj" fmla="val 6045"/>
            </a:avLst>
          </a:prstGeom>
          <a:solidFill>
            <a:srgbClr val="FCFBF8"/>
          </a:solidFill>
          <a:ln w="12700">
            <a:solidFill>
              <a:srgbClr val="DDE0EA"/>
            </a:solidFill>
            <a:prstDash val="solid"/>
          </a:ln>
        </p:spPr>
        <p:txBody>
          <a:bodyPr/>
          <a:lstStyle/>
          <a:p>
            <a:endParaRPr lang="es-CO" noProof="0" dirty="0"/>
          </a:p>
        </p:txBody>
      </p:sp>
      <p:sp>
        <p:nvSpPr>
          <p:cNvPr id="5" name="Text 3"/>
          <p:cNvSpPr/>
          <p:nvPr/>
        </p:nvSpPr>
        <p:spPr>
          <a:xfrm>
            <a:off x="1130300" y="2794893"/>
            <a:ext cx="2528925" cy="431800"/>
          </a:xfrm>
          <a:prstGeom prst="rect">
            <a:avLst/>
          </a:prstGeom>
          <a:noFill/>
          <a:ln/>
        </p:spPr>
        <p:txBody>
          <a:bodyPr wrap="square" lIns="0" tIns="0" rIns="0" bIns="0" rtlCol="0" anchor="t">
            <a:normAutofit/>
          </a:bodyPr>
          <a:lstStyle/>
          <a:p>
            <a:pPr marL="0" indent="0" algn="l">
              <a:lnSpc>
                <a:spcPts val="3200"/>
              </a:lnSpc>
              <a:buNone/>
            </a:pPr>
            <a:r>
              <a:rPr lang="es-CO" sz="3200" noProof="0" dirty="0">
                <a:solidFill>
                  <a:srgbClr val="2F3EBF"/>
                </a:solidFill>
                <a:latin typeface="Fraunces" pitchFamily="18" charset="0"/>
                <a:ea typeface="Fraunces" pitchFamily="18" charset="-122"/>
                <a:cs typeface="Fraunces" pitchFamily="18" charset="-120"/>
              </a:rPr>
              <a:t>1</a:t>
            </a:r>
            <a:endParaRPr lang="es-CO" sz="3200" noProof="0" dirty="0"/>
          </a:p>
        </p:txBody>
      </p:sp>
      <p:sp>
        <p:nvSpPr>
          <p:cNvPr id="6" name="Text 4"/>
          <p:cNvSpPr/>
          <p:nvPr/>
        </p:nvSpPr>
        <p:spPr>
          <a:xfrm>
            <a:off x="1130300" y="3328293"/>
            <a:ext cx="2528925" cy="330200"/>
          </a:xfrm>
          <a:prstGeom prst="rect">
            <a:avLst/>
          </a:prstGeom>
          <a:noFill/>
          <a:ln/>
        </p:spPr>
        <p:txBody>
          <a:bodyPr wrap="square" lIns="0" tIns="0" rIns="0" bIns="0" rtlCol="0" anchor="t">
            <a:normAutofit/>
          </a:bodyPr>
          <a:lstStyle/>
          <a:p>
            <a:pPr marL="0" indent="0" algn="l">
              <a:lnSpc>
                <a:spcPts val="2400"/>
              </a:lnSpc>
              <a:buNone/>
            </a:pPr>
            <a:r>
              <a:rPr lang="es-CO" sz="2000" b="1" noProof="0" dirty="0">
                <a:solidFill>
                  <a:srgbClr val="1C2142"/>
                </a:solidFill>
                <a:latin typeface="Nunito Sans" pitchFamily="34" charset="0"/>
                <a:ea typeface="Nunito Sans" pitchFamily="34" charset="-122"/>
                <a:cs typeface="Nunito Sans" pitchFamily="34" charset="-120"/>
              </a:rPr>
              <a:t>Escribes</a:t>
            </a:r>
            <a:endParaRPr lang="es-CO" sz="2000" noProof="0" dirty="0"/>
          </a:p>
        </p:txBody>
      </p:sp>
      <p:sp>
        <p:nvSpPr>
          <p:cNvPr id="7" name="Text 5"/>
          <p:cNvSpPr/>
          <p:nvPr/>
        </p:nvSpPr>
        <p:spPr>
          <a:xfrm>
            <a:off x="1130300" y="3760093"/>
            <a:ext cx="2528925" cy="854075"/>
          </a:xfrm>
          <a:prstGeom prst="rect">
            <a:avLst/>
          </a:prstGeom>
          <a:noFill/>
          <a:ln/>
        </p:spPr>
        <p:txBody>
          <a:bodyPr wrap="square" lIns="0" tIns="0" rIns="0" bIns="0" rtlCol="0" anchor="t">
            <a:noAutofit/>
          </a:bodyPr>
          <a:lstStyle/>
          <a:p>
            <a:pPr marL="0" indent="0" algn="l">
              <a:lnSpc>
                <a:spcPct val="120000"/>
              </a:lnSpc>
              <a:buNone/>
            </a:pPr>
            <a:r>
              <a:rPr lang="es-CO" sz="1600" noProof="0" dirty="0">
                <a:solidFill>
                  <a:srgbClr val="4A5070"/>
                </a:solidFill>
                <a:latin typeface="Nunito Sans" pitchFamily="34" charset="0"/>
                <a:ea typeface="Nunito Sans" pitchFamily="34" charset="-122"/>
                <a:cs typeface="Nunito Sans" pitchFamily="34" charset="-120"/>
              </a:rPr>
              <a:t>Lo que pegas en el chat sale de tu computador y de la empresa.</a:t>
            </a:r>
            <a:endParaRPr lang="es-CO" sz="1500" noProof="0" dirty="0"/>
          </a:p>
        </p:txBody>
      </p:sp>
      <p:pic>
        <p:nvPicPr>
          <p:cNvPr id="8" name="Image 0" descr="arrow-right"/>
          <p:cNvPicPr>
            <a:picLocks noChangeAspect="1"/>
          </p:cNvPicPr>
          <p:nvPr/>
        </p:nvPicPr>
        <p:blipFill>
          <a:blip r:embed="rId3"/>
          <a:srcRect/>
          <a:stretch/>
        </p:blipFill>
        <p:spPr>
          <a:xfrm>
            <a:off x="4055467" y="3590230"/>
            <a:ext cx="355600" cy="203200"/>
          </a:xfrm>
          <a:prstGeom prst="rect">
            <a:avLst/>
          </a:prstGeom>
        </p:spPr>
      </p:pic>
      <p:sp>
        <p:nvSpPr>
          <p:cNvPr id="9" name="Shape 6"/>
          <p:cNvSpPr/>
          <p:nvPr/>
        </p:nvSpPr>
        <p:spPr>
          <a:xfrm>
            <a:off x="4569817" y="2483743"/>
            <a:ext cx="3077567" cy="2416175"/>
          </a:xfrm>
          <a:prstGeom prst="roundRect">
            <a:avLst>
              <a:gd name="adj" fmla="val 6825"/>
            </a:avLst>
          </a:prstGeom>
          <a:solidFill>
            <a:srgbClr val="FCFBF8"/>
          </a:solidFill>
          <a:ln w="12700">
            <a:solidFill>
              <a:srgbClr val="DDE0EA"/>
            </a:solidFill>
            <a:prstDash val="solid"/>
          </a:ln>
        </p:spPr>
        <p:txBody>
          <a:bodyPr/>
          <a:lstStyle/>
          <a:p>
            <a:endParaRPr lang="es-CO" noProof="0" dirty="0"/>
          </a:p>
        </p:txBody>
      </p:sp>
      <p:sp>
        <p:nvSpPr>
          <p:cNvPr id="10" name="Text 7"/>
          <p:cNvSpPr/>
          <p:nvPr/>
        </p:nvSpPr>
        <p:spPr>
          <a:xfrm>
            <a:off x="4880967" y="2794893"/>
            <a:ext cx="2529027" cy="431800"/>
          </a:xfrm>
          <a:prstGeom prst="rect">
            <a:avLst/>
          </a:prstGeom>
          <a:noFill/>
          <a:ln/>
        </p:spPr>
        <p:txBody>
          <a:bodyPr wrap="square" lIns="0" tIns="0" rIns="0" bIns="0" rtlCol="0" anchor="t">
            <a:normAutofit/>
          </a:bodyPr>
          <a:lstStyle/>
          <a:p>
            <a:pPr marL="0" indent="0" algn="l">
              <a:lnSpc>
                <a:spcPts val="3200"/>
              </a:lnSpc>
              <a:buNone/>
            </a:pPr>
            <a:r>
              <a:rPr lang="es-CO" sz="3200" noProof="0" dirty="0">
                <a:solidFill>
                  <a:srgbClr val="2F3EBF"/>
                </a:solidFill>
                <a:latin typeface="Fraunces" pitchFamily="18" charset="0"/>
                <a:ea typeface="Fraunces" pitchFamily="18" charset="-122"/>
                <a:cs typeface="Fraunces" pitchFamily="18" charset="-120"/>
              </a:rPr>
              <a:t>2</a:t>
            </a:r>
            <a:endParaRPr lang="es-CO" sz="3200" noProof="0" dirty="0"/>
          </a:p>
        </p:txBody>
      </p:sp>
      <p:sp>
        <p:nvSpPr>
          <p:cNvPr id="11" name="Text 8"/>
          <p:cNvSpPr/>
          <p:nvPr/>
        </p:nvSpPr>
        <p:spPr>
          <a:xfrm>
            <a:off x="4880967" y="3328293"/>
            <a:ext cx="2529027" cy="330200"/>
          </a:xfrm>
          <a:prstGeom prst="rect">
            <a:avLst/>
          </a:prstGeom>
          <a:noFill/>
          <a:ln/>
        </p:spPr>
        <p:txBody>
          <a:bodyPr wrap="square" lIns="0" tIns="0" rIns="0" bIns="0" rtlCol="0" anchor="t">
            <a:normAutofit/>
          </a:bodyPr>
          <a:lstStyle/>
          <a:p>
            <a:pPr marL="0" indent="0" algn="l">
              <a:lnSpc>
                <a:spcPts val="2400"/>
              </a:lnSpc>
              <a:buNone/>
            </a:pPr>
            <a:r>
              <a:rPr lang="es-CO" sz="2000" b="1" noProof="0" dirty="0">
                <a:solidFill>
                  <a:srgbClr val="1C2142"/>
                </a:solidFill>
                <a:latin typeface="Nunito Sans" pitchFamily="34" charset="0"/>
                <a:ea typeface="Nunito Sans" pitchFamily="34" charset="-122"/>
                <a:cs typeface="Nunito Sans" pitchFamily="34" charset="-120"/>
              </a:rPr>
              <a:t>Viaja</a:t>
            </a:r>
            <a:endParaRPr lang="es-CO" sz="2000" noProof="0" dirty="0"/>
          </a:p>
        </p:txBody>
      </p:sp>
      <p:sp>
        <p:nvSpPr>
          <p:cNvPr id="12" name="Text 9"/>
          <p:cNvSpPr/>
          <p:nvPr/>
        </p:nvSpPr>
        <p:spPr>
          <a:xfrm>
            <a:off x="4880967" y="3760093"/>
            <a:ext cx="2529027" cy="854075"/>
          </a:xfrm>
          <a:prstGeom prst="rect">
            <a:avLst/>
          </a:prstGeom>
          <a:noFill/>
          <a:ln/>
        </p:spPr>
        <p:txBody>
          <a:bodyPr wrap="square" lIns="0" tIns="0" rIns="0" bIns="0" rtlCol="0" anchor="t">
            <a:noAutofit/>
          </a:bodyPr>
          <a:lstStyle/>
          <a:p>
            <a:pPr marL="0" indent="0" algn="l">
              <a:lnSpc>
                <a:spcPct val="120000"/>
              </a:lnSpc>
              <a:buNone/>
            </a:pPr>
            <a:r>
              <a:rPr lang="es-CO" sz="1600" noProof="0" dirty="0">
                <a:solidFill>
                  <a:srgbClr val="4A5070"/>
                </a:solidFill>
                <a:latin typeface="Nunito Sans" pitchFamily="34" charset="0"/>
                <a:ea typeface="Nunito Sans" pitchFamily="34" charset="-122"/>
                <a:cs typeface="Nunito Sans" pitchFamily="34" charset="-120"/>
              </a:rPr>
              <a:t>Llega a servidores del proveedor, casi siempre en otro país.</a:t>
            </a:r>
            <a:endParaRPr lang="es-CO" sz="1500" noProof="0" dirty="0"/>
          </a:p>
        </p:txBody>
      </p:sp>
      <p:pic>
        <p:nvPicPr>
          <p:cNvPr id="13" name="Image 1" descr="arrow-right"/>
          <p:cNvPicPr>
            <a:picLocks noChangeAspect="1"/>
          </p:cNvPicPr>
          <p:nvPr/>
        </p:nvPicPr>
        <p:blipFill>
          <a:blip r:embed="rId3"/>
          <a:srcRect/>
          <a:stretch/>
        </p:blipFill>
        <p:spPr>
          <a:xfrm>
            <a:off x="7806234" y="3590230"/>
            <a:ext cx="355600" cy="203200"/>
          </a:xfrm>
          <a:prstGeom prst="rect">
            <a:avLst/>
          </a:prstGeom>
        </p:spPr>
      </p:pic>
      <p:sp>
        <p:nvSpPr>
          <p:cNvPr id="14" name="Shape 10"/>
          <p:cNvSpPr/>
          <p:nvPr/>
        </p:nvSpPr>
        <p:spPr>
          <a:xfrm>
            <a:off x="8314234" y="2483743"/>
            <a:ext cx="3077567" cy="2416175"/>
          </a:xfrm>
          <a:prstGeom prst="roundRect">
            <a:avLst>
              <a:gd name="adj" fmla="val 7164"/>
            </a:avLst>
          </a:prstGeom>
          <a:solidFill>
            <a:srgbClr val="E9ECF4"/>
          </a:solidFill>
          <a:ln/>
        </p:spPr>
        <p:txBody>
          <a:bodyPr/>
          <a:lstStyle/>
          <a:p>
            <a:endParaRPr lang="es-CO" noProof="0" dirty="0"/>
          </a:p>
        </p:txBody>
      </p:sp>
      <p:sp>
        <p:nvSpPr>
          <p:cNvPr id="15" name="Text 11"/>
          <p:cNvSpPr/>
          <p:nvPr/>
        </p:nvSpPr>
        <p:spPr>
          <a:xfrm>
            <a:off x="8619034" y="2788543"/>
            <a:ext cx="2529027" cy="431800"/>
          </a:xfrm>
          <a:prstGeom prst="rect">
            <a:avLst/>
          </a:prstGeom>
          <a:noFill/>
          <a:ln/>
        </p:spPr>
        <p:txBody>
          <a:bodyPr wrap="square" lIns="0" tIns="0" rIns="0" bIns="0" rtlCol="0" anchor="t">
            <a:normAutofit/>
          </a:bodyPr>
          <a:lstStyle/>
          <a:p>
            <a:pPr marL="0" indent="0" algn="l">
              <a:lnSpc>
                <a:spcPts val="3200"/>
              </a:lnSpc>
              <a:buNone/>
            </a:pPr>
            <a:r>
              <a:rPr lang="es-CO" sz="3200" noProof="0" dirty="0">
                <a:solidFill>
                  <a:srgbClr val="2F3EBF"/>
                </a:solidFill>
                <a:latin typeface="Fraunces" pitchFamily="18" charset="0"/>
                <a:ea typeface="Fraunces" pitchFamily="18" charset="-122"/>
                <a:cs typeface="Fraunces" pitchFamily="18" charset="-120"/>
              </a:rPr>
              <a:t>3</a:t>
            </a:r>
            <a:endParaRPr lang="es-CO" sz="3200" noProof="0" dirty="0"/>
          </a:p>
        </p:txBody>
      </p:sp>
      <p:sp>
        <p:nvSpPr>
          <p:cNvPr id="16" name="Text 12"/>
          <p:cNvSpPr/>
          <p:nvPr/>
        </p:nvSpPr>
        <p:spPr>
          <a:xfrm>
            <a:off x="8619034" y="3321943"/>
            <a:ext cx="2529027" cy="330200"/>
          </a:xfrm>
          <a:prstGeom prst="rect">
            <a:avLst/>
          </a:prstGeom>
          <a:noFill/>
          <a:ln/>
        </p:spPr>
        <p:txBody>
          <a:bodyPr wrap="square" lIns="0" tIns="0" rIns="0" bIns="0" rtlCol="0" anchor="t">
            <a:normAutofit/>
          </a:bodyPr>
          <a:lstStyle/>
          <a:p>
            <a:pPr marL="0" indent="0" algn="l">
              <a:lnSpc>
                <a:spcPts val="2400"/>
              </a:lnSpc>
              <a:buNone/>
            </a:pPr>
            <a:r>
              <a:rPr lang="es-CO" sz="2000" b="1" noProof="0" dirty="0">
                <a:solidFill>
                  <a:srgbClr val="1C2142"/>
                </a:solidFill>
                <a:latin typeface="Nunito Sans" pitchFamily="34" charset="0"/>
                <a:ea typeface="Nunito Sans" pitchFamily="34" charset="-122"/>
                <a:cs typeface="Nunito Sans" pitchFamily="34" charset="-120"/>
              </a:rPr>
              <a:t>Se guarda</a:t>
            </a:r>
            <a:endParaRPr lang="es-CO" sz="2000" noProof="0" dirty="0"/>
          </a:p>
        </p:txBody>
      </p:sp>
      <p:sp>
        <p:nvSpPr>
          <p:cNvPr id="17" name="Text 13"/>
          <p:cNvSpPr/>
          <p:nvPr/>
        </p:nvSpPr>
        <p:spPr>
          <a:xfrm>
            <a:off x="8619034" y="3753743"/>
            <a:ext cx="2529027" cy="854075"/>
          </a:xfrm>
          <a:prstGeom prst="rect">
            <a:avLst/>
          </a:prstGeom>
          <a:noFill/>
          <a:ln/>
        </p:spPr>
        <p:txBody>
          <a:bodyPr wrap="square" lIns="0" tIns="0" rIns="0" bIns="0" rtlCol="0" anchor="t">
            <a:noAutofit/>
          </a:bodyPr>
          <a:lstStyle/>
          <a:p>
            <a:pPr marL="0" indent="0" algn="l">
              <a:lnSpc>
                <a:spcPct val="120000"/>
              </a:lnSpc>
              <a:buNone/>
            </a:pPr>
            <a:r>
              <a:rPr lang="es-CO" sz="1600" noProof="0" dirty="0">
                <a:solidFill>
                  <a:srgbClr val="1C2142"/>
                </a:solidFill>
                <a:latin typeface="Nunito Sans" pitchFamily="34" charset="0"/>
                <a:ea typeface="Nunito Sans" pitchFamily="34" charset="-122"/>
                <a:cs typeface="Nunito Sans" pitchFamily="34" charset="-120"/>
              </a:rPr>
              <a:t>Queda almacenado días o años, y a veces personas lo revisan.</a:t>
            </a:r>
            <a:endParaRPr lang="es-CO" sz="1500" noProof="0" dirty="0"/>
          </a:p>
        </p:txBody>
      </p:sp>
      <p:sp>
        <p:nvSpPr>
          <p:cNvPr id="18" name="Text 14"/>
          <p:cNvSpPr/>
          <p:nvPr/>
        </p:nvSpPr>
        <p:spPr>
          <a:xfrm>
            <a:off x="812800" y="5539780"/>
            <a:ext cx="10883392" cy="327620"/>
          </a:xfrm>
          <a:prstGeom prst="rect">
            <a:avLst/>
          </a:prstGeom>
          <a:noFill/>
          <a:ln/>
        </p:spPr>
        <p:txBody>
          <a:bodyPr wrap="square" lIns="0" tIns="0" rIns="0" bIns="0" rtlCol="0" anchor="t">
            <a:normAutofit/>
          </a:bodyPr>
          <a:lstStyle/>
          <a:p>
            <a:pPr marL="0" indent="0" algn="l">
              <a:lnSpc>
                <a:spcPts val="2380"/>
              </a:lnSpc>
              <a:buNone/>
            </a:pPr>
            <a:r>
              <a:rPr lang="es-CO" sz="1700" noProof="0" dirty="0">
                <a:solidFill>
                  <a:srgbClr val="4A5070"/>
                </a:solidFill>
                <a:latin typeface="Nunito Sans" pitchFamily="34" charset="0"/>
                <a:ea typeface="Nunito Sans" pitchFamily="34" charset="-122"/>
                <a:cs typeface="Nunito Sans" pitchFamily="34" charset="-120"/>
              </a:rPr>
              <a:t>Por eso: si tiene nombre y cédula, no lo pego en una IA sin aprobar.</a:t>
            </a:r>
            <a:endParaRPr lang="es-CO" sz="1700" noProof="0" dirty="0"/>
          </a:p>
        </p:txBody>
      </p:sp>
      <p:pic>
        <p:nvPicPr>
          <p:cNvPr id="19" name="Image 2" descr="Pralogy"/>
          <p:cNvPicPr>
            <a:picLocks noChangeAspect="1"/>
          </p:cNvPicPr>
          <p:nvPr/>
        </p:nvPicPr>
        <p:blipFill>
          <a:blip r:embed="rId4"/>
          <a:srcRect l="-62" r="-62"/>
          <a:stretch/>
        </p:blipFill>
        <p:spPr>
          <a:xfrm>
            <a:off x="812800" y="6273800"/>
            <a:ext cx="1111250" cy="228600"/>
          </a:xfrm>
          <a:prstGeom prst="rect">
            <a:avLst/>
          </a:prstGeom>
        </p:spPr>
      </p:pic>
      <p:sp>
        <p:nvSpPr>
          <p:cNvPr id="20" name="Text 15"/>
          <p:cNvSpPr/>
          <p:nvPr/>
        </p:nvSpPr>
        <p:spPr>
          <a:xfrm>
            <a:off x="11145441" y="6281440"/>
            <a:ext cx="233759"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solidFill>
                  <a:srgbClr val="6B7085"/>
                </a:solidFill>
                <a:latin typeface="Nunito Sans" pitchFamily="34" charset="0"/>
                <a:ea typeface="Nunito Sans" pitchFamily="34" charset="-122"/>
                <a:cs typeface="Nunito Sans" pitchFamily="34" charset="-120"/>
              </a:rPr>
              <a:t>20</a:t>
            </a:r>
            <a:endParaRPr lang="es-CO" sz="120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s-CO" sz="1400" b="1" kern="0" spc="150" noProof="0" dirty="0">
                <a:solidFill>
                  <a:srgbClr val="2F3EBF"/>
                </a:solidFill>
                <a:latin typeface="Nunito Sans" pitchFamily="34" charset="0"/>
                <a:ea typeface="Nunito Sans" pitchFamily="34" charset="-122"/>
                <a:cs typeface="Nunito Sans" pitchFamily="34" charset="-120"/>
              </a:rPr>
              <a:t>UN EXTRA · LA IA EN TU ESCRITORIO</a:t>
            </a:r>
            <a:endParaRPr lang="es-CO" sz="1400" noProof="0" dirty="0"/>
          </a:p>
        </p:txBody>
      </p:sp>
      <p:sp>
        <p:nvSpPr>
          <p:cNvPr id="3" name="Text 1"/>
          <p:cNvSpPr>
            <a:spLocks noGrp="1"/>
          </p:cNvSpPr>
          <p:nvPr>
            <p:ph type="title"/>
          </p:nvPr>
        </p:nvSpPr>
        <p:spPr>
          <a:xfrm>
            <a:off x="812800" y="1341041"/>
            <a:ext cx="10883392" cy="528241"/>
          </a:xfrm>
          <a:prstGeom prst="rect">
            <a:avLst/>
          </a:prstGeom>
          <a:noFill/>
          <a:ln/>
        </p:spPr>
        <p:txBody>
          <a:bodyPr wrap="square" lIns="0" tIns="0" rIns="0" bIns="0" rtlCol="0" anchor="t">
            <a:normAutofit/>
          </a:bodyPr>
          <a:lstStyle/>
          <a:p>
            <a:pPr marL="0" indent="0" algn="l">
              <a:lnSpc>
                <a:spcPts val="3960"/>
              </a:lnSpc>
              <a:buNone/>
            </a:pPr>
            <a:r>
              <a:rPr lang="es-CO" sz="3600" b="0" i="0" noProof="0" dirty="0">
                <a:solidFill>
                  <a:srgbClr val="1C2142"/>
                </a:solidFill>
                <a:latin typeface="Fraunces" pitchFamily="18" charset="0"/>
                <a:ea typeface="Fraunces" pitchFamily="18" charset="-122"/>
                <a:cs typeface="Fraunces" pitchFamily="18" charset="-120"/>
              </a:rPr>
              <a:t>Gratis no es lo mismo que empresarial</a:t>
            </a:r>
            <a:endParaRPr lang="es-CO" sz="3600" noProof="0" dirty="0"/>
          </a:p>
        </p:txBody>
      </p:sp>
      <p:sp>
        <p:nvSpPr>
          <p:cNvPr id="4" name="Shape 2"/>
          <p:cNvSpPr/>
          <p:nvPr/>
        </p:nvSpPr>
        <p:spPr>
          <a:xfrm>
            <a:off x="819150" y="2129631"/>
            <a:ext cx="5181600" cy="3121819"/>
          </a:xfrm>
          <a:prstGeom prst="roundRect">
            <a:avLst>
              <a:gd name="adj" fmla="val 4678"/>
            </a:avLst>
          </a:prstGeom>
          <a:solidFill>
            <a:srgbClr val="FCFBF8"/>
          </a:solidFill>
          <a:ln w="12700">
            <a:solidFill>
              <a:srgbClr val="DDE0EA"/>
            </a:solidFill>
            <a:prstDash val="solid"/>
          </a:ln>
        </p:spPr>
        <p:txBody>
          <a:bodyPr/>
          <a:lstStyle/>
          <a:p>
            <a:endParaRPr lang="es-CO" noProof="0" dirty="0"/>
          </a:p>
        </p:txBody>
      </p:sp>
      <p:sp>
        <p:nvSpPr>
          <p:cNvPr id="5" name="Text 3"/>
          <p:cNvSpPr/>
          <p:nvPr/>
        </p:nvSpPr>
        <p:spPr>
          <a:xfrm>
            <a:off x="1130300" y="2440781"/>
            <a:ext cx="4696079" cy="256480"/>
          </a:xfrm>
          <a:prstGeom prst="rect">
            <a:avLst/>
          </a:prstGeom>
          <a:noFill/>
          <a:ln/>
        </p:spPr>
        <p:txBody>
          <a:bodyPr wrap="square" lIns="0" tIns="0" rIns="0" bIns="0" rtlCol="0" anchor="t">
            <a:normAutofit/>
          </a:bodyPr>
          <a:lstStyle/>
          <a:p>
            <a:pPr marL="0" indent="0" algn="l">
              <a:lnSpc>
                <a:spcPts val="1820"/>
              </a:lnSpc>
              <a:buNone/>
            </a:pPr>
            <a:r>
              <a:rPr lang="es-CO" sz="1300" b="1" kern="0" spc="100" noProof="0" dirty="0">
                <a:solidFill>
                  <a:srgbClr val="6B7085"/>
                </a:solidFill>
                <a:latin typeface="Nunito Sans" pitchFamily="34" charset="0"/>
                <a:ea typeface="Nunito Sans" pitchFamily="34" charset="-122"/>
                <a:cs typeface="Nunito Sans" pitchFamily="34" charset="-120"/>
              </a:rPr>
              <a:t>CUENTA GRATIS O PERSONAL</a:t>
            </a:r>
            <a:endParaRPr lang="es-CO" sz="1300" noProof="0" dirty="0"/>
          </a:p>
        </p:txBody>
      </p:sp>
      <p:sp>
        <p:nvSpPr>
          <p:cNvPr id="6" name="Text 4"/>
          <p:cNvSpPr/>
          <p:nvPr/>
        </p:nvSpPr>
        <p:spPr>
          <a:xfrm>
            <a:off x="1168908" y="2798862"/>
            <a:ext cx="4650613" cy="1000522"/>
          </a:xfrm>
          <a:prstGeom prst="rect">
            <a:avLst/>
          </a:prstGeom>
          <a:noFill/>
          <a:ln/>
        </p:spPr>
        <p:txBody>
          <a:bodyPr wrap="square" lIns="0" tIns="0" rIns="0" bIns="0" rtlCol="0" anchor="t">
            <a:normAutofit/>
          </a:bodyPr>
          <a:lstStyle/>
          <a:p>
            <a:pPr marL="189992" indent="-189992" algn="l">
              <a:lnSpc>
                <a:spcPts val="2560"/>
              </a:lnSpc>
              <a:buSzPct val="100000"/>
              <a:buChar char="•"/>
            </a:pPr>
            <a:r>
              <a:rPr lang="es-CO" sz="1600" noProof="0" dirty="0">
                <a:solidFill>
                  <a:srgbClr val="4A5070"/>
                </a:solidFill>
                <a:latin typeface="Nunito Sans" pitchFamily="34" charset="0"/>
                <a:ea typeface="Nunito Sans" pitchFamily="34" charset="-122"/>
                <a:cs typeface="Nunito Sans" pitchFamily="34" charset="-120"/>
              </a:rPr>
              <a:t>Tus chats pueden usarse para entrenar la IA</a:t>
            </a:r>
            <a:endParaRPr lang="es-CO" sz="1600" noProof="0" dirty="0"/>
          </a:p>
          <a:p>
            <a:pPr marL="189992" indent="-189992" algn="l">
              <a:lnSpc>
                <a:spcPts val="2560"/>
              </a:lnSpc>
              <a:buSzPct val="100000"/>
              <a:buChar char="•"/>
            </a:pPr>
            <a:r>
              <a:rPr lang="es-CO" sz="1600" noProof="0" dirty="0">
                <a:solidFill>
                  <a:srgbClr val="4A5070"/>
                </a:solidFill>
                <a:latin typeface="Nunito Sans" pitchFamily="34" charset="0"/>
                <a:ea typeface="Nunito Sans" pitchFamily="34" charset="-122"/>
                <a:cs typeface="Nunito Sans" pitchFamily="34" charset="-120"/>
              </a:rPr>
              <a:t>Personas del proveedor pueden revisarlos</a:t>
            </a:r>
            <a:endParaRPr lang="es-CO" sz="1600" noProof="0" dirty="0"/>
          </a:p>
          <a:p>
            <a:pPr marL="189992" indent="-189992" algn="l">
              <a:lnSpc>
                <a:spcPts val="2560"/>
              </a:lnSpc>
              <a:buSzPct val="100000"/>
              <a:buChar char="•"/>
            </a:pPr>
            <a:r>
              <a:rPr lang="es-CO" sz="1600" noProof="0" dirty="0">
                <a:solidFill>
                  <a:srgbClr val="4A5070"/>
                </a:solidFill>
                <a:latin typeface="Nunito Sans" pitchFamily="34" charset="0"/>
                <a:ea typeface="Nunito Sans" pitchFamily="34" charset="-122"/>
                <a:cs typeface="Nunito Sans" pitchFamily="34" charset="-120"/>
              </a:rPr>
              <a:t>No hay contrato que proteja a la empresa</a:t>
            </a:r>
            <a:endParaRPr lang="es-CO" sz="1600" noProof="0" dirty="0"/>
          </a:p>
        </p:txBody>
      </p:sp>
      <p:sp>
        <p:nvSpPr>
          <p:cNvPr id="7" name="Text 5"/>
          <p:cNvSpPr/>
          <p:nvPr/>
        </p:nvSpPr>
        <p:spPr>
          <a:xfrm>
            <a:off x="1130300" y="3900984"/>
            <a:ext cx="4696079" cy="283170"/>
          </a:xfrm>
          <a:prstGeom prst="rect">
            <a:avLst/>
          </a:prstGeom>
          <a:noFill/>
          <a:ln/>
        </p:spPr>
        <p:txBody>
          <a:bodyPr wrap="square" lIns="0" tIns="0" rIns="0" bIns="0" rtlCol="0" anchor="t">
            <a:noAutofit/>
          </a:bodyPr>
          <a:lstStyle/>
          <a:p>
            <a:pPr marL="0" indent="0" algn="l">
              <a:lnSpc>
                <a:spcPct val="120000"/>
              </a:lnSpc>
              <a:buNone/>
            </a:pPr>
            <a:r>
              <a:rPr lang="es-CO" sz="1400" noProof="0" dirty="0">
                <a:solidFill>
                  <a:srgbClr val="6B7085"/>
                </a:solidFill>
                <a:latin typeface="Nunito Sans" pitchFamily="34" charset="0"/>
                <a:ea typeface="Nunito Sans" pitchFamily="34" charset="-122"/>
                <a:cs typeface="Nunito Sans" pitchFamily="34" charset="-120"/>
              </a:rPr>
              <a:t>Ojo: un plan personal de pago se comporta casi igual que el gratis.</a:t>
            </a:r>
            <a:endParaRPr lang="es-CO" sz="1400" noProof="0" dirty="0"/>
          </a:p>
        </p:txBody>
      </p:sp>
      <p:sp>
        <p:nvSpPr>
          <p:cNvPr id="8" name="Shape 6"/>
          <p:cNvSpPr/>
          <p:nvPr/>
        </p:nvSpPr>
        <p:spPr>
          <a:xfrm>
            <a:off x="6210300" y="2123281"/>
            <a:ext cx="5168900" cy="3134519"/>
          </a:xfrm>
          <a:prstGeom prst="roundRect">
            <a:avLst>
              <a:gd name="adj" fmla="val 4862"/>
            </a:avLst>
          </a:prstGeom>
          <a:solidFill>
            <a:srgbClr val="E9ECF4"/>
          </a:solidFill>
          <a:ln/>
        </p:spPr>
        <p:txBody>
          <a:bodyPr/>
          <a:lstStyle/>
          <a:p>
            <a:endParaRPr lang="es-CO" noProof="0" dirty="0"/>
          </a:p>
        </p:txBody>
      </p:sp>
      <p:sp>
        <p:nvSpPr>
          <p:cNvPr id="9" name="Text 7"/>
          <p:cNvSpPr/>
          <p:nvPr/>
        </p:nvSpPr>
        <p:spPr>
          <a:xfrm>
            <a:off x="6515100" y="2428081"/>
            <a:ext cx="4696079" cy="256480"/>
          </a:xfrm>
          <a:prstGeom prst="rect">
            <a:avLst/>
          </a:prstGeom>
          <a:noFill/>
          <a:ln/>
        </p:spPr>
        <p:txBody>
          <a:bodyPr wrap="square" lIns="0" tIns="0" rIns="0" bIns="0" rtlCol="0" anchor="t">
            <a:normAutofit/>
          </a:bodyPr>
          <a:lstStyle/>
          <a:p>
            <a:pPr marL="0" indent="0" algn="l">
              <a:lnSpc>
                <a:spcPts val="1820"/>
              </a:lnSpc>
              <a:buNone/>
            </a:pPr>
            <a:r>
              <a:rPr lang="es-CO" sz="1300" b="1" kern="0" spc="100" noProof="0" dirty="0">
                <a:solidFill>
                  <a:srgbClr val="2F3EBF"/>
                </a:solidFill>
                <a:latin typeface="Nunito Sans" pitchFamily="34" charset="0"/>
                <a:ea typeface="Nunito Sans" pitchFamily="34" charset="-122"/>
                <a:cs typeface="Nunito Sans" pitchFamily="34" charset="-120"/>
              </a:rPr>
              <a:t>PLAN EMPRESARIAL</a:t>
            </a:r>
            <a:endParaRPr lang="es-CO" sz="1300" noProof="0" dirty="0"/>
          </a:p>
        </p:txBody>
      </p:sp>
      <p:sp>
        <p:nvSpPr>
          <p:cNvPr id="10" name="Text 8"/>
          <p:cNvSpPr/>
          <p:nvPr/>
        </p:nvSpPr>
        <p:spPr>
          <a:xfrm>
            <a:off x="6553708" y="2786162"/>
            <a:ext cx="4650613" cy="1000522"/>
          </a:xfrm>
          <a:prstGeom prst="rect">
            <a:avLst/>
          </a:prstGeom>
          <a:noFill/>
          <a:ln/>
        </p:spPr>
        <p:txBody>
          <a:bodyPr wrap="square" lIns="0" tIns="0" rIns="0" bIns="0" rtlCol="0" anchor="t">
            <a:normAutofit/>
          </a:bodyPr>
          <a:lstStyle/>
          <a:p>
            <a:pPr marL="189992" indent="-189992" algn="l">
              <a:lnSpc>
                <a:spcPts val="2560"/>
              </a:lnSpc>
              <a:buSzPct val="100000"/>
              <a:buChar char="•"/>
            </a:pPr>
            <a:r>
              <a:rPr lang="es-CO" sz="1600" noProof="0" dirty="0">
                <a:solidFill>
                  <a:srgbClr val="1C2142"/>
                </a:solidFill>
                <a:latin typeface="Nunito Sans" pitchFamily="34" charset="0"/>
                <a:ea typeface="Nunito Sans" pitchFamily="34" charset="-122"/>
                <a:cs typeface="Nunito Sans" pitchFamily="34" charset="-120"/>
              </a:rPr>
              <a:t>No se usa para entrenar la IA</a:t>
            </a:r>
            <a:endParaRPr lang="es-CO" sz="1600" noProof="0" dirty="0"/>
          </a:p>
          <a:p>
            <a:pPr marL="189992" indent="-189992" algn="l">
              <a:lnSpc>
                <a:spcPts val="2560"/>
              </a:lnSpc>
              <a:buSzPct val="100000"/>
              <a:buChar char="•"/>
            </a:pPr>
            <a:r>
              <a:rPr lang="es-CO" sz="1600" noProof="0" dirty="0">
                <a:solidFill>
                  <a:srgbClr val="1C2142"/>
                </a:solidFill>
                <a:latin typeface="Nunito Sans" pitchFamily="34" charset="0"/>
                <a:ea typeface="Nunito Sans" pitchFamily="34" charset="-122"/>
                <a:cs typeface="Nunito Sans" pitchFamily="34" charset="-120"/>
              </a:rPr>
              <a:t>La empresa decide cuánto se guarda</a:t>
            </a:r>
            <a:endParaRPr lang="es-CO" sz="1600" noProof="0" dirty="0"/>
          </a:p>
          <a:p>
            <a:pPr marL="189992" indent="-189992" algn="l">
              <a:lnSpc>
                <a:spcPts val="2560"/>
              </a:lnSpc>
              <a:buSzPct val="100000"/>
              <a:buChar char="•"/>
            </a:pPr>
            <a:r>
              <a:rPr lang="es-CO" sz="1600" noProof="0" dirty="0">
                <a:solidFill>
                  <a:srgbClr val="1C2142"/>
                </a:solidFill>
                <a:latin typeface="Nunito Sans" pitchFamily="34" charset="0"/>
                <a:ea typeface="Nunito Sans" pitchFamily="34" charset="-122"/>
                <a:cs typeface="Nunito Sans" pitchFamily="34" charset="-120"/>
              </a:rPr>
              <a:t>Hay contrato y responsables</a:t>
            </a:r>
            <a:endParaRPr lang="es-CO" sz="1600" noProof="0" dirty="0"/>
          </a:p>
        </p:txBody>
      </p:sp>
      <p:sp>
        <p:nvSpPr>
          <p:cNvPr id="11" name="Text 9"/>
          <p:cNvSpPr/>
          <p:nvPr/>
        </p:nvSpPr>
        <p:spPr>
          <a:xfrm>
            <a:off x="6515100" y="3888284"/>
            <a:ext cx="4696079" cy="540941"/>
          </a:xfrm>
          <a:prstGeom prst="rect">
            <a:avLst/>
          </a:prstGeom>
          <a:noFill/>
          <a:ln/>
        </p:spPr>
        <p:txBody>
          <a:bodyPr wrap="square" lIns="0" tIns="0" rIns="0" bIns="0" rtlCol="0" anchor="t">
            <a:noAutofit/>
          </a:bodyPr>
          <a:lstStyle/>
          <a:p>
            <a:pPr marL="0" indent="0" algn="l">
              <a:lnSpc>
                <a:spcPct val="120000"/>
              </a:lnSpc>
              <a:buNone/>
            </a:pPr>
            <a:r>
              <a:rPr lang="es-CO" sz="1400" noProof="0" dirty="0">
                <a:solidFill>
                  <a:srgbClr val="4A5070"/>
                </a:solidFill>
                <a:latin typeface="Nunito Sans" pitchFamily="34" charset="0"/>
                <a:ea typeface="Nunito Sans" pitchFamily="34" charset="-122"/>
                <a:cs typeface="Nunito Sans" pitchFamily="34" charset="-120"/>
              </a:rPr>
              <a:t>Cada proveedor tiene sus reglas y cambian con el tiempo.</a:t>
            </a:r>
            <a:endParaRPr lang="es-CO" sz="1400" noProof="0" dirty="0"/>
          </a:p>
        </p:txBody>
      </p:sp>
      <p:pic>
        <p:nvPicPr>
          <p:cNvPr id="12" name="Image 0" descr="Trust"/>
          <p:cNvPicPr>
            <a:picLocks noChangeAspect="1"/>
          </p:cNvPicPr>
          <p:nvPr/>
        </p:nvPicPr>
        <p:blipFill>
          <a:blip r:embed="rId3"/>
          <a:srcRect/>
          <a:stretch/>
        </p:blipFill>
        <p:spPr>
          <a:xfrm>
            <a:off x="812800" y="5537200"/>
            <a:ext cx="304800" cy="304800"/>
          </a:xfrm>
          <a:prstGeom prst="rect">
            <a:avLst/>
          </a:prstGeom>
        </p:spPr>
      </p:pic>
      <p:sp>
        <p:nvSpPr>
          <p:cNvPr id="13" name="Text 10"/>
          <p:cNvSpPr/>
          <p:nvPr/>
        </p:nvSpPr>
        <p:spPr>
          <a:xfrm>
            <a:off x="1244600" y="5547320"/>
            <a:ext cx="7965400" cy="309860"/>
          </a:xfrm>
          <a:prstGeom prst="rect">
            <a:avLst/>
          </a:prstGeom>
          <a:noFill/>
          <a:ln/>
        </p:spPr>
        <p:txBody>
          <a:bodyPr wrap="square" lIns="0" tIns="0" rIns="0" bIns="0" rtlCol="0" anchor="t">
            <a:normAutofit/>
          </a:bodyPr>
          <a:lstStyle/>
          <a:p>
            <a:pPr marL="0" indent="0" algn="l">
              <a:lnSpc>
                <a:spcPts val="2240"/>
              </a:lnSpc>
              <a:buNone/>
            </a:pPr>
            <a:r>
              <a:rPr lang="es-CO" sz="1600" noProof="0" dirty="0">
                <a:solidFill>
                  <a:srgbClr val="1C2142"/>
                </a:solidFill>
                <a:latin typeface="Nunito Sans" pitchFamily="34" charset="0"/>
                <a:ea typeface="Nunito Sans" pitchFamily="34" charset="-122"/>
                <a:cs typeface="Nunito Sans" pitchFamily="34" charset="-120"/>
              </a:rPr>
              <a:t>Para lo muy delicado, ni con contrato: mejor no arriesgarse.</a:t>
            </a:r>
            <a:endParaRPr lang="es-CO" sz="1600" noProof="0" dirty="0"/>
          </a:p>
        </p:txBody>
      </p:sp>
      <p:pic>
        <p:nvPicPr>
          <p:cNvPr id="14" name="Image 1" descr="Pralogy"/>
          <p:cNvPicPr>
            <a:picLocks noChangeAspect="1"/>
          </p:cNvPicPr>
          <p:nvPr/>
        </p:nvPicPr>
        <p:blipFill>
          <a:blip r:embed="rId4"/>
          <a:srcRect l="-62" r="-62"/>
          <a:stretch/>
        </p:blipFill>
        <p:spPr>
          <a:xfrm>
            <a:off x="812800" y="6273800"/>
            <a:ext cx="1111250" cy="228600"/>
          </a:xfrm>
          <a:prstGeom prst="rect">
            <a:avLst/>
          </a:prstGeom>
        </p:spPr>
      </p:pic>
      <p:sp>
        <p:nvSpPr>
          <p:cNvPr id="15" name="Text 11"/>
          <p:cNvSpPr/>
          <p:nvPr/>
        </p:nvSpPr>
        <p:spPr>
          <a:xfrm>
            <a:off x="11145441" y="6281440"/>
            <a:ext cx="233759"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solidFill>
                  <a:srgbClr val="6B7085"/>
                </a:solidFill>
                <a:latin typeface="Nunito Sans" pitchFamily="34" charset="0"/>
                <a:ea typeface="Nunito Sans" pitchFamily="34" charset="-122"/>
                <a:cs typeface="Nunito Sans" pitchFamily="34" charset="-120"/>
              </a:rPr>
              <a:t>21</a:t>
            </a:r>
            <a:endParaRPr lang="es-CO" sz="120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1">
    <p:bg>
      <p:bgPr>
        <a:solidFill>
          <a:srgbClr val="1C2142"/>
        </a:solidFill>
        <a:effectLst/>
      </p:bgPr>
    </p:bg>
    <p:spTree>
      <p:nvGrpSpPr>
        <p:cNvPr id="1" name=""/>
        <p:cNvGrpSpPr/>
        <p:nvPr/>
      </p:nvGrpSpPr>
      <p:grpSpPr>
        <a:xfrm>
          <a:off x="0" y="0"/>
          <a:ext cx="0" cy="0"/>
          <a:chOff x="0" y="0"/>
          <a:chExt cx="0" cy="0"/>
        </a:xfrm>
      </p:grpSpPr>
      <p:sp>
        <p:nvSpPr>
          <p:cNvPr id="2" name="Shape 0"/>
          <p:cNvSpPr/>
          <p:nvPr/>
        </p:nvSpPr>
        <p:spPr>
          <a:xfrm>
            <a:off x="8255000" y="0"/>
            <a:ext cx="4572000" cy="4572000"/>
          </a:xfrm>
          <a:prstGeom prst="roundRect">
            <a:avLst>
              <a:gd name="adj" fmla="val 35556"/>
            </a:avLst>
          </a:prstGeom>
          <a:solidFill>
            <a:srgbClr val="252B55"/>
          </a:solidFill>
          <a:ln/>
        </p:spPr>
        <p:txBody>
          <a:bodyPr/>
          <a:lstStyle/>
          <a:p>
            <a:endParaRPr lang="es-CO" noProof="0" dirty="0"/>
          </a:p>
        </p:txBody>
      </p:sp>
      <p:sp>
        <p:nvSpPr>
          <p:cNvPr id="3" name="Text 1"/>
          <p:cNvSpPr/>
          <p:nvPr/>
        </p:nvSpPr>
        <p:spPr>
          <a:xfrm>
            <a:off x="812800" y="812800"/>
            <a:ext cx="10883392" cy="1168400"/>
          </a:xfrm>
          <a:prstGeom prst="rect">
            <a:avLst/>
          </a:prstGeom>
          <a:noFill/>
          <a:ln/>
        </p:spPr>
        <p:txBody>
          <a:bodyPr wrap="square" lIns="0" tIns="0" rIns="0" bIns="0" rtlCol="0" anchor="t">
            <a:normAutofit fontScale="92500"/>
          </a:bodyPr>
          <a:lstStyle/>
          <a:p>
            <a:pPr marL="0" indent="0" algn="l">
              <a:lnSpc>
                <a:spcPts val="9000"/>
              </a:lnSpc>
              <a:buNone/>
            </a:pPr>
            <a:r>
              <a:rPr lang="es-CO" sz="9000" noProof="0" dirty="0">
                <a:solidFill>
                  <a:srgbClr val="9DA8F2"/>
                </a:solidFill>
                <a:latin typeface="Fraunces" pitchFamily="18" charset="0"/>
                <a:ea typeface="Fraunces" pitchFamily="18" charset="-122"/>
                <a:cs typeface="Fraunces" pitchFamily="18" charset="-120"/>
              </a:rPr>
              <a:t>03</a:t>
            </a:r>
            <a:endParaRPr lang="es-CO" sz="9000" noProof="0" dirty="0"/>
          </a:p>
        </p:txBody>
      </p:sp>
      <p:sp>
        <p:nvSpPr>
          <p:cNvPr id="4" name="Text 2"/>
          <p:cNvSpPr>
            <a:spLocks noGrp="1"/>
          </p:cNvSpPr>
          <p:nvPr>
            <p:ph type="title"/>
          </p:nvPr>
        </p:nvSpPr>
        <p:spPr>
          <a:xfrm>
            <a:off x="812800" y="4099719"/>
            <a:ext cx="8502650" cy="1412081"/>
          </a:xfrm>
          <a:prstGeom prst="rect">
            <a:avLst/>
          </a:prstGeom>
          <a:noFill/>
          <a:ln/>
        </p:spPr>
        <p:txBody>
          <a:bodyPr wrap="square" lIns="0" tIns="0" rIns="0" bIns="0" rtlCol="0" anchor="t">
            <a:normAutofit/>
          </a:bodyPr>
          <a:lstStyle/>
          <a:p>
            <a:pPr marL="0" indent="0" algn="l">
              <a:lnSpc>
                <a:spcPts val="5460"/>
              </a:lnSpc>
              <a:buNone/>
            </a:pPr>
            <a:r>
              <a:rPr lang="es-CO" sz="5200" b="0" i="0" noProof="0" dirty="0">
                <a:solidFill>
                  <a:srgbClr val="F6F5F1"/>
                </a:solidFill>
                <a:latin typeface="Fraunces" pitchFamily="18" charset="0"/>
                <a:ea typeface="Fraunces" pitchFamily="18" charset="-122"/>
                <a:cs typeface="Fraunces" pitchFamily="18" charset="-120"/>
              </a:rPr>
              <a:t>Si pasa, reporta. No cargas solo con eso.</a:t>
            </a:r>
            <a:endParaRPr lang="es-CO" sz="5200" noProof="0" dirty="0"/>
          </a:p>
        </p:txBody>
      </p:sp>
      <p:sp>
        <p:nvSpPr>
          <p:cNvPr id="5" name="Text 3"/>
          <p:cNvSpPr/>
          <p:nvPr/>
        </p:nvSpPr>
        <p:spPr>
          <a:xfrm>
            <a:off x="812800" y="5689600"/>
            <a:ext cx="8502650" cy="381000"/>
          </a:xfrm>
          <a:prstGeom prst="rect">
            <a:avLst/>
          </a:prstGeom>
          <a:noFill/>
          <a:ln/>
        </p:spPr>
        <p:txBody>
          <a:bodyPr wrap="square" lIns="0" tIns="0" rIns="0" bIns="0" rtlCol="0" anchor="t">
            <a:normAutofit/>
          </a:bodyPr>
          <a:lstStyle/>
          <a:p>
            <a:pPr marL="0" indent="0" algn="l">
              <a:lnSpc>
                <a:spcPts val="2800"/>
              </a:lnSpc>
              <a:buNone/>
            </a:pPr>
            <a:r>
              <a:rPr lang="es-CO" sz="2000" noProof="0" dirty="0">
                <a:solidFill>
                  <a:srgbClr val="C7CCE8"/>
                </a:solidFill>
                <a:latin typeface="Nunito Sans" pitchFamily="34" charset="0"/>
                <a:ea typeface="Nunito Sans" pitchFamily="34" charset="-122"/>
                <a:cs typeface="Nunito Sans" pitchFamily="34" charset="-120"/>
              </a:rPr>
              <a:t>Un plan de acción en lugar de pánico.</a:t>
            </a:r>
            <a:endParaRPr lang="es-CO" sz="2000"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2">
    <p:bg>
      <p:bgPr>
        <a:solidFill>
          <a:srgbClr val="E9ECF4"/>
        </a:solidFill>
        <a:effectLst/>
      </p:bgPr>
    </p:bg>
    <p:spTree>
      <p:nvGrpSpPr>
        <p:cNvPr id="1" name=""/>
        <p:cNvGrpSpPr/>
        <p:nvPr/>
      </p:nvGrpSpPr>
      <p:grpSpPr>
        <a:xfrm>
          <a:off x="0" y="0"/>
          <a:ext cx="0" cy="0"/>
          <a:chOff x="0" y="0"/>
          <a:chExt cx="0" cy="0"/>
        </a:xfrm>
      </p:grpSpPr>
      <p:pic>
        <p:nvPicPr>
          <p:cNvPr id="2" name="Image 0" descr="Clock"/>
          <p:cNvPicPr>
            <a:picLocks noChangeAspect="1"/>
          </p:cNvPicPr>
          <p:nvPr/>
        </p:nvPicPr>
        <p:blipFill>
          <a:blip r:embed="rId3"/>
          <a:srcRect/>
          <a:stretch/>
        </p:blipFill>
        <p:spPr>
          <a:xfrm>
            <a:off x="812800" y="1593949"/>
            <a:ext cx="508000" cy="508000"/>
          </a:xfrm>
          <a:prstGeom prst="rect">
            <a:avLst/>
          </a:prstGeom>
        </p:spPr>
      </p:pic>
      <p:sp>
        <p:nvSpPr>
          <p:cNvPr id="3" name="Text 0"/>
          <p:cNvSpPr>
            <a:spLocks noGrp="1"/>
          </p:cNvSpPr>
          <p:nvPr>
            <p:ph type="title"/>
          </p:nvPr>
        </p:nvSpPr>
        <p:spPr>
          <a:xfrm>
            <a:off x="812800" y="2457549"/>
            <a:ext cx="9810750" cy="1953022"/>
          </a:xfrm>
          <a:prstGeom prst="rect">
            <a:avLst/>
          </a:prstGeom>
          <a:noFill/>
          <a:ln/>
        </p:spPr>
        <p:txBody>
          <a:bodyPr wrap="square" lIns="0" tIns="0" rIns="0" bIns="0" rtlCol="0" anchor="t">
            <a:normAutofit/>
          </a:bodyPr>
          <a:lstStyle/>
          <a:p>
            <a:pPr marL="0" indent="0" algn="l">
              <a:lnSpc>
                <a:spcPts val="5060"/>
              </a:lnSpc>
              <a:buNone/>
            </a:pPr>
            <a:r>
              <a:rPr lang="es-CO" sz="4400" b="0" i="0" noProof="0" dirty="0">
                <a:solidFill>
                  <a:srgbClr val="1C2142"/>
                </a:solidFill>
                <a:latin typeface="Fraunces" pitchFamily="18" charset="0"/>
                <a:ea typeface="Fraunces" pitchFamily="18" charset="-122"/>
                <a:cs typeface="Fraunces" pitchFamily="18" charset="-120"/>
              </a:rPr>
              <a:t>Son las 3 de la tarde. Hiciste clic en algo raro y te quedó la duda. ¿Qué haces?</a:t>
            </a:r>
            <a:endParaRPr lang="es-CO" sz="4400" noProof="0" dirty="0"/>
          </a:p>
        </p:txBody>
      </p:sp>
      <p:sp>
        <p:nvSpPr>
          <p:cNvPr id="4" name="Text 1"/>
          <p:cNvSpPr/>
          <p:nvPr/>
        </p:nvSpPr>
        <p:spPr>
          <a:xfrm>
            <a:off x="812800" y="4740771"/>
            <a:ext cx="10883392" cy="345380"/>
          </a:xfrm>
          <a:prstGeom prst="rect">
            <a:avLst/>
          </a:prstGeom>
          <a:noFill/>
          <a:ln/>
        </p:spPr>
        <p:txBody>
          <a:bodyPr wrap="square" lIns="0" tIns="0" rIns="0" bIns="0" rtlCol="0" anchor="t">
            <a:normAutofit/>
          </a:bodyPr>
          <a:lstStyle/>
          <a:p>
            <a:pPr marL="0" indent="0" algn="l">
              <a:lnSpc>
                <a:spcPts val="2520"/>
              </a:lnSpc>
              <a:buNone/>
            </a:pPr>
            <a:r>
              <a:rPr lang="es-CO" sz="1800" noProof="0" dirty="0">
                <a:solidFill>
                  <a:srgbClr val="4A5070"/>
                </a:solidFill>
                <a:latin typeface="Nunito Sans" pitchFamily="34" charset="0"/>
                <a:ea typeface="Nunito Sans" pitchFamily="34" charset="-122"/>
                <a:cs typeface="Nunito Sans" pitchFamily="34" charset="-120"/>
              </a:rPr>
              <a:t>Sin respuestas correctas ni incorrectas. Solo con honestidad.</a:t>
            </a:r>
            <a:endParaRPr lang="es-CO" sz="1800" noProof="0" dirty="0"/>
          </a:p>
        </p:txBody>
      </p:sp>
      <p:pic>
        <p:nvPicPr>
          <p:cNvPr id="5" name="Image 1" descr="Pralogy"/>
          <p:cNvPicPr>
            <a:picLocks noChangeAspect="1"/>
          </p:cNvPicPr>
          <p:nvPr/>
        </p:nvPicPr>
        <p:blipFill>
          <a:blip r:embed="rId4"/>
          <a:srcRect l="-62" r="-62"/>
          <a:stretch/>
        </p:blipFill>
        <p:spPr>
          <a:xfrm>
            <a:off x="812800" y="6273800"/>
            <a:ext cx="1111250" cy="228600"/>
          </a:xfrm>
          <a:prstGeom prst="rect">
            <a:avLst/>
          </a:prstGeom>
        </p:spPr>
      </p:pic>
      <p:sp>
        <p:nvSpPr>
          <p:cNvPr id="6" name="Text 2"/>
          <p:cNvSpPr/>
          <p:nvPr/>
        </p:nvSpPr>
        <p:spPr>
          <a:xfrm>
            <a:off x="11145441" y="6281440"/>
            <a:ext cx="233759"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solidFill>
                  <a:srgbClr val="6B7085"/>
                </a:solidFill>
                <a:latin typeface="Nunito Sans" pitchFamily="34" charset="0"/>
                <a:ea typeface="Nunito Sans" pitchFamily="34" charset="-122"/>
                <a:cs typeface="Nunito Sans" pitchFamily="34" charset="-120"/>
              </a:rPr>
              <a:t>22</a:t>
            </a:r>
            <a:endParaRPr lang="es-CO" sz="1200"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3">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s-CO" sz="1400" b="1" kern="0" spc="150" noProof="0" dirty="0">
                <a:solidFill>
                  <a:srgbClr val="2F3EBF"/>
                </a:solidFill>
                <a:latin typeface="Nunito Sans" pitchFamily="34" charset="0"/>
                <a:ea typeface="Nunito Sans" pitchFamily="34" charset="-122"/>
                <a:cs typeface="Nunito Sans" pitchFamily="34" charset="-120"/>
              </a:rPr>
              <a:t>BLOQUE 3 · REPORTAR SIN CULPA</a:t>
            </a:r>
            <a:endParaRPr lang="es-CO" sz="1400" noProof="0" dirty="0"/>
          </a:p>
        </p:txBody>
      </p:sp>
      <p:sp>
        <p:nvSpPr>
          <p:cNvPr id="3" name="Text 1"/>
          <p:cNvSpPr>
            <a:spLocks noGrp="1"/>
          </p:cNvSpPr>
          <p:nvPr>
            <p:ph type="title"/>
          </p:nvPr>
        </p:nvSpPr>
        <p:spPr>
          <a:xfrm>
            <a:off x="812800" y="1341041"/>
            <a:ext cx="10883392" cy="1031081"/>
          </a:xfrm>
          <a:prstGeom prst="rect">
            <a:avLst/>
          </a:prstGeom>
          <a:noFill/>
          <a:ln/>
        </p:spPr>
        <p:txBody>
          <a:bodyPr wrap="square" lIns="0" tIns="0" rIns="0" bIns="0" rtlCol="0" anchor="t">
            <a:normAutofit/>
          </a:bodyPr>
          <a:lstStyle/>
          <a:p>
            <a:pPr marL="0" indent="0" algn="l">
              <a:lnSpc>
                <a:spcPts val="3960"/>
              </a:lnSpc>
              <a:buNone/>
            </a:pPr>
            <a:r>
              <a:rPr lang="es-CO" sz="3600" b="0" i="0" noProof="0" dirty="0">
                <a:solidFill>
                  <a:srgbClr val="1C2142"/>
                </a:solidFill>
                <a:latin typeface="Fraunces" pitchFamily="18" charset="0"/>
                <a:ea typeface="Fraunces" pitchFamily="18" charset="-122"/>
                <a:cs typeface="Fraunces" pitchFamily="18" charset="-120"/>
              </a:rPr>
              <a:t>Esconderlo es lo único que de verdad empeora las cosas</a:t>
            </a:r>
            <a:endParaRPr lang="es-CO" sz="3600" noProof="0" dirty="0"/>
          </a:p>
        </p:txBody>
      </p:sp>
      <p:sp>
        <p:nvSpPr>
          <p:cNvPr id="4" name="Shape 2"/>
          <p:cNvSpPr/>
          <p:nvPr/>
        </p:nvSpPr>
        <p:spPr>
          <a:xfrm>
            <a:off x="819150" y="2632472"/>
            <a:ext cx="5181600" cy="2560638"/>
          </a:xfrm>
          <a:prstGeom prst="roundRect">
            <a:avLst>
              <a:gd name="adj" fmla="val 5704"/>
            </a:avLst>
          </a:prstGeom>
          <a:solidFill>
            <a:srgbClr val="FCFBF8"/>
          </a:solidFill>
          <a:ln w="12700">
            <a:solidFill>
              <a:srgbClr val="DDE0EA"/>
            </a:solidFill>
            <a:prstDash val="solid"/>
          </a:ln>
        </p:spPr>
        <p:txBody>
          <a:bodyPr/>
          <a:lstStyle/>
          <a:p>
            <a:endParaRPr lang="es-CO" noProof="0" dirty="0"/>
          </a:p>
        </p:txBody>
      </p:sp>
      <p:pic>
        <p:nvPicPr>
          <p:cNvPr id="5" name="Image 0" descr="Lightning"/>
          <p:cNvPicPr>
            <a:picLocks noChangeAspect="1"/>
          </p:cNvPicPr>
          <p:nvPr/>
        </p:nvPicPr>
        <p:blipFill>
          <a:blip r:embed="rId3"/>
          <a:srcRect/>
          <a:stretch/>
        </p:blipFill>
        <p:spPr>
          <a:xfrm>
            <a:off x="1130300" y="2943622"/>
            <a:ext cx="355600" cy="355600"/>
          </a:xfrm>
          <a:prstGeom prst="rect">
            <a:avLst/>
          </a:prstGeom>
        </p:spPr>
      </p:pic>
      <p:sp>
        <p:nvSpPr>
          <p:cNvPr id="6" name="Text 3"/>
          <p:cNvSpPr/>
          <p:nvPr/>
        </p:nvSpPr>
        <p:spPr>
          <a:xfrm>
            <a:off x="1130300" y="3426222"/>
            <a:ext cx="4696079" cy="330200"/>
          </a:xfrm>
          <a:prstGeom prst="rect">
            <a:avLst/>
          </a:prstGeom>
          <a:noFill/>
          <a:ln/>
        </p:spPr>
        <p:txBody>
          <a:bodyPr wrap="square" lIns="0" tIns="0" rIns="0" bIns="0" rtlCol="0" anchor="t">
            <a:normAutofit/>
          </a:bodyPr>
          <a:lstStyle/>
          <a:p>
            <a:pPr marL="0" indent="0" algn="l">
              <a:lnSpc>
                <a:spcPts val="2400"/>
              </a:lnSpc>
              <a:buNone/>
            </a:pPr>
            <a:r>
              <a:rPr lang="es-CO" sz="2000" b="1" noProof="0" dirty="0">
                <a:solidFill>
                  <a:srgbClr val="1C2142"/>
                </a:solidFill>
                <a:latin typeface="Nunito Sans" pitchFamily="34" charset="0"/>
                <a:ea typeface="Nunito Sans" pitchFamily="34" charset="-122"/>
                <a:cs typeface="Nunito Sans" pitchFamily="34" charset="-120"/>
              </a:rPr>
              <a:t>Para la empresa</a:t>
            </a:r>
            <a:endParaRPr lang="es-CO" sz="2000" noProof="0" dirty="0"/>
          </a:p>
        </p:txBody>
      </p:sp>
      <p:sp>
        <p:nvSpPr>
          <p:cNvPr id="7" name="Text 4"/>
          <p:cNvSpPr/>
          <p:nvPr/>
        </p:nvSpPr>
        <p:spPr>
          <a:xfrm>
            <a:off x="1130300" y="3858022"/>
            <a:ext cx="4696079" cy="909141"/>
          </a:xfrm>
          <a:prstGeom prst="rect">
            <a:avLst/>
          </a:prstGeom>
          <a:noFill/>
          <a:ln/>
        </p:spPr>
        <p:txBody>
          <a:bodyPr wrap="square" lIns="0" tIns="0" rIns="0" bIns="0" rtlCol="0" anchor="t">
            <a:normAutofit/>
          </a:bodyPr>
          <a:lstStyle/>
          <a:p>
            <a:pPr marL="0" indent="0" algn="l">
              <a:lnSpc>
                <a:spcPts val="2320"/>
              </a:lnSpc>
              <a:buNone/>
            </a:pPr>
            <a:r>
              <a:rPr lang="es-CO" sz="1600" noProof="0" dirty="0">
                <a:solidFill>
                  <a:srgbClr val="4A5070"/>
                </a:solidFill>
                <a:latin typeface="Nunito Sans" pitchFamily="34" charset="0"/>
                <a:ea typeface="Nunito Sans" pitchFamily="34" charset="-122"/>
                <a:cs typeface="Nunito Sans" pitchFamily="34" charset="-120"/>
              </a:rPr>
              <a:t>El tiempo entre el clic y el reporte define el daño. Diez minutos es un susto. Diez días es un incidente.</a:t>
            </a:r>
            <a:endParaRPr lang="es-CO" sz="1600" noProof="0" dirty="0"/>
          </a:p>
        </p:txBody>
      </p:sp>
      <p:sp>
        <p:nvSpPr>
          <p:cNvPr id="8" name="Shape 5"/>
          <p:cNvSpPr/>
          <p:nvPr/>
        </p:nvSpPr>
        <p:spPr>
          <a:xfrm>
            <a:off x="6210300" y="2626122"/>
            <a:ext cx="5168900" cy="2573338"/>
          </a:xfrm>
          <a:prstGeom prst="roundRect">
            <a:avLst>
              <a:gd name="adj" fmla="val 5922"/>
            </a:avLst>
          </a:prstGeom>
          <a:solidFill>
            <a:srgbClr val="E9ECF4"/>
          </a:solidFill>
          <a:ln/>
        </p:spPr>
        <p:txBody>
          <a:bodyPr/>
          <a:lstStyle/>
          <a:p>
            <a:endParaRPr lang="es-CO" noProof="0" dirty="0"/>
          </a:p>
        </p:txBody>
      </p:sp>
      <p:pic>
        <p:nvPicPr>
          <p:cNvPr id="9" name="Image 1" descr="Home"/>
          <p:cNvPicPr>
            <a:picLocks noChangeAspect="1"/>
          </p:cNvPicPr>
          <p:nvPr/>
        </p:nvPicPr>
        <p:blipFill>
          <a:blip r:embed="rId4"/>
          <a:srcRect/>
          <a:stretch/>
        </p:blipFill>
        <p:spPr>
          <a:xfrm>
            <a:off x="6515100" y="2930922"/>
            <a:ext cx="355600" cy="355600"/>
          </a:xfrm>
          <a:prstGeom prst="rect">
            <a:avLst/>
          </a:prstGeom>
        </p:spPr>
      </p:pic>
      <p:sp>
        <p:nvSpPr>
          <p:cNvPr id="10" name="Text 6"/>
          <p:cNvSpPr/>
          <p:nvPr/>
        </p:nvSpPr>
        <p:spPr>
          <a:xfrm>
            <a:off x="6515100" y="3413522"/>
            <a:ext cx="4696079" cy="330200"/>
          </a:xfrm>
          <a:prstGeom prst="rect">
            <a:avLst/>
          </a:prstGeom>
          <a:noFill/>
          <a:ln/>
        </p:spPr>
        <p:txBody>
          <a:bodyPr wrap="square" lIns="0" tIns="0" rIns="0" bIns="0" rtlCol="0" anchor="t">
            <a:normAutofit/>
          </a:bodyPr>
          <a:lstStyle/>
          <a:p>
            <a:pPr marL="0" indent="0" algn="l">
              <a:lnSpc>
                <a:spcPts val="2400"/>
              </a:lnSpc>
              <a:buNone/>
            </a:pPr>
            <a:r>
              <a:rPr lang="es-CO" sz="2000" b="1" noProof="0" dirty="0">
                <a:solidFill>
                  <a:srgbClr val="1C2142"/>
                </a:solidFill>
                <a:latin typeface="Nunito Sans" pitchFamily="34" charset="0"/>
                <a:ea typeface="Nunito Sans" pitchFamily="34" charset="-122"/>
                <a:cs typeface="Nunito Sans" pitchFamily="34" charset="-120"/>
              </a:rPr>
              <a:t>Para ti</a:t>
            </a:r>
            <a:endParaRPr lang="es-CO" sz="2000" noProof="0" dirty="0"/>
          </a:p>
        </p:txBody>
      </p:sp>
      <p:sp>
        <p:nvSpPr>
          <p:cNvPr id="11" name="Text 7"/>
          <p:cNvSpPr/>
          <p:nvPr/>
        </p:nvSpPr>
        <p:spPr>
          <a:xfrm>
            <a:off x="6515100" y="3845322"/>
            <a:ext cx="4696079" cy="909141"/>
          </a:xfrm>
          <a:prstGeom prst="rect">
            <a:avLst/>
          </a:prstGeom>
          <a:noFill/>
          <a:ln/>
        </p:spPr>
        <p:txBody>
          <a:bodyPr wrap="square" lIns="0" tIns="0" rIns="0" bIns="0" rtlCol="0" anchor="t">
            <a:normAutofit/>
          </a:bodyPr>
          <a:lstStyle/>
          <a:p>
            <a:pPr marL="0" indent="0" algn="l">
              <a:lnSpc>
                <a:spcPts val="2320"/>
              </a:lnSpc>
              <a:buNone/>
            </a:pPr>
            <a:r>
              <a:rPr lang="es-CO" sz="1600" noProof="0" dirty="0">
                <a:solidFill>
                  <a:srgbClr val="1C2142"/>
                </a:solidFill>
                <a:latin typeface="Nunito Sans" pitchFamily="34" charset="0"/>
                <a:ea typeface="Nunito Sans" pitchFamily="34" charset="-122"/>
                <a:cs typeface="Nunito Sans" pitchFamily="34" charset="-120"/>
              </a:rPr>
              <a:t>Cargar con la duda durante días pesa más que el error. Reportar lo saca de tu cabeza y lo pone en manos de quien sabe qué hacer.</a:t>
            </a:r>
            <a:endParaRPr lang="es-CO" sz="1600" noProof="0" dirty="0"/>
          </a:p>
        </p:txBody>
      </p:sp>
      <p:sp>
        <p:nvSpPr>
          <p:cNvPr id="12" name="Text 8"/>
          <p:cNvSpPr/>
          <p:nvPr/>
        </p:nvSpPr>
        <p:spPr>
          <a:xfrm>
            <a:off x="812800" y="5478859"/>
            <a:ext cx="10883392" cy="388541"/>
          </a:xfrm>
          <a:prstGeom prst="rect">
            <a:avLst/>
          </a:prstGeom>
          <a:noFill/>
          <a:ln/>
        </p:spPr>
        <p:txBody>
          <a:bodyPr wrap="square" lIns="0" tIns="0" rIns="0" bIns="0" rtlCol="0" anchor="t">
            <a:normAutofit/>
          </a:bodyPr>
          <a:lstStyle/>
          <a:p>
            <a:pPr marL="0" indent="0" algn="l">
              <a:lnSpc>
                <a:spcPts val="2860"/>
              </a:lnSpc>
              <a:buNone/>
            </a:pPr>
            <a:r>
              <a:rPr lang="es-CO" sz="2200" noProof="0" dirty="0">
                <a:solidFill>
                  <a:srgbClr val="1C2142"/>
                </a:solidFill>
                <a:latin typeface="Fraunces" pitchFamily="18" charset="0"/>
                <a:ea typeface="Fraunces" pitchFamily="18" charset="-122"/>
                <a:cs typeface="Fraunces" pitchFamily="18" charset="-120"/>
              </a:rPr>
              <a:t>Quien reporta a tiempo es quien salvó el día, no quien lo arruinó.</a:t>
            </a:r>
            <a:endParaRPr lang="es-CO" sz="2200" noProof="0" dirty="0"/>
          </a:p>
        </p:txBody>
      </p:sp>
      <p:pic>
        <p:nvPicPr>
          <p:cNvPr id="13" name="Image 2" descr="Pralogy"/>
          <p:cNvPicPr>
            <a:picLocks noChangeAspect="1"/>
          </p:cNvPicPr>
          <p:nvPr/>
        </p:nvPicPr>
        <p:blipFill>
          <a:blip r:embed="rId5"/>
          <a:srcRect l="-62" r="-62"/>
          <a:stretch/>
        </p:blipFill>
        <p:spPr>
          <a:xfrm>
            <a:off x="812800" y="6273800"/>
            <a:ext cx="1111250" cy="228600"/>
          </a:xfrm>
          <a:prstGeom prst="rect">
            <a:avLst/>
          </a:prstGeom>
        </p:spPr>
      </p:pic>
      <p:sp>
        <p:nvSpPr>
          <p:cNvPr id="14" name="Text 9"/>
          <p:cNvSpPr/>
          <p:nvPr/>
        </p:nvSpPr>
        <p:spPr>
          <a:xfrm>
            <a:off x="11145441" y="6281440"/>
            <a:ext cx="233759"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solidFill>
                  <a:srgbClr val="6B7085"/>
                </a:solidFill>
                <a:latin typeface="Nunito Sans" pitchFamily="34" charset="0"/>
                <a:ea typeface="Nunito Sans" pitchFamily="34" charset="-122"/>
                <a:cs typeface="Nunito Sans" pitchFamily="34" charset="-120"/>
              </a:rPr>
              <a:t>23</a:t>
            </a:r>
            <a:endParaRPr lang="es-CO" sz="1200" noProof="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4">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s-CO" sz="1400" b="1" kern="0" spc="150" noProof="0" dirty="0">
                <a:solidFill>
                  <a:srgbClr val="2F3EBF"/>
                </a:solidFill>
                <a:latin typeface="Nunito Sans" pitchFamily="34" charset="0"/>
                <a:ea typeface="Nunito Sans" pitchFamily="34" charset="-122"/>
                <a:cs typeface="Nunito Sans" pitchFamily="34" charset="-120"/>
              </a:rPr>
              <a:t>BLOQUE 3 · SIN MISTERIOS</a:t>
            </a:r>
            <a:endParaRPr lang="es-CO" sz="1400" noProof="0" dirty="0"/>
          </a:p>
        </p:txBody>
      </p:sp>
      <p:sp>
        <p:nvSpPr>
          <p:cNvPr id="3" name="Text 1"/>
          <p:cNvSpPr>
            <a:spLocks noGrp="1"/>
          </p:cNvSpPr>
          <p:nvPr>
            <p:ph type="title"/>
          </p:nvPr>
        </p:nvSpPr>
        <p:spPr>
          <a:xfrm>
            <a:off x="812800" y="1341041"/>
            <a:ext cx="10883392" cy="528241"/>
          </a:xfrm>
          <a:prstGeom prst="rect">
            <a:avLst/>
          </a:prstGeom>
          <a:noFill/>
          <a:ln/>
        </p:spPr>
        <p:txBody>
          <a:bodyPr wrap="square" lIns="0" tIns="0" rIns="0" bIns="0" rtlCol="0" anchor="t">
            <a:normAutofit/>
          </a:bodyPr>
          <a:lstStyle/>
          <a:p>
            <a:pPr marL="0" indent="0" algn="l">
              <a:lnSpc>
                <a:spcPts val="3960"/>
              </a:lnSpc>
              <a:buNone/>
            </a:pPr>
            <a:r>
              <a:rPr lang="es-CO" sz="3600" b="0" i="0" noProof="0" dirty="0">
                <a:solidFill>
                  <a:srgbClr val="1C2142"/>
                </a:solidFill>
                <a:latin typeface="Fraunces" pitchFamily="18" charset="0"/>
                <a:ea typeface="Fraunces" pitchFamily="18" charset="-122"/>
                <a:cs typeface="Fraunces" pitchFamily="18" charset="-120"/>
              </a:rPr>
              <a:t>Qué pasa cuando reportas</a:t>
            </a:r>
            <a:endParaRPr lang="es-CO" sz="3600" noProof="0" dirty="0"/>
          </a:p>
        </p:txBody>
      </p:sp>
      <p:sp>
        <p:nvSpPr>
          <p:cNvPr id="4" name="Shape 2"/>
          <p:cNvSpPr/>
          <p:nvPr/>
        </p:nvSpPr>
        <p:spPr>
          <a:xfrm>
            <a:off x="819150" y="2483743"/>
            <a:ext cx="3077567" cy="2416175"/>
          </a:xfrm>
          <a:prstGeom prst="roundRect">
            <a:avLst>
              <a:gd name="adj" fmla="val 6045"/>
            </a:avLst>
          </a:prstGeom>
          <a:solidFill>
            <a:srgbClr val="FCFBF8"/>
          </a:solidFill>
          <a:ln w="12700">
            <a:solidFill>
              <a:srgbClr val="DDE0EA"/>
            </a:solidFill>
            <a:prstDash val="solid"/>
          </a:ln>
        </p:spPr>
        <p:txBody>
          <a:bodyPr/>
          <a:lstStyle/>
          <a:p>
            <a:endParaRPr lang="es-CO" noProof="0" dirty="0"/>
          </a:p>
        </p:txBody>
      </p:sp>
      <p:sp>
        <p:nvSpPr>
          <p:cNvPr id="5" name="Text 3"/>
          <p:cNvSpPr/>
          <p:nvPr/>
        </p:nvSpPr>
        <p:spPr>
          <a:xfrm>
            <a:off x="1130300" y="2794893"/>
            <a:ext cx="2528925" cy="431800"/>
          </a:xfrm>
          <a:prstGeom prst="rect">
            <a:avLst/>
          </a:prstGeom>
          <a:noFill/>
          <a:ln/>
        </p:spPr>
        <p:txBody>
          <a:bodyPr wrap="square" lIns="0" tIns="0" rIns="0" bIns="0" rtlCol="0" anchor="t">
            <a:normAutofit/>
          </a:bodyPr>
          <a:lstStyle/>
          <a:p>
            <a:pPr marL="0" indent="0" algn="l">
              <a:lnSpc>
                <a:spcPts val="3200"/>
              </a:lnSpc>
              <a:buNone/>
            </a:pPr>
            <a:r>
              <a:rPr lang="es-CO" sz="3200" noProof="0" dirty="0">
                <a:solidFill>
                  <a:srgbClr val="2F3EBF"/>
                </a:solidFill>
                <a:latin typeface="Fraunces" pitchFamily="18" charset="0"/>
                <a:ea typeface="Fraunces" pitchFamily="18" charset="-122"/>
                <a:cs typeface="Fraunces" pitchFamily="18" charset="-120"/>
              </a:rPr>
              <a:t>1</a:t>
            </a:r>
            <a:endParaRPr lang="es-CO" sz="3200" noProof="0" dirty="0"/>
          </a:p>
        </p:txBody>
      </p:sp>
      <p:sp>
        <p:nvSpPr>
          <p:cNvPr id="6" name="Text 4"/>
          <p:cNvSpPr/>
          <p:nvPr/>
        </p:nvSpPr>
        <p:spPr>
          <a:xfrm>
            <a:off x="1130300" y="3328293"/>
            <a:ext cx="2528925" cy="330200"/>
          </a:xfrm>
          <a:prstGeom prst="rect">
            <a:avLst/>
          </a:prstGeom>
          <a:noFill/>
          <a:ln/>
        </p:spPr>
        <p:txBody>
          <a:bodyPr wrap="square" lIns="0" tIns="0" rIns="0" bIns="0" rtlCol="0" anchor="t">
            <a:normAutofit/>
          </a:bodyPr>
          <a:lstStyle/>
          <a:p>
            <a:pPr marL="0" indent="0" algn="l">
              <a:lnSpc>
                <a:spcPts val="2400"/>
              </a:lnSpc>
              <a:buNone/>
            </a:pPr>
            <a:r>
              <a:rPr lang="es-CO" sz="2000" b="1" noProof="0" dirty="0">
                <a:solidFill>
                  <a:srgbClr val="1C2142"/>
                </a:solidFill>
                <a:latin typeface="Nunito Sans" pitchFamily="34" charset="0"/>
                <a:ea typeface="Nunito Sans" pitchFamily="34" charset="-122"/>
                <a:cs typeface="Nunito Sans" pitchFamily="34" charset="-120"/>
              </a:rPr>
              <a:t>Aislar</a:t>
            </a:r>
            <a:endParaRPr lang="es-CO" sz="2000" noProof="0" dirty="0"/>
          </a:p>
        </p:txBody>
      </p:sp>
      <p:sp>
        <p:nvSpPr>
          <p:cNvPr id="7" name="Text 5"/>
          <p:cNvSpPr/>
          <p:nvPr/>
        </p:nvSpPr>
        <p:spPr>
          <a:xfrm>
            <a:off x="1130300" y="3760093"/>
            <a:ext cx="2528925" cy="854075"/>
          </a:xfrm>
          <a:prstGeom prst="rect">
            <a:avLst/>
          </a:prstGeom>
          <a:noFill/>
          <a:ln/>
        </p:spPr>
        <p:txBody>
          <a:bodyPr wrap="square" lIns="0" tIns="0" rIns="0" bIns="0" rtlCol="0" anchor="t">
            <a:normAutofit/>
          </a:bodyPr>
          <a:lstStyle/>
          <a:p>
            <a:pPr marL="0" indent="0" algn="l">
              <a:lnSpc>
                <a:spcPts val="2175"/>
              </a:lnSpc>
              <a:buNone/>
            </a:pPr>
            <a:r>
              <a:rPr lang="es-CO" sz="1500" noProof="0" dirty="0">
                <a:solidFill>
                  <a:srgbClr val="4A5070"/>
                </a:solidFill>
                <a:latin typeface="Nunito Sans" pitchFamily="34" charset="0"/>
                <a:ea typeface="Nunito Sans" pitchFamily="34" charset="-122"/>
                <a:cs typeface="Nunito Sans" pitchFamily="34" charset="-120"/>
              </a:rPr>
              <a:t>Seguridad separa el equipo o la cuenta para que nada se extienda.</a:t>
            </a:r>
            <a:endParaRPr lang="es-CO" sz="1500" noProof="0" dirty="0"/>
          </a:p>
        </p:txBody>
      </p:sp>
      <p:pic>
        <p:nvPicPr>
          <p:cNvPr id="8" name="Image 0" descr="arrow-right"/>
          <p:cNvPicPr>
            <a:picLocks noChangeAspect="1"/>
          </p:cNvPicPr>
          <p:nvPr/>
        </p:nvPicPr>
        <p:blipFill>
          <a:blip r:embed="rId3"/>
          <a:srcRect/>
          <a:stretch/>
        </p:blipFill>
        <p:spPr>
          <a:xfrm>
            <a:off x="4055467" y="3590230"/>
            <a:ext cx="355600" cy="203200"/>
          </a:xfrm>
          <a:prstGeom prst="rect">
            <a:avLst/>
          </a:prstGeom>
        </p:spPr>
      </p:pic>
      <p:sp>
        <p:nvSpPr>
          <p:cNvPr id="9" name="Shape 6"/>
          <p:cNvSpPr/>
          <p:nvPr/>
        </p:nvSpPr>
        <p:spPr>
          <a:xfrm>
            <a:off x="4569817" y="2621855"/>
            <a:ext cx="3077666" cy="2139950"/>
          </a:xfrm>
          <a:prstGeom prst="roundRect">
            <a:avLst>
              <a:gd name="adj" fmla="val 6825"/>
            </a:avLst>
          </a:prstGeom>
          <a:solidFill>
            <a:srgbClr val="FCFBF8"/>
          </a:solidFill>
          <a:ln w="12700">
            <a:solidFill>
              <a:srgbClr val="DDE0EA"/>
            </a:solidFill>
            <a:prstDash val="solid"/>
          </a:ln>
        </p:spPr>
        <p:txBody>
          <a:bodyPr/>
          <a:lstStyle/>
          <a:p>
            <a:endParaRPr lang="es-CO" noProof="0" dirty="0"/>
          </a:p>
        </p:txBody>
      </p:sp>
      <p:sp>
        <p:nvSpPr>
          <p:cNvPr id="10" name="Text 7"/>
          <p:cNvSpPr/>
          <p:nvPr/>
        </p:nvSpPr>
        <p:spPr>
          <a:xfrm>
            <a:off x="4880967" y="2933005"/>
            <a:ext cx="2529027" cy="431800"/>
          </a:xfrm>
          <a:prstGeom prst="rect">
            <a:avLst/>
          </a:prstGeom>
          <a:noFill/>
          <a:ln/>
        </p:spPr>
        <p:txBody>
          <a:bodyPr wrap="square" lIns="0" tIns="0" rIns="0" bIns="0" rtlCol="0" anchor="t">
            <a:normAutofit/>
          </a:bodyPr>
          <a:lstStyle/>
          <a:p>
            <a:pPr marL="0" indent="0" algn="l">
              <a:lnSpc>
                <a:spcPts val="3200"/>
              </a:lnSpc>
              <a:buNone/>
            </a:pPr>
            <a:r>
              <a:rPr lang="es-CO" sz="3200" noProof="0" dirty="0">
                <a:solidFill>
                  <a:srgbClr val="2F3EBF"/>
                </a:solidFill>
                <a:latin typeface="Fraunces" pitchFamily="18" charset="0"/>
                <a:ea typeface="Fraunces" pitchFamily="18" charset="-122"/>
                <a:cs typeface="Fraunces" pitchFamily="18" charset="-120"/>
              </a:rPr>
              <a:t>2</a:t>
            </a:r>
            <a:endParaRPr lang="es-CO" sz="3200" noProof="0" dirty="0"/>
          </a:p>
        </p:txBody>
      </p:sp>
      <p:sp>
        <p:nvSpPr>
          <p:cNvPr id="11" name="Text 8"/>
          <p:cNvSpPr/>
          <p:nvPr/>
        </p:nvSpPr>
        <p:spPr>
          <a:xfrm>
            <a:off x="4880967" y="3466405"/>
            <a:ext cx="2529027" cy="330200"/>
          </a:xfrm>
          <a:prstGeom prst="rect">
            <a:avLst/>
          </a:prstGeom>
          <a:noFill/>
          <a:ln/>
        </p:spPr>
        <p:txBody>
          <a:bodyPr wrap="square" lIns="0" tIns="0" rIns="0" bIns="0" rtlCol="0" anchor="t">
            <a:normAutofit/>
          </a:bodyPr>
          <a:lstStyle/>
          <a:p>
            <a:pPr marL="0" indent="0" algn="l">
              <a:lnSpc>
                <a:spcPts val="2400"/>
              </a:lnSpc>
              <a:buNone/>
            </a:pPr>
            <a:r>
              <a:rPr lang="es-CO" sz="2000" b="1" noProof="0" dirty="0">
                <a:solidFill>
                  <a:srgbClr val="1C2142"/>
                </a:solidFill>
                <a:latin typeface="Nunito Sans" pitchFamily="34" charset="0"/>
                <a:ea typeface="Nunito Sans" pitchFamily="34" charset="-122"/>
                <a:cs typeface="Nunito Sans" pitchFamily="34" charset="-120"/>
              </a:rPr>
              <a:t>Revisar</a:t>
            </a:r>
            <a:endParaRPr lang="es-CO" sz="2000" noProof="0" dirty="0"/>
          </a:p>
        </p:txBody>
      </p:sp>
      <p:sp>
        <p:nvSpPr>
          <p:cNvPr id="12" name="Text 9"/>
          <p:cNvSpPr/>
          <p:nvPr/>
        </p:nvSpPr>
        <p:spPr>
          <a:xfrm>
            <a:off x="4880967" y="3898205"/>
            <a:ext cx="2529027" cy="577850"/>
          </a:xfrm>
          <a:prstGeom prst="rect">
            <a:avLst/>
          </a:prstGeom>
          <a:noFill/>
          <a:ln/>
        </p:spPr>
        <p:txBody>
          <a:bodyPr wrap="square" lIns="0" tIns="0" rIns="0" bIns="0" rtlCol="0" anchor="t">
            <a:normAutofit/>
          </a:bodyPr>
          <a:lstStyle/>
          <a:p>
            <a:pPr marL="0" indent="0" algn="l">
              <a:lnSpc>
                <a:spcPts val="2175"/>
              </a:lnSpc>
              <a:buNone/>
            </a:pPr>
            <a:r>
              <a:rPr lang="es-CO" sz="1500" noProof="0" dirty="0">
                <a:solidFill>
                  <a:srgbClr val="4A5070"/>
                </a:solidFill>
                <a:latin typeface="Nunito Sans" pitchFamily="34" charset="0"/>
                <a:ea typeface="Nunito Sans" pitchFamily="34" charset="-122"/>
                <a:cs typeface="Nunito Sans" pitchFamily="34" charset="-120"/>
              </a:rPr>
              <a:t>Mira qué pasó realmente. Muchas veces, nada grave.</a:t>
            </a:r>
            <a:endParaRPr lang="es-CO" sz="1500" noProof="0" dirty="0"/>
          </a:p>
        </p:txBody>
      </p:sp>
      <p:pic>
        <p:nvPicPr>
          <p:cNvPr id="13" name="Image 1" descr="arrow-right"/>
          <p:cNvPicPr>
            <a:picLocks noChangeAspect="1"/>
          </p:cNvPicPr>
          <p:nvPr/>
        </p:nvPicPr>
        <p:blipFill>
          <a:blip r:embed="rId3"/>
          <a:srcRect/>
          <a:stretch/>
        </p:blipFill>
        <p:spPr>
          <a:xfrm>
            <a:off x="7806234" y="3590230"/>
            <a:ext cx="355600" cy="203200"/>
          </a:xfrm>
          <a:prstGeom prst="rect">
            <a:avLst/>
          </a:prstGeom>
        </p:spPr>
      </p:pic>
      <p:sp>
        <p:nvSpPr>
          <p:cNvPr id="14" name="Shape 10"/>
          <p:cNvSpPr/>
          <p:nvPr/>
        </p:nvSpPr>
        <p:spPr>
          <a:xfrm>
            <a:off x="8314234" y="2628205"/>
            <a:ext cx="3064966" cy="2127250"/>
          </a:xfrm>
          <a:prstGeom prst="roundRect">
            <a:avLst>
              <a:gd name="adj" fmla="val 7164"/>
            </a:avLst>
          </a:prstGeom>
          <a:solidFill>
            <a:srgbClr val="E9ECF4"/>
          </a:solidFill>
          <a:ln/>
        </p:spPr>
        <p:txBody>
          <a:bodyPr/>
          <a:lstStyle/>
          <a:p>
            <a:endParaRPr lang="es-CO" noProof="0" dirty="0"/>
          </a:p>
        </p:txBody>
      </p:sp>
      <p:sp>
        <p:nvSpPr>
          <p:cNvPr id="15" name="Text 11"/>
          <p:cNvSpPr/>
          <p:nvPr/>
        </p:nvSpPr>
        <p:spPr>
          <a:xfrm>
            <a:off x="8619034" y="2933005"/>
            <a:ext cx="2529027" cy="431800"/>
          </a:xfrm>
          <a:prstGeom prst="rect">
            <a:avLst/>
          </a:prstGeom>
          <a:noFill/>
          <a:ln/>
        </p:spPr>
        <p:txBody>
          <a:bodyPr wrap="square" lIns="0" tIns="0" rIns="0" bIns="0" rtlCol="0" anchor="t">
            <a:normAutofit/>
          </a:bodyPr>
          <a:lstStyle/>
          <a:p>
            <a:pPr marL="0" indent="0" algn="l">
              <a:lnSpc>
                <a:spcPts val="3200"/>
              </a:lnSpc>
              <a:buNone/>
            </a:pPr>
            <a:r>
              <a:rPr lang="es-CO" sz="3200" noProof="0" dirty="0">
                <a:solidFill>
                  <a:srgbClr val="2F3EBF"/>
                </a:solidFill>
                <a:latin typeface="Fraunces" pitchFamily="18" charset="0"/>
                <a:ea typeface="Fraunces" pitchFamily="18" charset="-122"/>
                <a:cs typeface="Fraunces" pitchFamily="18" charset="-120"/>
              </a:rPr>
              <a:t>3</a:t>
            </a:r>
            <a:endParaRPr lang="es-CO" sz="3200" noProof="0" dirty="0"/>
          </a:p>
        </p:txBody>
      </p:sp>
      <p:sp>
        <p:nvSpPr>
          <p:cNvPr id="16" name="Text 12"/>
          <p:cNvSpPr/>
          <p:nvPr/>
        </p:nvSpPr>
        <p:spPr>
          <a:xfrm>
            <a:off x="8619034" y="3466405"/>
            <a:ext cx="2529027" cy="330200"/>
          </a:xfrm>
          <a:prstGeom prst="rect">
            <a:avLst/>
          </a:prstGeom>
          <a:noFill/>
          <a:ln/>
        </p:spPr>
        <p:txBody>
          <a:bodyPr wrap="square" lIns="0" tIns="0" rIns="0" bIns="0" rtlCol="0" anchor="t">
            <a:normAutofit/>
          </a:bodyPr>
          <a:lstStyle/>
          <a:p>
            <a:pPr marL="0" indent="0" algn="l">
              <a:lnSpc>
                <a:spcPts val="2400"/>
              </a:lnSpc>
              <a:buNone/>
            </a:pPr>
            <a:r>
              <a:rPr lang="es-CO" sz="2000" b="1" noProof="0" dirty="0">
                <a:solidFill>
                  <a:srgbClr val="1C2142"/>
                </a:solidFill>
                <a:latin typeface="Nunito Sans" pitchFamily="34" charset="0"/>
                <a:ea typeface="Nunito Sans" pitchFamily="34" charset="-122"/>
                <a:cs typeface="Nunito Sans" pitchFamily="34" charset="-120"/>
              </a:rPr>
              <a:t>Limpiar</a:t>
            </a:r>
            <a:endParaRPr lang="es-CO" sz="2000" noProof="0" dirty="0"/>
          </a:p>
        </p:txBody>
      </p:sp>
      <p:sp>
        <p:nvSpPr>
          <p:cNvPr id="17" name="Text 13"/>
          <p:cNvSpPr/>
          <p:nvPr/>
        </p:nvSpPr>
        <p:spPr>
          <a:xfrm>
            <a:off x="8619034" y="3898205"/>
            <a:ext cx="2529027" cy="577850"/>
          </a:xfrm>
          <a:prstGeom prst="rect">
            <a:avLst/>
          </a:prstGeom>
          <a:noFill/>
          <a:ln/>
        </p:spPr>
        <p:txBody>
          <a:bodyPr wrap="square" lIns="0" tIns="0" rIns="0" bIns="0" rtlCol="0" anchor="t">
            <a:normAutofit/>
          </a:bodyPr>
          <a:lstStyle/>
          <a:p>
            <a:pPr marL="0" indent="0" algn="l">
              <a:lnSpc>
                <a:spcPts val="2175"/>
              </a:lnSpc>
              <a:buNone/>
            </a:pPr>
            <a:r>
              <a:rPr lang="es-CO" sz="1500" noProof="0" dirty="0">
                <a:solidFill>
                  <a:srgbClr val="1C2142"/>
                </a:solidFill>
                <a:latin typeface="Nunito Sans" pitchFamily="34" charset="0"/>
                <a:ea typeface="Nunito Sans" pitchFamily="34" charset="-122"/>
                <a:cs typeface="Nunito Sans" pitchFamily="34" charset="-120"/>
              </a:rPr>
              <a:t>Cambia lo necesario y te avisa cuando todo está bien.</a:t>
            </a:r>
            <a:endParaRPr lang="es-CO" sz="1500" noProof="0" dirty="0"/>
          </a:p>
        </p:txBody>
      </p:sp>
      <p:sp>
        <p:nvSpPr>
          <p:cNvPr id="18" name="Text 14"/>
          <p:cNvSpPr/>
          <p:nvPr/>
        </p:nvSpPr>
        <p:spPr>
          <a:xfrm>
            <a:off x="812800" y="5539780"/>
            <a:ext cx="10883392" cy="327620"/>
          </a:xfrm>
          <a:prstGeom prst="rect">
            <a:avLst/>
          </a:prstGeom>
          <a:noFill/>
          <a:ln/>
        </p:spPr>
        <p:txBody>
          <a:bodyPr wrap="square" lIns="0" tIns="0" rIns="0" bIns="0" rtlCol="0" anchor="t">
            <a:normAutofit/>
          </a:bodyPr>
          <a:lstStyle/>
          <a:p>
            <a:pPr marL="0" indent="0" algn="l">
              <a:lnSpc>
                <a:spcPts val="2380"/>
              </a:lnSpc>
              <a:buNone/>
            </a:pPr>
            <a:r>
              <a:rPr lang="es-CO" sz="1700" noProof="0" dirty="0">
                <a:solidFill>
                  <a:srgbClr val="4A5070"/>
                </a:solidFill>
                <a:latin typeface="Nunito Sans" pitchFamily="34" charset="0"/>
                <a:ea typeface="Nunito Sans" pitchFamily="34" charset="-122"/>
                <a:cs typeface="Nunito Sans" pitchFamily="34" charset="-120"/>
              </a:rPr>
              <a:t>Nadie te va a regañar. Lo que se busca es entender, no señalar.</a:t>
            </a:r>
            <a:endParaRPr lang="es-CO" sz="1700" noProof="0" dirty="0"/>
          </a:p>
        </p:txBody>
      </p:sp>
      <p:pic>
        <p:nvPicPr>
          <p:cNvPr id="19" name="Image 2" descr="Pralogy"/>
          <p:cNvPicPr>
            <a:picLocks noChangeAspect="1"/>
          </p:cNvPicPr>
          <p:nvPr/>
        </p:nvPicPr>
        <p:blipFill>
          <a:blip r:embed="rId4"/>
          <a:srcRect l="-62" r="-62"/>
          <a:stretch/>
        </p:blipFill>
        <p:spPr>
          <a:xfrm>
            <a:off x="812800" y="6273800"/>
            <a:ext cx="1111250" cy="228600"/>
          </a:xfrm>
          <a:prstGeom prst="rect">
            <a:avLst/>
          </a:prstGeom>
        </p:spPr>
      </p:pic>
      <p:sp>
        <p:nvSpPr>
          <p:cNvPr id="20" name="Text 15"/>
          <p:cNvSpPr/>
          <p:nvPr/>
        </p:nvSpPr>
        <p:spPr>
          <a:xfrm>
            <a:off x="11145441" y="6281440"/>
            <a:ext cx="233759"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solidFill>
                  <a:srgbClr val="6B7085"/>
                </a:solidFill>
                <a:latin typeface="Nunito Sans" pitchFamily="34" charset="0"/>
                <a:ea typeface="Nunito Sans" pitchFamily="34" charset="-122"/>
                <a:cs typeface="Nunito Sans" pitchFamily="34" charset="-120"/>
              </a:rPr>
              <a:t>24</a:t>
            </a:r>
            <a:endParaRPr lang="es-CO" sz="1200"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5">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64791"/>
            <a:ext cx="4426506" cy="274241"/>
          </a:xfrm>
          <a:prstGeom prst="rect">
            <a:avLst/>
          </a:prstGeom>
          <a:noFill/>
          <a:ln/>
        </p:spPr>
        <p:txBody>
          <a:bodyPr wrap="square" lIns="0" tIns="0" rIns="0" bIns="0" rtlCol="0" anchor="t">
            <a:normAutofit/>
          </a:bodyPr>
          <a:lstStyle/>
          <a:p>
            <a:pPr marL="0" indent="0" algn="l">
              <a:lnSpc>
                <a:spcPts val="1960"/>
              </a:lnSpc>
              <a:buNone/>
            </a:pPr>
            <a:r>
              <a:rPr lang="es-CO" sz="1400" b="1" kern="0" spc="150" noProof="0" dirty="0">
                <a:solidFill>
                  <a:srgbClr val="2F3EBF"/>
                </a:solidFill>
                <a:latin typeface="Nunito Sans" pitchFamily="34" charset="0"/>
                <a:ea typeface="Nunito Sans" pitchFamily="34" charset="-122"/>
                <a:cs typeface="Nunito Sans" pitchFamily="34" charset="-120"/>
              </a:rPr>
              <a:t>TÓMALE FOTO A ESTA DIAPOSITIVA</a:t>
            </a:r>
            <a:endParaRPr lang="es-CO" sz="1400" noProof="0" dirty="0"/>
          </a:p>
        </p:txBody>
      </p:sp>
      <p:sp>
        <p:nvSpPr>
          <p:cNvPr id="3" name="Text 1"/>
          <p:cNvSpPr/>
          <p:nvPr/>
        </p:nvSpPr>
        <p:spPr>
          <a:xfrm>
            <a:off x="9535716" y="806351"/>
            <a:ext cx="1843484" cy="365720"/>
          </a:xfrm>
          <a:prstGeom prst="roundRect">
            <a:avLst>
              <a:gd name="adj" fmla="val 50000"/>
            </a:avLst>
          </a:prstGeom>
          <a:solidFill>
            <a:srgbClr val="E9ECF4"/>
          </a:solidFill>
          <a:ln/>
        </p:spPr>
        <p:txBody>
          <a:bodyPr wrap="none" lIns="0" tIns="0" rIns="0" bIns="0" rtlCol="0" anchor="ctr">
            <a:normAutofit/>
          </a:bodyPr>
          <a:lstStyle/>
          <a:p>
            <a:pPr marL="0" indent="0" algn="ctr">
              <a:lnSpc>
                <a:spcPts val="1680"/>
              </a:lnSpc>
              <a:buNone/>
            </a:pPr>
            <a:r>
              <a:rPr lang="es-CO" sz="1200" b="1" noProof="0" dirty="0">
                <a:solidFill>
                  <a:srgbClr val="2F3EBF"/>
                </a:solidFill>
                <a:latin typeface="Nunito Sans" pitchFamily="34" charset="0"/>
                <a:ea typeface="Nunito Sans" pitchFamily="34" charset="-122"/>
                <a:cs typeface="Nunito Sans" pitchFamily="34" charset="-120"/>
              </a:rPr>
              <a:t>Guion de emergencia</a:t>
            </a:r>
            <a:endParaRPr lang="es-CO" sz="1200" noProof="0" dirty="0"/>
          </a:p>
        </p:txBody>
      </p:sp>
      <p:sp>
        <p:nvSpPr>
          <p:cNvPr id="4" name="Text 2"/>
          <p:cNvSpPr>
            <a:spLocks noGrp="1"/>
          </p:cNvSpPr>
          <p:nvPr>
            <p:ph type="title"/>
          </p:nvPr>
        </p:nvSpPr>
        <p:spPr>
          <a:xfrm>
            <a:off x="812800" y="1419622"/>
            <a:ext cx="10883392" cy="510480"/>
          </a:xfrm>
          <a:prstGeom prst="rect">
            <a:avLst/>
          </a:prstGeom>
          <a:noFill/>
          <a:ln/>
        </p:spPr>
        <p:txBody>
          <a:bodyPr wrap="square" lIns="0" tIns="0" rIns="0" bIns="0" rtlCol="0" anchor="t">
            <a:normAutofit/>
          </a:bodyPr>
          <a:lstStyle/>
          <a:p>
            <a:pPr marL="0" indent="0" algn="l">
              <a:lnSpc>
                <a:spcPts val="3824"/>
              </a:lnSpc>
              <a:buNone/>
            </a:pPr>
            <a:r>
              <a:rPr lang="es-CO" sz="3476" b="0" i="0" noProof="0" dirty="0">
                <a:solidFill>
                  <a:srgbClr val="1C2142"/>
                </a:solidFill>
                <a:latin typeface="Fraunces" pitchFamily="18" charset="0"/>
                <a:ea typeface="Fraunces" pitchFamily="18" charset="-122"/>
                <a:cs typeface="Fraunces" pitchFamily="18" charset="-120"/>
              </a:rPr>
              <a:t>«Creo que hice clic en algo raro»</a:t>
            </a:r>
            <a:endParaRPr lang="es-CO" sz="3476" noProof="0" dirty="0"/>
          </a:p>
        </p:txBody>
      </p:sp>
      <p:sp>
        <p:nvSpPr>
          <p:cNvPr id="5" name="Shape 3"/>
          <p:cNvSpPr/>
          <p:nvPr/>
        </p:nvSpPr>
        <p:spPr>
          <a:xfrm>
            <a:off x="819150" y="2165052"/>
            <a:ext cx="10553700" cy="3670598"/>
          </a:xfrm>
          <a:prstGeom prst="roundRect">
            <a:avLst>
              <a:gd name="adj" fmla="val 3979"/>
            </a:avLst>
          </a:prstGeom>
          <a:solidFill>
            <a:srgbClr val="FCFBF8"/>
          </a:solidFill>
          <a:ln w="12700">
            <a:solidFill>
              <a:srgbClr val="DDE0EA"/>
            </a:solidFill>
            <a:prstDash val="solid"/>
          </a:ln>
        </p:spPr>
        <p:txBody>
          <a:bodyPr/>
          <a:lstStyle/>
          <a:p>
            <a:endParaRPr lang="es-CO" noProof="0" dirty="0"/>
          </a:p>
        </p:txBody>
      </p:sp>
      <p:sp>
        <p:nvSpPr>
          <p:cNvPr id="6" name="Shape 4"/>
          <p:cNvSpPr/>
          <p:nvPr/>
        </p:nvSpPr>
        <p:spPr>
          <a:xfrm>
            <a:off x="1130300" y="2960191"/>
            <a:ext cx="9931400" cy="0"/>
          </a:xfrm>
          <a:prstGeom prst="line">
            <a:avLst/>
          </a:prstGeom>
          <a:noFill/>
          <a:ln w="12700">
            <a:solidFill>
              <a:srgbClr val="E9ECF4"/>
            </a:solidFill>
            <a:prstDash val="solid"/>
          </a:ln>
        </p:spPr>
        <p:txBody>
          <a:bodyPr/>
          <a:lstStyle/>
          <a:p>
            <a:endParaRPr lang="es-CO" noProof="0" dirty="0"/>
          </a:p>
        </p:txBody>
      </p:sp>
      <p:sp>
        <p:nvSpPr>
          <p:cNvPr id="7" name="Text 5"/>
          <p:cNvSpPr/>
          <p:nvPr/>
        </p:nvSpPr>
        <p:spPr>
          <a:xfrm>
            <a:off x="1130300" y="2400102"/>
            <a:ext cx="406400" cy="452041"/>
          </a:xfrm>
          <a:prstGeom prst="rect">
            <a:avLst/>
          </a:prstGeom>
          <a:noFill/>
          <a:ln/>
        </p:spPr>
        <p:txBody>
          <a:bodyPr wrap="square" lIns="0" tIns="0" rIns="0" bIns="0" rtlCol="0" anchor="t">
            <a:normAutofit/>
          </a:bodyPr>
          <a:lstStyle/>
          <a:p>
            <a:pPr marL="0" indent="0" algn="l">
              <a:lnSpc>
                <a:spcPts val="3360"/>
              </a:lnSpc>
              <a:buNone/>
            </a:pPr>
            <a:r>
              <a:rPr lang="es-CO" sz="2400" noProof="0" dirty="0">
                <a:solidFill>
                  <a:srgbClr val="2F3EBF"/>
                </a:solidFill>
                <a:latin typeface="Fraunces" pitchFamily="18" charset="0"/>
                <a:ea typeface="Fraunces" pitchFamily="18" charset="-122"/>
                <a:cs typeface="Fraunces" pitchFamily="18" charset="-120"/>
              </a:rPr>
              <a:t>1</a:t>
            </a:r>
            <a:endParaRPr lang="es-CO" sz="2400" noProof="0" dirty="0"/>
          </a:p>
        </p:txBody>
      </p:sp>
      <p:sp>
        <p:nvSpPr>
          <p:cNvPr id="8" name="Text 6"/>
          <p:cNvSpPr/>
          <p:nvPr/>
        </p:nvSpPr>
        <p:spPr>
          <a:xfrm>
            <a:off x="1714500" y="2476302"/>
            <a:ext cx="4622244" cy="299641"/>
          </a:xfrm>
          <a:prstGeom prst="rect">
            <a:avLst/>
          </a:prstGeom>
          <a:noFill/>
          <a:ln/>
        </p:spPr>
        <p:txBody>
          <a:bodyPr wrap="square" lIns="0" tIns="0" rIns="0" bIns="0" rtlCol="0" anchor="t">
            <a:normAutofit/>
          </a:bodyPr>
          <a:lstStyle/>
          <a:p>
            <a:pPr marL="0" indent="0" algn="l">
              <a:lnSpc>
                <a:spcPts val="2160"/>
              </a:lnSpc>
              <a:buNone/>
            </a:pPr>
            <a:r>
              <a:rPr lang="es-CO" sz="1600" noProof="0" dirty="0">
                <a:solidFill>
                  <a:srgbClr val="1C2142"/>
                </a:solidFill>
                <a:latin typeface="Nunito Sans" pitchFamily="34" charset="0"/>
                <a:ea typeface="Nunito Sans" pitchFamily="34" charset="-122"/>
                <a:cs typeface="Nunito Sans" pitchFamily="34" charset="-120"/>
              </a:rPr>
              <a:t>No apagues el computador ni borres nada.</a:t>
            </a:r>
            <a:endParaRPr lang="es-CO" sz="1600" noProof="0" dirty="0"/>
          </a:p>
        </p:txBody>
      </p:sp>
      <p:sp>
        <p:nvSpPr>
          <p:cNvPr id="9" name="Shape 7"/>
          <p:cNvSpPr/>
          <p:nvPr/>
        </p:nvSpPr>
        <p:spPr>
          <a:xfrm>
            <a:off x="1130300" y="3653631"/>
            <a:ext cx="9931400" cy="0"/>
          </a:xfrm>
          <a:prstGeom prst="line">
            <a:avLst/>
          </a:prstGeom>
          <a:noFill/>
          <a:ln w="12700">
            <a:solidFill>
              <a:srgbClr val="E9ECF4"/>
            </a:solidFill>
            <a:prstDash val="solid"/>
          </a:ln>
        </p:spPr>
        <p:txBody>
          <a:bodyPr/>
          <a:lstStyle/>
          <a:p>
            <a:endParaRPr lang="es-CO" noProof="0" dirty="0"/>
          </a:p>
        </p:txBody>
      </p:sp>
      <p:sp>
        <p:nvSpPr>
          <p:cNvPr id="10" name="Text 8"/>
          <p:cNvSpPr/>
          <p:nvPr/>
        </p:nvSpPr>
        <p:spPr>
          <a:xfrm>
            <a:off x="1130300" y="3093641"/>
            <a:ext cx="406400" cy="452041"/>
          </a:xfrm>
          <a:prstGeom prst="rect">
            <a:avLst/>
          </a:prstGeom>
          <a:noFill/>
          <a:ln/>
        </p:spPr>
        <p:txBody>
          <a:bodyPr wrap="square" lIns="0" tIns="0" rIns="0" bIns="0" rtlCol="0" anchor="t">
            <a:normAutofit/>
          </a:bodyPr>
          <a:lstStyle/>
          <a:p>
            <a:pPr marL="0" indent="0" algn="l">
              <a:lnSpc>
                <a:spcPts val="3360"/>
              </a:lnSpc>
              <a:buNone/>
            </a:pPr>
            <a:r>
              <a:rPr lang="es-CO" sz="2400" noProof="0" dirty="0">
                <a:solidFill>
                  <a:srgbClr val="2F3EBF"/>
                </a:solidFill>
                <a:latin typeface="Fraunces" pitchFamily="18" charset="0"/>
                <a:ea typeface="Fraunces" pitchFamily="18" charset="-122"/>
                <a:cs typeface="Fraunces" pitchFamily="18" charset="-120"/>
              </a:rPr>
              <a:t>2</a:t>
            </a:r>
            <a:endParaRPr lang="es-CO" sz="2400" noProof="0" dirty="0"/>
          </a:p>
        </p:txBody>
      </p:sp>
      <p:sp>
        <p:nvSpPr>
          <p:cNvPr id="11" name="Text 9"/>
          <p:cNvSpPr/>
          <p:nvPr/>
        </p:nvSpPr>
        <p:spPr>
          <a:xfrm>
            <a:off x="1714500" y="3169741"/>
            <a:ext cx="7251740" cy="299641"/>
          </a:xfrm>
          <a:prstGeom prst="rect">
            <a:avLst/>
          </a:prstGeom>
          <a:noFill/>
          <a:ln/>
        </p:spPr>
        <p:txBody>
          <a:bodyPr wrap="square" lIns="0" tIns="0" rIns="0" bIns="0" rtlCol="0" anchor="t">
            <a:normAutofit/>
          </a:bodyPr>
          <a:lstStyle/>
          <a:p>
            <a:pPr marL="0" indent="0" algn="l">
              <a:lnSpc>
                <a:spcPts val="2160"/>
              </a:lnSpc>
              <a:buNone/>
            </a:pPr>
            <a:r>
              <a:rPr lang="es-CO" sz="1600" noProof="0" dirty="0">
                <a:solidFill>
                  <a:srgbClr val="1C2142"/>
                </a:solidFill>
                <a:latin typeface="Nunito Sans" pitchFamily="34" charset="0"/>
                <a:ea typeface="Nunito Sans" pitchFamily="34" charset="-122"/>
                <a:cs typeface="Nunito Sans" pitchFamily="34" charset="-120"/>
              </a:rPr>
              <a:t>Desconéctalo del wifi o del cable, si sabes cómo. Si no, no importa.</a:t>
            </a:r>
            <a:endParaRPr lang="es-CO" sz="1600" noProof="0" dirty="0"/>
          </a:p>
        </p:txBody>
      </p:sp>
      <p:sp>
        <p:nvSpPr>
          <p:cNvPr id="12" name="Shape 10"/>
          <p:cNvSpPr/>
          <p:nvPr/>
        </p:nvSpPr>
        <p:spPr>
          <a:xfrm>
            <a:off x="1130300" y="4347170"/>
            <a:ext cx="9931400" cy="0"/>
          </a:xfrm>
          <a:prstGeom prst="line">
            <a:avLst/>
          </a:prstGeom>
          <a:noFill/>
          <a:ln w="12700">
            <a:solidFill>
              <a:srgbClr val="E9ECF4"/>
            </a:solidFill>
            <a:prstDash val="solid"/>
          </a:ln>
        </p:spPr>
        <p:txBody>
          <a:bodyPr/>
          <a:lstStyle/>
          <a:p>
            <a:endParaRPr lang="es-CO" noProof="0" dirty="0"/>
          </a:p>
        </p:txBody>
      </p:sp>
      <p:sp>
        <p:nvSpPr>
          <p:cNvPr id="13" name="Text 11"/>
          <p:cNvSpPr/>
          <p:nvPr/>
        </p:nvSpPr>
        <p:spPr>
          <a:xfrm>
            <a:off x="1130300" y="3787080"/>
            <a:ext cx="406400" cy="452041"/>
          </a:xfrm>
          <a:prstGeom prst="rect">
            <a:avLst/>
          </a:prstGeom>
          <a:noFill/>
          <a:ln/>
        </p:spPr>
        <p:txBody>
          <a:bodyPr wrap="square" lIns="0" tIns="0" rIns="0" bIns="0" rtlCol="0" anchor="t">
            <a:normAutofit/>
          </a:bodyPr>
          <a:lstStyle/>
          <a:p>
            <a:pPr marL="0" indent="0" algn="l">
              <a:lnSpc>
                <a:spcPts val="3360"/>
              </a:lnSpc>
              <a:buNone/>
            </a:pPr>
            <a:r>
              <a:rPr lang="es-CO" sz="2400" noProof="0" dirty="0">
                <a:solidFill>
                  <a:srgbClr val="2F3EBF"/>
                </a:solidFill>
                <a:latin typeface="Fraunces" pitchFamily="18" charset="0"/>
                <a:ea typeface="Fraunces" pitchFamily="18" charset="-122"/>
                <a:cs typeface="Fraunces" pitchFamily="18" charset="-120"/>
              </a:rPr>
              <a:t>3</a:t>
            </a:r>
            <a:endParaRPr lang="es-CO" sz="2400" noProof="0" dirty="0"/>
          </a:p>
        </p:txBody>
      </p:sp>
      <p:sp>
        <p:nvSpPr>
          <p:cNvPr id="14" name="Text 12"/>
          <p:cNvSpPr/>
          <p:nvPr/>
        </p:nvSpPr>
        <p:spPr>
          <a:xfrm>
            <a:off x="1714500" y="3863280"/>
            <a:ext cx="7539871" cy="299641"/>
          </a:xfrm>
          <a:prstGeom prst="rect">
            <a:avLst/>
          </a:prstGeom>
          <a:noFill/>
          <a:ln/>
        </p:spPr>
        <p:txBody>
          <a:bodyPr wrap="square" lIns="0" tIns="0" rIns="0" bIns="0" rtlCol="0" anchor="t">
            <a:normAutofit/>
          </a:bodyPr>
          <a:lstStyle/>
          <a:p>
            <a:pPr marL="0" indent="0" algn="l">
              <a:lnSpc>
                <a:spcPts val="2160"/>
              </a:lnSpc>
              <a:buNone/>
            </a:pPr>
            <a:r>
              <a:rPr lang="es-CO" sz="1600" noProof="0" dirty="0">
                <a:solidFill>
                  <a:srgbClr val="1C2142"/>
                </a:solidFill>
                <a:latin typeface="Nunito Sans" pitchFamily="34" charset="0"/>
                <a:ea typeface="Nunito Sans" pitchFamily="34" charset="-122"/>
                <a:cs typeface="Nunito Sans" pitchFamily="34" charset="-120"/>
              </a:rPr>
              <a:t>Avisa a [canal de reporte]: «Hice clic a las [hora] en [correo o enlace]».</a:t>
            </a:r>
            <a:endParaRPr lang="es-CO" sz="1600" noProof="0" dirty="0"/>
          </a:p>
        </p:txBody>
      </p:sp>
      <p:sp>
        <p:nvSpPr>
          <p:cNvPr id="15" name="Shape 13"/>
          <p:cNvSpPr/>
          <p:nvPr/>
        </p:nvSpPr>
        <p:spPr>
          <a:xfrm>
            <a:off x="1130300" y="5040610"/>
            <a:ext cx="9931400" cy="0"/>
          </a:xfrm>
          <a:prstGeom prst="line">
            <a:avLst/>
          </a:prstGeom>
          <a:noFill/>
          <a:ln w="12700">
            <a:solidFill>
              <a:srgbClr val="E9ECF4"/>
            </a:solidFill>
            <a:prstDash val="solid"/>
          </a:ln>
        </p:spPr>
        <p:txBody>
          <a:bodyPr/>
          <a:lstStyle/>
          <a:p>
            <a:endParaRPr lang="es-CO" noProof="0" dirty="0"/>
          </a:p>
        </p:txBody>
      </p:sp>
      <p:sp>
        <p:nvSpPr>
          <p:cNvPr id="16" name="Text 14"/>
          <p:cNvSpPr/>
          <p:nvPr/>
        </p:nvSpPr>
        <p:spPr>
          <a:xfrm>
            <a:off x="1130300" y="4480620"/>
            <a:ext cx="406400" cy="452041"/>
          </a:xfrm>
          <a:prstGeom prst="rect">
            <a:avLst/>
          </a:prstGeom>
          <a:noFill/>
          <a:ln/>
        </p:spPr>
        <p:txBody>
          <a:bodyPr wrap="square" lIns="0" tIns="0" rIns="0" bIns="0" rtlCol="0" anchor="t">
            <a:normAutofit/>
          </a:bodyPr>
          <a:lstStyle/>
          <a:p>
            <a:pPr marL="0" indent="0" algn="l">
              <a:lnSpc>
                <a:spcPts val="3360"/>
              </a:lnSpc>
              <a:buNone/>
            </a:pPr>
            <a:r>
              <a:rPr lang="es-CO" sz="2400" noProof="0" dirty="0">
                <a:solidFill>
                  <a:srgbClr val="2F3EBF"/>
                </a:solidFill>
                <a:latin typeface="Fraunces" pitchFamily="18" charset="0"/>
                <a:ea typeface="Fraunces" pitchFamily="18" charset="-122"/>
                <a:cs typeface="Fraunces" pitchFamily="18" charset="-120"/>
              </a:rPr>
              <a:t>4</a:t>
            </a:r>
            <a:endParaRPr lang="es-CO" sz="2400" noProof="0" dirty="0"/>
          </a:p>
        </p:txBody>
      </p:sp>
      <p:sp>
        <p:nvSpPr>
          <p:cNvPr id="17" name="Text 15"/>
          <p:cNvSpPr/>
          <p:nvPr/>
        </p:nvSpPr>
        <p:spPr>
          <a:xfrm>
            <a:off x="1714500" y="4556720"/>
            <a:ext cx="6638211" cy="299641"/>
          </a:xfrm>
          <a:prstGeom prst="rect">
            <a:avLst/>
          </a:prstGeom>
          <a:noFill/>
          <a:ln/>
        </p:spPr>
        <p:txBody>
          <a:bodyPr wrap="square" lIns="0" tIns="0" rIns="0" bIns="0" rtlCol="0" anchor="t">
            <a:normAutofit/>
          </a:bodyPr>
          <a:lstStyle/>
          <a:p>
            <a:pPr marL="0" indent="0" algn="l">
              <a:lnSpc>
                <a:spcPts val="2160"/>
              </a:lnSpc>
              <a:buNone/>
            </a:pPr>
            <a:r>
              <a:rPr lang="es-CO" sz="1600" noProof="0" dirty="0">
                <a:solidFill>
                  <a:srgbClr val="1C2142"/>
                </a:solidFill>
                <a:latin typeface="Nunito Sans" pitchFamily="34" charset="0"/>
                <a:ea typeface="Nunito Sans" pitchFamily="34" charset="-122"/>
                <a:cs typeface="Nunito Sans" pitchFamily="34" charset="-120"/>
              </a:rPr>
              <a:t>Si escribiste una contraseña, cámbiala desde otro dispositivo.</a:t>
            </a:r>
            <a:endParaRPr lang="es-CO" sz="1600" noProof="0" dirty="0"/>
          </a:p>
        </p:txBody>
      </p:sp>
      <p:sp>
        <p:nvSpPr>
          <p:cNvPr id="18" name="Text 16"/>
          <p:cNvSpPr/>
          <p:nvPr/>
        </p:nvSpPr>
        <p:spPr>
          <a:xfrm>
            <a:off x="1130300" y="5174059"/>
            <a:ext cx="406400" cy="452041"/>
          </a:xfrm>
          <a:prstGeom prst="rect">
            <a:avLst/>
          </a:prstGeom>
          <a:noFill/>
          <a:ln/>
        </p:spPr>
        <p:txBody>
          <a:bodyPr wrap="square" lIns="0" tIns="0" rIns="0" bIns="0" rtlCol="0" anchor="t">
            <a:normAutofit/>
          </a:bodyPr>
          <a:lstStyle/>
          <a:p>
            <a:pPr marL="0" indent="0" algn="l">
              <a:lnSpc>
                <a:spcPts val="3360"/>
              </a:lnSpc>
              <a:buNone/>
            </a:pPr>
            <a:r>
              <a:rPr lang="es-CO" sz="2400" noProof="0" dirty="0">
                <a:solidFill>
                  <a:srgbClr val="2F3EBF"/>
                </a:solidFill>
                <a:latin typeface="Fraunces" pitchFamily="18" charset="0"/>
                <a:ea typeface="Fraunces" pitchFamily="18" charset="-122"/>
                <a:cs typeface="Fraunces" pitchFamily="18" charset="-120"/>
              </a:rPr>
              <a:t>5</a:t>
            </a:r>
            <a:endParaRPr lang="es-CO" sz="2400" noProof="0" dirty="0"/>
          </a:p>
        </p:txBody>
      </p:sp>
      <p:sp>
        <p:nvSpPr>
          <p:cNvPr id="19" name="Text 17"/>
          <p:cNvSpPr/>
          <p:nvPr/>
        </p:nvSpPr>
        <p:spPr>
          <a:xfrm>
            <a:off x="1714500" y="5250160"/>
            <a:ext cx="3360896" cy="299641"/>
          </a:xfrm>
          <a:prstGeom prst="rect">
            <a:avLst/>
          </a:prstGeom>
          <a:noFill/>
          <a:ln/>
        </p:spPr>
        <p:txBody>
          <a:bodyPr wrap="square" lIns="0" tIns="0" rIns="0" bIns="0" rtlCol="0" anchor="t">
            <a:normAutofit/>
          </a:bodyPr>
          <a:lstStyle/>
          <a:p>
            <a:pPr marL="0" indent="0" algn="l">
              <a:lnSpc>
                <a:spcPts val="2160"/>
              </a:lnSpc>
              <a:buNone/>
            </a:pPr>
            <a:r>
              <a:rPr lang="es-CO" sz="1600" b="1" noProof="0" dirty="0">
                <a:solidFill>
                  <a:srgbClr val="1C2142"/>
                </a:solidFill>
                <a:latin typeface="Nunito Sans" pitchFamily="34" charset="0"/>
                <a:ea typeface="Nunito Sans" pitchFamily="34" charset="-122"/>
                <a:cs typeface="Nunito Sans" pitchFamily="34" charset="-120"/>
              </a:rPr>
              <a:t>Respira. Ya hiciste lo correcto.</a:t>
            </a:r>
            <a:endParaRPr lang="es-CO" sz="1600" noProof="0" dirty="0"/>
          </a:p>
        </p:txBody>
      </p:sp>
      <p:pic>
        <p:nvPicPr>
          <p:cNvPr id="20" name="Image 0" descr="Pralogy"/>
          <p:cNvPicPr>
            <a:picLocks noChangeAspect="1"/>
          </p:cNvPicPr>
          <p:nvPr/>
        </p:nvPicPr>
        <p:blipFill>
          <a:blip r:embed="rId3"/>
          <a:srcRect l="-62" r="-62"/>
          <a:stretch/>
        </p:blipFill>
        <p:spPr>
          <a:xfrm>
            <a:off x="812800" y="6273800"/>
            <a:ext cx="1111250" cy="228600"/>
          </a:xfrm>
          <a:prstGeom prst="rect">
            <a:avLst/>
          </a:prstGeom>
        </p:spPr>
      </p:pic>
      <p:sp>
        <p:nvSpPr>
          <p:cNvPr id="21" name="Text 18"/>
          <p:cNvSpPr/>
          <p:nvPr/>
        </p:nvSpPr>
        <p:spPr>
          <a:xfrm>
            <a:off x="11145441" y="6281440"/>
            <a:ext cx="233759"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solidFill>
                  <a:srgbClr val="6B7085"/>
                </a:solidFill>
                <a:latin typeface="Nunito Sans" pitchFamily="34" charset="0"/>
                <a:ea typeface="Nunito Sans" pitchFamily="34" charset="-122"/>
                <a:cs typeface="Nunito Sans" pitchFamily="34" charset="-120"/>
              </a:rPr>
              <a:t>25</a:t>
            </a:r>
            <a:endParaRPr lang="es-CO" sz="1200"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1C214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s-CO" sz="1400" b="1" kern="0" spc="150" noProof="0" dirty="0">
                <a:solidFill>
                  <a:srgbClr val="9DA8F2"/>
                </a:solidFill>
                <a:latin typeface="Nunito Sans" pitchFamily="34" charset="0"/>
                <a:ea typeface="Nunito Sans" pitchFamily="34" charset="-122"/>
                <a:cs typeface="Nunito Sans" pitchFamily="34" charset="-120"/>
              </a:rPr>
              <a:t>PARA LLEVAR</a:t>
            </a:r>
            <a:endParaRPr lang="es-CO" sz="1400" noProof="0" dirty="0"/>
          </a:p>
        </p:txBody>
      </p:sp>
      <p:sp>
        <p:nvSpPr>
          <p:cNvPr id="3" name="Text 1"/>
          <p:cNvSpPr>
            <a:spLocks noGrp="1"/>
          </p:cNvSpPr>
          <p:nvPr>
            <p:ph type="title"/>
          </p:nvPr>
        </p:nvSpPr>
        <p:spPr>
          <a:xfrm>
            <a:off x="812800" y="1366441"/>
            <a:ext cx="10883392" cy="584200"/>
          </a:xfrm>
          <a:prstGeom prst="rect">
            <a:avLst/>
          </a:prstGeom>
          <a:noFill/>
          <a:ln/>
        </p:spPr>
        <p:txBody>
          <a:bodyPr wrap="square" lIns="0" tIns="0" rIns="0" bIns="0" rtlCol="0" anchor="t">
            <a:normAutofit/>
          </a:bodyPr>
          <a:lstStyle/>
          <a:p>
            <a:pPr marL="0" indent="0" algn="l">
              <a:lnSpc>
                <a:spcPts val="4400"/>
              </a:lnSpc>
              <a:buNone/>
            </a:pPr>
            <a:r>
              <a:rPr lang="es-CO" sz="4000" b="0" i="0" noProof="0" dirty="0">
                <a:solidFill>
                  <a:srgbClr val="F6F5F1"/>
                </a:solidFill>
                <a:latin typeface="Fraunces" pitchFamily="18" charset="0"/>
                <a:ea typeface="Fraunces" pitchFamily="18" charset="-122"/>
                <a:cs typeface="Fraunces" pitchFamily="18" charset="-120"/>
              </a:rPr>
              <a:t>Cuatro ideas para tu tranquilidad</a:t>
            </a:r>
            <a:endParaRPr lang="es-CO" sz="4000" noProof="0" dirty="0"/>
          </a:p>
        </p:txBody>
      </p:sp>
      <p:sp>
        <p:nvSpPr>
          <p:cNvPr id="4" name="Shape 2"/>
          <p:cNvSpPr/>
          <p:nvPr/>
        </p:nvSpPr>
        <p:spPr>
          <a:xfrm>
            <a:off x="812800" y="2230041"/>
            <a:ext cx="5194300" cy="1818680"/>
          </a:xfrm>
          <a:prstGeom prst="roundRect">
            <a:avLst>
              <a:gd name="adj" fmla="val 8380"/>
            </a:avLst>
          </a:prstGeom>
          <a:solidFill>
            <a:srgbClr val="252B55"/>
          </a:solidFill>
          <a:ln/>
        </p:spPr>
        <p:txBody>
          <a:bodyPr/>
          <a:lstStyle/>
          <a:p>
            <a:endParaRPr lang="es-CO" noProof="0" dirty="0"/>
          </a:p>
        </p:txBody>
      </p:sp>
      <p:pic>
        <p:nvPicPr>
          <p:cNvPr id="5" name="Image 0" descr="Clock"/>
          <p:cNvPicPr>
            <a:picLocks noChangeAspect="1"/>
          </p:cNvPicPr>
          <p:nvPr/>
        </p:nvPicPr>
        <p:blipFill>
          <a:blip r:embed="rId3"/>
          <a:srcRect l="-443" r="-443"/>
          <a:stretch/>
        </p:blipFill>
        <p:spPr>
          <a:xfrm>
            <a:off x="1066800" y="2484041"/>
            <a:ext cx="237034" cy="355600"/>
          </a:xfrm>
          <a:prstGeom prst="rect">
            <a:avLst/>
          </a:prstGeom>
        </p:spPr>
      </p:pic>
      <p:sp>
        <p:nvSpPr>
          <p:cNvPr id="6" name="Text 3"/>
          <p:cNvSpPr/>
          <p:nvPr/>
        </p:nvSpPr>
        <p:spPr>
          <a:xfrm>
            <a:off x="1481634" y="2484041"/>
            <a:ext cx="4399610" cy="1336080"/>
          </a:xfrm>
          <a:prstGeom prst="rect">
            <a:avLst/>
          </a:prstGeom>
          <a:noFill/>
          <a:ln/>
        </p:spPr>
        <p:txBody>
          <a:bodyPr wrap="square" lIns="0" tIns="0" rIns="0" bIns="0" rtlCol="0" anchor="t">
            <a:normAutofit/>
          </a:bodyPr>
          <a:lstStyle/>
          <a:p>
            <a:pPr marL="0" indent="0" algn="l">
              <a:lnSpc>
                <a:spcPts val="2320"/>
              </a:lnSpc>
              <a:buNone/>
            </a:pPr>
            <a:r>
              <a:rPr lang="es-CO" sz="1600" noProof="0" dirty="0">
                <a:solidFill>
                  <a:srgbClr val="E4E7F5"/>
                </a:solidFill>
                <a:latin typeface="Nunito Sans" pitchFamily="34" charset="0"/>
                <a:ea typeface="Nunito Sans" pitchFamily="34" charset="-122"/>
                <a:cs typeface="Nunito Sans" pitchFamily="34" charset="-120"/>
              </a:rPr>
              <a:t>Las emergencias reales permiten verificar. Tienes permiso para pausar.</a:t>
            </a:r>
            <a:endParaRPr lang="es-CO" sz="1600" noProof="0" dirty="0"/>
          </a:p>
        </p:txBody>
      </p:sp>
      <p:sp>
        <p:nvSpPr>
          <p:cNvPr id="7" name="Shape 4"/>
          <p:cNvSpPr/>
          <p:nvPr/>
        </p:nvSpPr>
        <p:spPr>
          <a:xfrm>
            <a:off x="6184900" y="2230041"/>
            <a:ext cx="5194300" cy="1818680"/>
          </a:xfrm>
          <a:prstGeom prst="roundRect">
            <a:avLst>
              <a:gd name="adj" fmla="val 8380"/>
            </a:avLst>
          </a:prstGeom>
          <a:solidFill>
            <a:srgbClr val="252B55"/>
          </a:solidFill>
          <a:ln/>
        </p:spPr>
        <p:txBody>
          <a:bodyPr/>
          <a:lstStyle/>
          <a:p>
            <a:endParaRPr lang="es-CO" noProof="0" dirty="0"/>
          </a:p>
        </p:txBody>
      </p:sp>
      <p:pic>
        <p:nvPicPr>
          <p:cNvPr id="8" name="Image 1" descr="Key"/>
          <p:cNvPicPr>
            <a:picLocks noChangeAspect="1"/>
          </p:cNvPicPr>
          <p:nvPr/>
        </p:nvPicPr>
        <p:blipFill>
          <a:blip r:embed="rId4"/>
          <a:srcRect/>
          <a:stretch/>
        </p:blipFill>
        <p:spPr>
          <a:xfrm>
            <a:off x="6438900" y="2484041"/>
            <a:ext cx="355600" cy="355600"/>
          </a:xfrm>
          <a:prstGeom prst="rect">
            <a:avLst/>
          </a:prstGeom>
        </p:spPr>
      </p:pic>
      <p:sp>
        <p:nvSpPr>
          <p:cNvPr id="9" name="Text 5"/>
          <p:cNvSpPr/>
          <p:nvPr/>
        </p:nvSpPr>
        <p:spPr>
          <a:xfrm>
            <a:off x="6972300" y="2484041"/>
            <a:ext cx="4406900" cy="1336080"/>
          </a:xfrm>
          <a:prstGeom prst="rect">
            <a:avLst/>
          </a:prstGeom>
          <a:noFill/>
          <a:ln/>
        </p:spPr>
        <p:txBody>
          <a:bodyPr wrap="square" lIns="0" tIns="0" rIns="0" bIns="0" rtlCol="0" anchor="t">
            <a:normAutofit/>
          </a:bodyPr>
          <a:lstStyle/>
          <a:p>
            <a:pPr marL="0" indent="0" algn="l">
              <a:lnSpc>
                <a:spcPts val="2320"/>
              </a:lnSpc>
              <a:buNone/>
            </a:pPr>
            <a:r>
              <a:rPr lang="es-CO" sz="1600" noProof="0" dirty="0">
                <a:solidFill>
                  <a:srgbClr val="E4E7F5"/>
                </a:solidFill>
                <a:latin typeface="Nunito Sans" pitchFamily="34" charset="0"/>
                <a:ea typeface="Nunito Sans" pitchFamily="34" charset="-122"/>
                <a:cs typeface="Nunito Sans" pitchFamily="34" charset="-120"/>
              </a:rPr>
              <a:t>Un gestor de contraseñas recuerda por ti.</a:t>
            </a:r>
            <a:endParaRPr lang="es-CO" sz="1600" noProof="0" dirty="0"/>
          </a:p>
        </p:txBody>
      </p:sp>
      <p:sp>
        <p:nvSpPr>
          <p:cNvPr id="10" name="Shape 6"/>
          <p:cNvSpPr/>
          <p:nvPr/>
        </p:nvSpPr>
        <p:spPr>
          <a:xfrm>
            <a:off x="812800" y="4226520"/>
            <a:ext cx="5194300" cy="1818680"/>
          </a:xfrm>
          <a:prstGeom prst="roundRect">
            <a:avLst>
              <a:gd name="adj" fmla="val 8380"/>
            </a:avLst>
          </a:prstGeom>
          <a:solidFill>
            <a:srgbClr val="252B55"/>
          </a:solidFill>
          <a:ln/>
        </p:spPr>
        <p:txBody>
          <a:bodyPr/>
          <a:lstStyle/>
          <a:p>
            <a:endParaRPr lang="es-CO" noProof="0" dirty="0"/>
          </a:p>
        </p:txBody>
      </p:sp>
      <p:pic>
        <p:nvPicPr>
          <p:cNvPr id="11" name="Image 2" descr="Trust"/>
          <p:cNvPicPr>
            <a:picLocks noChangeAspect="1"/>
          </p:cNvPicPr>
          <p:nvPr/>
        </p:nvPicPr>
        <p:blipFill>
          <a:blip r:embed="rId5"/>
          <a:srcRect l="-68" r="-68"/>
          <a:stretch/>
        </p:blipFill>
        <p:spPr>
          <a:xfrm>
            <a:off x="1066800" y="4480520"/>
            <a:ext cx="292497" cy="355600"/>
          </a:xfrm>
          <a:prstGeom prst="rect">
            <a:avLst/>
          </a:prstGeom>
        </p:spPr>
      </p:pic>
      <p:sp>
        <p:nvSpPr>
          <p:cNvPr id="12" name="Text 7"/>
          <p:cNvSpPr/>
          <p:nvPr/>
        </p:nvSpPr>
        <p:spPr>
          <a:xfrm>
            <a:off x="1537097" y="4480520"/>
            <a:ext cx="4342483" cy="1336080"/>
          </a:xfrm>
          <a:prstGeom prst="rect">
            <a:avLst/>
          </a:prstGeom>
          <a:noFill/>
          <a:ln/>
        </p:spPr>
        <p:txBody>
          <a:bodyPr wrap="square" lIns="0" tIns="0" rIns="0" bIns="0" rtlCol="0" anchor="t">
            <a:normAutofit/>
          </a:bodyPr>
          <a:lstStyle/>
          <a:p>
            <a:pPr marL="0" indent="0" algn="l">
              <a:lnSpc>
                <a:spcPts val="2320"/>
              </a:lnSpc>
              <a:buNone/>
            </a:pPr>
            <a:r>
              <a:rPr lang="es-CO" sz="1600" noProof="0" dirty="0">
                <a:solidFill>
                  <a:srgbClr val="E4E7F5"/>
                </a:solidFill>
                <a:latin typeface="Nunito Sans" pitchFamily="34" charset="0"/>
                <a:ea typeface="Nunito Sans" pitchFamily="34" charset="-122"/>
                <a:cs typeface="Nunito Sans" pitchFamily="34" charset="-120"/>
              </a:rPr>
              <a:t>Dinero o datos inusuales: verifica siempre por otro canal.</a:t>
            </a:r>
            <a:endParaRPr lang="es-CO" sz="1600" noProof="0" dirty="0"/>
          </a:p>
        </p:txBody>
      </p:sp>
      <p:sp>
        <p:nvSpPr>
          <p:cNvPr id="13" name="Shape 8"/>
          <p:cNvSpPr/>
          <p:nvPr/>
        </p:nvSpPr>
        <p:spPr>
          <a:xfrm>
            <a:off x="6184900" y="4226520"/>
            <a:ext cx="5194300" cy="1818680"/>
          </a:xfrm>
          <a:prstGeom prst="roundRect">
            <a:avLst>
              <a:gd name="adj" fmla="val 8380"/>
            </a:avLst>
          </a:prstGeom>
          <a:solidFill>
            <a:srgbClr val="252B55"/>
          </a:solidFill>
          <a:ln/>
        </p:spPr>
        <p:txBody>
          <a:bodyPr/>
          <a:lstStyle/>
          <a:p>
            <a:endParaRPr lang="es-CO" noProof="0" dirty="0"/>
          </a:p>
        </p:txBody>
      </p:sp>
      <p:pic>
        <p:nvPicPr>
          <p:cNvPr id="14" name="Image 3" descr="Users"/>
          <p:cNvPicPr>
            <a:picLocks noChangeAspect="1"/>
          </p:cNvPicPr>
          <p:nvPr/>
        </p:nvPicPr>
        <p:blipFill>
          <a:blip r:embed="rId6"/>
          <a:srcRect l="-22" r="-22"/>
          <a:stretch/>
        </p:blipFill>
        <p:spPr>
          <a:xfrm>
            <a:off x="6438900" y="4480520"/>
            <a:ext cx="228699" cy="355600"/>
          </a:xfrm>
          <a:prstGeom prst="rect">
            <a:avLst/>
          </a:prstGeom>
        </p:spPr>
      </p:pic>
      <p:sp>
        <p:nvSpPr>
          <p:cNvPr id="15" name="Text 9"/>
          <p:cNvSpPr/>
          <p:nvPr/>
        </p:nvSpPr>
        <p:spPr>
          <a:xfrm>
            <a:off x="6845399" y="4480520"/>
            <a:ext cx="4408195" cy="1336080"/>
          </a:xfrm>
          <a:prstGeom prst="rect">
            <a:avLst/>
          </a:prstGeom>
          <a:noFill/>
          <a:ln/>
        </p:spPr>
        <p:txBody>
          <a:bodyPr wrap="square" lIns="0" tIns="0" rIns="0" bIns="0" rtlCol="0" anchor="t">
            <a:normAutofit/>
          </a:bodyPr>
          <a:lstStyle/>
          <a:p>
            <a:pPr marL="0" indent="0" algn="l">
              <a:lnSpc>
                <a:spcPts val="2320"/>
              </a:lnSpc>
              <a:buNone/>
            </a:pPr>
            <a:r>
              <a:rPr lang="es-CO" sz="1600" noProof="0" dirty="0">
                <a:solidFill>
                  <a:srgbClr val="E4E7F5"/>
                </a:solidFill>
                <a:latin typeface="Nunito Sans" pitchFamily="34" charset="0"/>
                <a:ea typeface="Nunito Sans" pitchFamily="34" charset="-122"/>
                <a:cs typeface="Nunito Sans" pitchFamily="34" charset="-120"/>
              </a:rPr>
              <a:t>Si crees que caíste, reporta en el momento. Nadie carga solo con un error.</a:t>
            </a:r>
            <a:endParaRPr lang="es-CO" sz="1600"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7">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s-CO" sz="1400" b="1" kern="0" spc="150" noProof="0" dirty="0">
                <a:solidFill>
                  <a:srgbClr val="2F3EBF"/>
                </a:solidFill>
                <a:latin typeface="Nunito Sans" pitchFamily="34" charset="0"/>
                <a:ea typeface="Nunito Sans" pitchFamily="34" charset="-122"/>
                <a:cs typeface="Nunito Sans" pitchFamily="34" charset="-120"/>
              </a:rPr>
              <a:t>LAS REGLAS DE LA CASA</a:t>
            </a:r>
            <a:endParaRPr lang="es-CO" sz="1400" noProof="0" dirty="0"/>
          </a:p>
        </p:txBody>
      </p:sp>
      <p:sp>
        <p:nvSpPr>
          <p:cNvPr id="3" name="Text 1"/>
          <p:cNvSpPr>
            <a:spLocks noGrp="1"/>
          </p:cNvSpPr>
          <p:nvPr>
            <p:ph type="title"/>
          </p:nvPr>
        </p:nvSpPr>
        <p:spPr>
          <a:xfrm>
            <a:off x="812800" y="1341041"/>
            <a:ext cx="10883392" cy="528241"/>
          </a:xfrm>
          <a:prstGeom prst="rect">
            <a:avLst/>
          </a:prstGeom>
          <a:noFill/>
          <a:ln/>
        </p:spPr>
        <p:txBody>
          <a:bodyPr wrap="square" lIns="0" tIns="0" rIns="0" bIns="0" rtlCol="0" anchor="t">
            <a:normAutofit/>
          </a:bodyPr>
          <a:lstStyle/>
          <a:p>
            <a:pPr marL="0" indent="0" algn="l">
              <a:lnSpc>
                <a:spcPts val="3960"/>
              </a:lnSpc>
              <a:buNone/>
            </a:pPr>
            <a:r>
              <a:rPr lang="es-CO" sz="3600" b="0" i="0" noProof="0" dirty="0">
                <a:solidFill>
                  <a:srgbClr val="1C2142"/>
                </a:solidFill>
                <a:latin typeface="Fraunces" pitchFamily="18" charset="0"/>
                <a:ea typeface="Fraunces" pitchFamily="18" charset="-122"/>
                <a:cs typeface="Fraunces" pitchFamily="18" charset="-120"/>
              </a:rPr>
              <a:t>Aquí no estás solo: a quién acudir</a:t>
            </a:r>
            <a:endParaRPr lang="es-CO" sz="3600" noProof="0" dirty="0"/>
          </a:p>
        </p:txBody>
      </p:sp>
      <p:sp>
        <p:nvSpPr>
          <p:cNvPr id="4" name="Shape 2"/>
          <p:cNvSpPr/>
          <p:nvPr/>
        </p:nvSpPr>
        <p:spPr>
          <a:xfrm>
            <a:off x="812800" y="2123281"/>
            <a:ext cx="10566400" cy="3575844"/>
          </a:xfrm>
          <a:prstGeom prst="roundRect">
            <a:avLst>
              <a:gd name="adj" fmla="val 4262"/>
            </a:avLst>
          </a:prstGeom>
          <a:solidFill>
            <a:srgbClr val="FCFBF8"/>
          </a:solidFill>
          <a:ln/>
        </p:spPr>
        <p:txBody>
          <a:bodyPr/>
          <a:lstStyle/>
          <a:p>
            <a:endParaRPr lang="es-CO" noProof="0" dirty="0"/>
          </a:p>
        </p:txBody>
      </p:sp>
      <p:sp>
        <p:nvSpPr>
          <p:cNvPr id="5" name="Shape 3"/>
          <p:cNvSpPr/>
          <p:nvPr/>
        </p:nvSpPr>
        <p:spPr>
          <a:xfrm>
            <a:off x="812800" y="2123281"/>
            <a:ext cx="10566400" cy="3575844"/>
          </a:xfrm>
          <a:custGeom>
            <a:avLst/>
            <a:gdLst/>
            <a:ahLst/>
            <a:cxnLst/>
            <a:rect l="l" t="t" r="r" b="b"/>
            <a:pathLst>
              <a:path w="10566400" h="3575844">
                <a:moveTo>
                  <a:pt x="10414000" y="0"/>
                </a:moveTo>
                <a:lnTo>
                  <a:pt x="10414000" y="0"/>
                </a:lnTo>
                <a:arcTo wR="152400" hR="152400" stAng="16200000" swAng="5400000"/>
                <a:lnTo>
                  <a:pt x="10566400" y="3423444"/>
                </a:lnTo>
                <a:arcTo wR="152400" hR="152400" stAng="0" swAng="5400000"/>
                <a:lnTo>
                  <a:pt x="152400" y="3575844"/>
                </a:lnTo>
                <a:arcTo wR="152400" hR="152400" stAng="5400000" swAng="5400000"/>
                <a:lnTo>
                  <a:pt x="0" y="3423444"/>
                </a:lnTo>
                <a:arcTo wR="152400" hR="139700" stAng="10800000" swAng="-5400000"/>
                <a:lnTo>
                  <a:pt x="10414000" y="3563144"/>
                </a:lnTo>
                <a:arcTo wR="139700" hR="139700" stAng="5400000" swAng="-5400000"/>
                <a:lnTo>
                  <a:pt x="10553700" y="152400"/>
                </a:lnTo>
                <a:arcTo wR="139700" hR="152400" stAng="0" swAng="-5400000"/>
                <a:close/>
              </a:path>
            </a:pathLst>
          </a:custGeom>
          <a:solidFill>
            <a:srgbClr val="DDE0EA"/>
          </a:solidFill>
          <a:ln/>
        </p:spPr>
        <p:txBody>
          <a:bodyPr/>
          <a:lstStyle/>
          <a:p>
            <a:endParaRPr lang="es-CO" noProof="0" dirty="0"/>
          </a:p>
        </p:txBody>
      </p:sp>
      <p:sp>
        <p:nvSpPr>
          <p:cNvPr id="6" name="Shape 4"/>
          <p:cNvSpPr/>
          <p:nvPr/>
        </p:nvSpPr>
        <p:spPr>
          <a:xfrm>
            <a:off x="812800" y="2123281"/>
            <a:ext cx="10566400" cy="3575844"/>
          </a:xfrm>
          <a:custGeom>
            <a:avLst/>
            <a:gdLst/>
            <a:ahLst/>
            <a:cxnLst/>
            <a:rect l="l" t="t" r="r" b="b"/>
            <a:pathLst>
              <a:path w="10566400" h="3575844">
                <a:moveTo>
                  <a:pt x="152400" y="3575844"/>
                </a:moveTo>
                <a:lnTo>
                  <a:pt x="152400" y="3575844"/>
                </a:lnTo>
                <a:arcTo wR="152400" hR="152400" stAng="5400000" swAng="5400000"/>
                <a:lnTo>
                  <a:pt x="0" y="152400"/>
                </a:lnTo>
                <a:arcTo wR="152400" hR="152400" stAng="10800000" swAng="5400000"/>
                <a:lnTo>
                  <a:pt x="10414000" y="0"/>
                </a:lnTo>
                <a:arcTo wR="152400" hR="152400" stAng="16200000" swAng="5400000"/>
                <a:lnTo>
                  <a:pt x="10566400" y="152400"/>
                </a:lnTo>
                <a:arcTo wR="152400" hR="139700" stAng="0" swAng="-5400000"/>
                <a:lnTo>
                  <a:pt x="152400" y="12700"/>
                </a:lnTo>
                <a:arcTo wR="139700" hR="139700" stAng="16200000" swAng="-5400000"/>
                <a:lnTo>
                  <a:pt x="12700" y="3423444"/>
                </a:lnTo>
                <a:arcTo wR="139700" hR="152400" stAng="10800000" swAng="-5400000"/>
                <a:close/>
              </a:path>
            </a:pathLst>
          </a:custGeom>
          <a:solidFill>
            <a:srgbClr val="141413">
              <a:alpha val="22000"/>
            </a:srgbClr>
          </a:solidFill>
          <a:ln/>
        </p:spPr>
        <p:txBody>
          <a:bodyPr/>
          <a:lstStyle/>
          <a:p>
            <a:endParaRPr lang="es-CO" noProof="0" dirty="0"/>
          </a:p>
        </p:txBody>
      </p:sp>
      <p:graphicFrame>
        <p:nvGraphicFramePr>
          <p:cNvPr id="7" name="Table 0"/>
          <p:cNvGraphicFramePr>
            <a:graphicFrameLocks noGrp="1"/>
          </p:cNvGraphicFramePr>
          <p:nvPr>
            <p:extLst>
              <p:ext uri="{D42A27DB-BD31-4B8C-83A1-F6EECF244321}">
                <p14:modId xmlns:p14="http://schemas.microsoft.com/office/powerpoint/2010/main" val="725755106"/>
              </p:ext>
            </p:extLst>
          </p:nvPr>
        </p:nvGraphicFramePr>
        <p:xfrm>
          <a:off x="825500" y="2135981"/>
          <a:ext cx="10541000" cy="3550446"/>
        </p:xfrm>
        <a:graphic>
          <a:graphicData uri="http://schemas.openxmlformats.org/drawingml/2006/table">
            <a:tbl>
              <a:tblPr/>
              <a:tblGrid>
                <a:gridCol w="4743450">
                  <a:extLst>
                    <a:ext uri="{9D8B030D-6E8A-4147-A177-3AD203B41FA5}">
                      <a16:colId xmlns:a16="http://schemas.microsoft.com/office/drawing/2014/main" val="20000"/>
                    </a:ext>
                  </a:extLst>
                </a:gridCol>
                <a:gridCol w="5797550">
                  <a:extLst>
                    <a:ext uri="{9D8B030D-6E8A-4147-A177-3AD203B41FA5}">
                      <a16:colId xmlns:a16="http://schemas.microsoft.com/office/drawing/2014/main" val="20001"/>
                    </a:ext>
                  </a:extLst>
                </a:gridCol>
              </a:tblGrid>
              <a:tr h="591741">
                <a:tc>
                  <a:txBody>
                    <a:bodyPr/>
                    <a:lstStyle/>
                    <a:p>
                      <a:pPr marL="0" indent="0">
                        <a:lnSpc>
                          <a:spcPts val="2240"/>
                        </a:lnSpc>
                        <a:buNone/>
                      </a:pPr>
                      <a:r>
                        <a:rPr lang="es-CO" sz="1600" b="1" noProof="0" dirty="0">
                          <a:solidFill>
                            <a:srgbClr val="1C2142"/>
                          </a:solidFill>
                          <a:latin typeface="Nunito Sans" pitchFamily="34" charset="0"/>
                          <a:ea typeface="Nunito Sans" pitchFamily="34" charset="-122"/>
                          <a:cs typeface="Nunito Sans" pitchFamily="34" charset="-120"/>
                        </a:rPr>
                        <a:t>Necesito…</a:t>
                      </a:r>
                      <a:endParaRPr lang="es-CO" sz="1600" noProof="0" dirty="0">
                        <a:latin typeface="Nunito Sans" charset="0"/>
                        <a:ea typeface="Nunito Sans" charset="0"/>
                        <a:cs typeface="Nunito Sans" charset="0"/>
                      </a:endParaRPr>
                    </a:p>
                  </a:txBody>
                  <a:tcPr marL="228600" marR="228600" marT="152400" marB="152400">
                    <a:lnL w="0" cap="flat" cmpd="sng" algn="ctr">
                      <a:noFill/>
                    </a:lnL>
                    <a:lnR w="12700" cap="flat" cmpd="sng" algn="ctr">
                      <a:solidFill>
                        <a:srgbClr val="BABCC3"/>
                      </a:solidFill>
                      <a:prstDash val="solid"/>
                      <a:round/>
                      <a:headEnd type="none" w="med" len="med"/>
                      <a:tailEnd type="none" w="med" len="med"/>
                    </a:lnR>
                    <a:lnT w="0" cap="flat" cmpd="sng" algn="ctr">
                      <a:noFill/>
                    </a:lnT>
                    <a:lnB w="12700" cap="flat" cmpd="sng" algn="ctr">
                      <a:solidFill>
                        <a:srgbClr val="BABCC3"/>
                      </a:solidFill>
                      <a:prstDash val="solid"/>
                      <a:round/>
                      <a:headEnd type="none" w="med" len="med"/>
                      <a:tailEnd type="none" w="med" len="med"/>
                    </a:lnB>
                    <a:solidFill>
                      <a:srgbClr val="E9ECF4"/>
                    </a:solidFill>
                  </a:tcPr>
                </a:tc>
                <a:tc>
                  <a:txBody>
                    <a:bodyPr/>
                    <a:lstStyle/>
                    <a:p>
                      <a:pPr marL="0" indent="0">
                        <a:lnSpc>
                          <a:spcPts val="2240"/>
                        </a:lnSpc>
                        <a:buNone/>
                      </a:pPr>
                      <a:r>
                        <a:rPr lang="es-CO" sz="1600" b="1" noProof="0" dirty="0">
                          <a:solidFill>
                            <a:srgbClr val="1C2142"/>
                          </a:solidFill>
                          <a:latin typeface="Nunito Sans" pitchFamily="34" charset="0"/>
                          <a:ea typeface="Nunito Sans" pitchFamily="34" charset="-122"/>
                          <a:cs typeface="Nunito Sans" pitchFamily="34" charset="-120"/>
                        </a:rPr>
                        <a:t>En nuestra empresa</a:t>
                      </a:r>
                      <a:endParaRPr lang="es-CO" sz="1600" noProof="0" dirty="0">
                        <a:latin typeface="Nunito Sans" charset="0"/>
                        <a:ea typeface="Nunito Sans" charset="0"/>
                        <a:cs typeface="Nunito Sans" charset="0"/>
                      </a:endParaRPr>
                    </a:p>
                  </a:txBody>
                  <a:tcPr marL="228600" marR="228600" marT="152400" marB="152400">
                    <a:lnL w="12700" cap="flat" cmpd="sng" algn="ctr">
                      <a:solidFill>
                        <a:srgbClr val="BABCC3"/>
                      </a:solidFill>
                      <a:prstDash val="solid"/>
                      <a:round/>
                      <a:headEnd type="none" w="med" len="med"/>
                      <a:tailEnd type="none" w="med" len="med"/>
                    </a:lnL>
                    <a:lnR w="12700" cap="flat" cmpd="sng" algn="ctr">
                      <a:solidFill>
                        <a:srgbClr val="BABCC3"/>
                      </a:solidFill>
                      <a:prstDash val="solid"/>
                      <a:round/>
                      <a:headEnd type="none" w="med" len="med"/>
                      <a:tailEnd type="none" w="med" len="med"/>
                    </a:lnR>
                    <a:lnT w="0" cap="flat" cmpd="sng" algn="ctr">
                      <a:noFill/>
                    </a:lnT>
                    <a:lnB w="12700" cap="flat" cmpd="sng" algn="ctr">
                      <a:solidFill>
                        <a:srgbClr val="BABCC3"/>
                      </a:solidFill>
                      <a:prstDash val="solid"/>
                      <a:round/>
                      <a:headEnd type="none" w="med" len="med"/>
                      <a:tailEnd type="none" w="med" len="med"/>
                    </a:lnB>
                    <a:solidFill>
                      <a:srgbClr val="E9ECF4"/>
                    </a:solidFill>
                  </a:tcPr>
                </a:tc>
                <a:extLst>
                  <a:ext uri="{0D108BD9-81ED-4DB2-BD59-A6C34878D82A}">
                    <a16:rowId xmlns:a16="http://schemas.microsoft.com/office/drawing/2014/main" val="10000"/>
                  </a:ext>
                </a:extLst>
              </a:tr>
              <a:tr h="591741">
                <a:tc>
                  <a:txBody>
                    <a:bodyPr/>
                    <a:lstStyle/>
                    <a:p>
                      <a:pPr marL="0" indent="0">
                        <a:lnSpc>
                          <a:spcPts val="2240"/>
                        </a:lnSpc>
                        <a:buNone/>
                      </a:pPr>
                      <a:r>
                        <a:rPr lang="es-CO" sz="1600" noProof="0" dirty="0">
                          <a:solidFill>
                            <a:srgbClr val="1C2142"/>
                          </a:solidFill>
                          <a:latin typeface="Nunito Sans" pitchFamily="34" charset="0"/>
                          <a:ea typeface="Nunito Sans" pitchFamily="34" charset="-122"/>
                          <a:cs typeface="Nunito Sans" pitchFamily="34" charset="-120"/>
                        </a:rPr>
                        <a:t>Reportar algo raro o un clic</a:t>
                      </a:r>
                      <a:endParaRPr lang="es-CO" sz="1600" noProof="0" dirty="0">
                        <a:latin typeface="Nunito Sans" charset="0"/>
                        <a:ea typeface="Nunito Sans" charset="0"/>
                        <a:cs typeface="Nunito Sans" charset="0"/>
                      </a:endParaRPr>
                    </a:p>
                  </a:txBody>
                  <a:tcPr marL="228600" marR="228600" marT="152400" marB="152400">
                    <a:lnL w="0" cap="flat" cmpd="sng" algn="ctr">
                      <a:noFill/>
                    </a:lnL>
                    <a:lnR w="12700" cap="flat" cmpd="sng" algn="ctr">
                      <a:solidFill>
                        <a:srgbClr val="C9C8C6"/>
                      </a:solidFill>
                      <a:prstDash val="solid"/>
                      <a:round/>
                      <a:headEnd type="none" w="med" len="med"/>
                      <a:tailEnd type="none" w="med" len="med"/>
                    </a:lnR>
                    <a:lnT w="12700" cap="flat" cmpd="sng" algn="ctr">
                      <a:solidFill>
                        <a:srgbClr val="BABCC3"/>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marL="0" indent="0">
                        <a:lnSpc>
                          <a:spcPts val="2240"/>
                        </a:lnSpc>
                        <a:buNone/>
                      </a:pPr>
                      <a:r>
                        <a:rPr lang="es-CO" sz="1600" noProof="0" dirty="0">
                          <a:solidFill>
                            <a:srgbClr val="4A5070"/>
                          </a:solidFill>
                          <a:latin typeface="Nunito Sans" pitchFamily="34" charset="0"/>
                          <a:ea typeface="Nunito Sans" pitchFamily="34" charset="-122"/>
                          <a:cs typeface="Nunito Sans" pitchFamily="34" charset="-120"/>
                        </a:rPr>
                        <a:t>[correo, botón o extensión]</a:t>
                      </a:r>
                      <a:endParaRPr lang="es-CO" sz="1600" noProof="0" dirty="0">
                        <a:latin typeface="Nunito Sans" charset="0"/>
                        <a:ea typeface="Nunito Sans" charset="0"/>
                        <a:cs typeface="Nunito Sans" charset="0"/>
                      </a:endParaRPr>
                    </a:p>
                  </a:txBody>
                  <a:tcPr marL="228600" marR="228600" marT="152400" marB="152400">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ABCC3"/>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extLst>
                  <a:ext uri="{0D108BD9-81ED-4DB2-BD59-A6C34878D82A}">
                    <a16:rowId xmlns:a16="http://schemas.microsoft.com/office/drawing/2014/main" val="10001"/>
                  </a:ext>
                </a:extLst>
              </a:tr>
              <a:tr h="591741">
                <a:tc>
                  <a:txBody>
                    <a:bodyPr/>
                    <a:lstStyle/>
                    <a:p>
                      <a:pPr marL="0" indent="0">
                        <a:lnSpc>
                          <a:spcPts val="2240"/>
                        </a:lnSpc>
                        <a:buNone/>
                      </a:pPr>
                      <a:r>
                        <a:rPr lang="es-CO" sz="1600" noProof="0" dirty="0">
                          <a:solidFill>
                            <a:srgbClr val="1C2142"/>
                          </a:solidFill>
                          <a:latin typeface="Nunito Sans" pitchFamily="34" charset="0"/>
                          <a:ea typeface="Nunito Sans" pitchFamily="34" charset="-122"/>
                          <a:cs typeface="Nunito Sans" pitchFamily="34" charset="-120"/>
                        </a:rPr>
                        <a:t>Verificar una solicitud urgente</a:t>
                      </a:r>
                      <a:endParaRPr lang="es-CO" sz="1600" noProof="0" dirty="0">
                        <a:latin typeface="Nunito Sans" charset="0"/>
                        <a:ea typeface="Nunito Sans" charset="0"/>
                        <a:cs typeface="Nunito Sans" charset="0"/>
                      </a:endParaRPr>
                    </a:p>
                  </a:txBody>
                  <a:tcPr marL="228600" marR="228600" marT="152400" marB="152400">
                    <a:lnL w="0" cap="flat" cmpd="sng" algn="ctr">
                      <a:noFill/>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marL="0" indent="0">
                        <a:lnSpc>
                          <a:spcPts val="2240"/>
                        </a:lnSpc>
                        <a:buNone/>
                      </a:pPr>
                      <a:r>
                        <a:rPr lang="es-CO" sz="1600" noProof="0" dirty="0">
                          <a:solidFill>
                            <a:srgbClr val="4A5070"/>
                          </a:solidFill>
                          <a:latin typeface="Nunito Sans" pitchFamily="34" charset="0"/>
                          <a:ea typeface="Nunito Sans" pitchFamily="34" charset="-122"/>
                          <a:cs typeface="Nunito Sans" pitchFamily="34" charset="-120"/>
                        </a:rPr>
                        <a:t>[persona o número]</a:t>
                      </a:r>
                      <a:endParaRPr lang="es-CO" sz="1600" noProof="0" dirty="0">
                        <a:latin typeface="Nunito Sans" charset="0"/>
                        <a:ea typeface="Nunito Sans" charset="0"/>
                        <a:cs typeface="Nunito Sans" charset="0"/>
                      </a:endParaRPr>
                    </a:p>
                  </a:txBody>
                  <a:tcPr marL="228600" marR="228600" marT="152400" marB="152400">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extLst>
                  <a:ext uri="{0D108BD9-81ED-4DB2-BD59-A6C34878D82A}">
                    <a16:rowId xmlns:a16="http://schemas.microsoft.com/office/drawing/2014/main" val="10002"/>
                  </a:ext>
                </a:extLst>
              </a:tr>
              <a:tr h="591741">
                <a:tc>
                  <a:txBody>
                    <a:bodyPr/>
                    <a:lstStyle/>
                    <a:p>
                      <a:pPr marL="0" indent="0">
                        <a:lnSpc>
                          <a:spcPts val="2240"/>
                        </a:lnSpc>
                        <a:buNone/>
                      </a:pPr>
                      <a:r>
                        <a:rPr lang="es-CO" sz="1600" noProof="0" dirty="0">
                          <a:solidFill>
                            <a:srgbClr val="1C2142"/>
                          </a:solidFill>
                          <a:latin typeface="Nunito Sans" pitchFamily="34" charset="0"/>
                          <a:ea typeface="Nunito Sans" pitchFamily="34" charset="-122"/>
                          <a:cs typeface="Nunito Sans" pitchFamily="34" charset="-120"/>
                        </a:rPr>
                        <a:t>Un gestor de contraseñas</a:t>
                      </a:r>
                      <a:endParaRPr lang="es-CO" sz="1600" noProof="0" dirty="0">
                        <a:latin typeface="Nunito Sans" charset="0"/>
                        <a:ea typeface="Nunito Sans" charset="0"/>
                        <a:cs typeface="Nunito Sans" charset="0"/>
                      </a:endParaRPr>
                    </a:p>
                  </a:txBody>
                  <a:tcPr marL="228600" marR="228600" marT="152400" marB="152400">
                    <a:lnL w="0" cap="flat" cmpd="sng" algn="ctr">
                      <a:noFill/>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marL="0" indent="0">
                        <a:lnSpc>
                          <a:spcPts val="2240"/>
                        </a:lnSpc>
                        <a:buNone/>
                      </a:pPr>
                      <a:r>
                        <a:rPr lang="es-CO" sz="1600" noProof="0" dirty="0">
                          <a:solidFill>
                            <a:srgbClr val="4A5070"/>
                          </a:solidFill>
                          <a:latin typeface="Nunito Sans" pitchFamily="34" charset="0"/>
                          <a:ea typeface="Nunito Sans" pitchFamily="34" charset="-122"/>
                          <a:cs typeface="Nunito Sans" pitchFamily="34" charset="-120"/>
                        </a:rPr>
                        <a:t>[herramienta y cómo pedirla]</a:t>
                      </a:r>
                      <a:endParaRPr lang="es-CO" sz="1600" noProof="0" dirty="0">
                        <a:latin typeface="Nunito Sans" charset="0"/>
                        <a:ea typeface="Nunito Sans" charset="0"/>
                        <a:cs typeface="Nunito Sans" charset="0"/>
                      </a:endParaRPr>
                    </a:p>
                  </a:txBody>
                  <a:tcPr marL="228600" marR="228600" marT="152400" marB="152400">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extLst>
                  <a:ext uri="{0D108BD9-81ED-4DB2-BD59-A6C34878D82A}">
                    <a16:rowId xmlns:a16="http://schemas.microsoft.com/office/drawing/2014/main" val="10003"/>
                  </a:ext>
                </a:extLst>
              </a:tr>
              <a:tr h="591741">
                <a:tc>
                  <a:txBody>
                    <a:bodyPr/>
                    <a:lstStyle/>
                    <a:p>
                      <a:pPr marL="0" indent="0">
                        <a:lnSpc>
                          <a:spcPts val="2240"/>
                        </a:lnSpc>
                        <a:buNone/>
                      </a:pPr>
                      <a:r>
                        <a:rPr lang="es-CO" sz="1600" noProof="0" dirty="0">
                          <a:solidFill>
                            <a:srgbClr val="1C2142"/>
                          </a:solidFill>
                          <a:latin typeface="Nunito Sans" pitchFamily="34" charset="0"/>
                          <a:ea typeface="Nunito Sans" pitchFamily="34" charset="-122"/>
                          <a:cs typeface="Nunito Sans" pitchFamily="34" charset="-120"/>
                        </a:rPr>
                        <a:t>Usar IA con información de trabajo</a:t>
                      </a:r>
                      <a:endParaRPr lang="es-CO" sz="1600" noProof="0" dirty="0">
                        <a:latin typeface="Nunito Sans" charset="0"/>
                        <a:ea typeface="Nunito Sans" charset="0"/>
                        <a:cs typeface="Nunito Sans" charset="0"/>
                      </a:endParaRPr>
                    </a:p>
                  </a:txBody>
                  <a:tcPr marL="228600" marR="228600" marT="152400" marB="152400">
                    <a:lnL w="0" cap="flat" cmpd="sng" algn="ctr">
                      <a:noFill/>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marL="0" indent="0">
                        <a:lnSpc>
                          <a:spcPts val="2240"/>
                        </a:lnSpc>
                        <a:buNone/>
                      </a:pPr>
                      <a:r>
                        <a:rPr lang="es-CO" sz="1600" noProof="0" dirty="0">
                          <a:solidFill>
                            <a:srgbClr val="4A5070"/>
                          </a:solidFill>
                          <a:latin typeface="Nunito Sans" pitchFamily="34" charset="0"/>
                          <a:ea typeface="Nunito Sans" pitchFamily="34" charset="-122"/>
                          <a:cs typeface="Nunito Sans" pitchFamily="34" charset="-120"/>
                        </a:rPr>
                        <a:t>[herramienta aprobada]</a:t>
                      </a:r>
                      <a:endParaRPr lang="es-CO" sz="1600" noProof="0" dirty="0">
                        <a:latin typeface="Nunito Sans" charset="0"/>
                        <a:ea typeface="Nunito Sans" charset="0"/>
                        <a:cs typeface="Nunito Sans" charset="0"/>
                      </a:endParaRPr>
                    </a:p>
                  </a:txBody>
                  <a:tcPr marL="228600" marR="228600" marT="152400" marB="152400">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extLst>
                  <a:ext uri="{0D108BD9-81ED-4DB2-BD59-A6C34878D82A}">
                    <a16:rowId xmlns:a16="http://schemas.microsoft.com/office/drawing/2014/main" val="10004"/>
                  </a:ext>
                </a:extLst>
              </a:tr>
              <a:tr h="591741">
                <a:tc>
                  <a:txBody>
                    <a:bodyPr/>
                    <a:lstStyle/>
                    <a:p>
                      <a:pPr marL="0" indent="0">
                        <a:lnSpc>
                          <a:spcPts val="2240"/>
                        </a:lnSpc>
                        <a:buNone/>
                      </a:pPr>
                      <a:r>
                        <a:rPr lang="es-CO" sz="1600" noProof="0" dirty="0">
                          <a:solidFill>
                            <a:srgbClr val="1C2142"/>
                          </a:solidFill>
                          <a:latin typeface="Nunito Sans" pitchFamily="34" charset="0"/>
                          <a:ea typeface="Nunito Sans" pitchFamily="34" charset="-122"/>
                          <a:cs typeface="Nunito Sans" pitchFamily="34" charset="-120"/>
                        </a:rPr>
                        <a:t>Resolver una duda</a:t>
                      </a:r>
                      <a:endParaRPr lang="es-CO" sz="1600" noProof="0" dirty="0">
                        <a:latin typeface="Nunito Sans" charset="0"/>
                        <a:ea typeface="Nunito Sans" charset="0"/>
                        <a:cs typeface="Nunito Sans" charset="0"/>
                      </a:endParaRPr>
                    </a:p>
                  </a:txBody>
                  <a:tcPr marL="228600" marR="228600" marT="152400" marB="152400">
                    <a:lnL w="0" cap="flat" cmpd="sng" algn="ctr">
                      <a:noFill/>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marL="0" indent="0">
                        <a:lnSpc>
                          <a:spcPts val="2240"/>
                        </a:lnSpc>
                        <a:buNone/>
                      </a:pPr>
                      <a:r>
                        <a:rPr lang="es-CO" sz="1600" noProof="0" dirty="0">
                          <a:solidFill>
                            <a:srgbClr val="4A5070"/>
                          </a:solidFill>
                          <a:latin typeface="Nunito Sans" pitchFamily="34" charset="0"/>
                          <a:ea typeface="Nunito Sans" pitchFamily="34" charset="-122"/>
                          <a:cs typeface="Nunito Sans" pitchFamily="34" charset="-120"/>
                        </a:rPr>
                        <a:t>[persona o área]</a:t>
                      </a:r>
                      <a:endParaRPr lang="es-CO" sz="1600" noProof="0" dirty="0">
                        <a:latin typeface="Nunito Sans" charset="0"/>
                        <a:ea typeface="Nunito Sans" charset="0"/>
                        <a:cs typeface="Nunito Sans" charset="0"/>
                      </a:endParaRPr>
                    </a:p>
                  </a:txBody>
                  <a:tcPr marL="228600" marR="228600" marT="152400" marB="152400">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8" name="Image 0" descr="Pralogy"/>
          <p:cNvPicPr>
            <a:picLocks noChangeAspect="1"/>
          </p:cNvPicPr>
          <p:nvPr/>
        </p:nvPicPr>
        <p:blipFill>
          <a:blip r:embed="rId3"/>
          <a:srcRect l="-62" r="-62"/>
          <a:stretch/>
        </p:blipFill>
        <p:spPr>
          <a:xfrm>
            <a:off x="812800" y="6273800"/>
            <a:ext cx="1111250" cy="228600"/>
          </a:xfrm>
          <a:prstGeom prst="rect">
            <a:avLst/>
          </a:prstGeom>
        </p:spPr>
      </p:pic>
      <p:sp>
        <p:nvSpPr>
          <p:cNvPr id="9" name="Text 5"/>
          <p:cNvSpPr/>
          <p:nvPr/>
        </p:nvSpPr>
        <p:spPr>
          <a:xfrm>
            <a:off x="11145441" y="6281440"/>
            <a:ext cx="233759" cy="238720"/>
          </a:xfrm>
          <a:prstGeom prst="rect">
            <a:avLst/>
          </a:prstGeom>
          <a:noFill/>
          <a:ln/>
        </p:spPr>
        <p:txBody>
          <a:bodyPr wrap="square" lIns="0" tIns="0" rIns="0" bIns="0" rtlCol="0" anchor="t">
            <a:normAutofit/>
          </a:bodyPr>
          <a:lstStyle/>
          <a:p>
            <a:pPr marL="0" indent="0" algn="r">
              <a:lnSpc>
                <a:spcPts val="1680"/>
              </a:lnSpc>
              <a:buNone/>
            </a:pPr>
            <a:r>
              <a:rPr lang="es-CO" sz="1200" noProof="0" dirty="0">
                <a:solidFill>
                  <a:srgbClr val="6B7085"/>
                </a:solidFill>
                <a:latin typeface="Nunito Sans" pitchFamily="34" charset="0"/>
                <a:ea typeface="Nunito Sans" pitchFamily="34" charset="-122"/>
                <a:cs typeface="Nunito Sans" pitchFamily="34" charset="-120"/>
              </a:rPr>
              <a:t>27</a:t>
            </a:r>
            <a:endParaRPr lang="es-CO" sz="1200"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8">
    <p:bg>
      <p:bgPr>
        <a:solidFill>
          <a:srgbClr val="E9ECF4"/>
        </a:solidFill>
        <a:effectLst/>
      </p:bgPr>
    </p:bg>
    <p:spTree>
      <p:nvGrpSpPr>
        <p:cNvPr id="1" name=""/>
        <p:cNvGrpSpPr/>
        <p:nvPr/>
      </p:nvGrpSpPr>
      <p:grpSpPr>
        <a:xfrm>
          <a:off x="0" y="0"/>
          <a:ext cx="0" cy="0"/>
          <a:chOff x="0" y="0"/>
          <a:chExt cx="0" cy="0"/>
        </a:xfrm>
      </p:grpSpPr>
      <p:sp>
        <p:nvSpPr>
          <p:cNvPr id="2" name="Shape 0"/>
          <p:cNvSpPr/>
          <p:nvPr/>
        </p:nvSpPr>
        <p:spPr>
          <a:xfrm>
            <a:off x="7493000" y="1905000"/>
            <a:ext cx="3937000" cy="3937000"/>
          </a:xfrm>
          <a:prstGeom prst="roundRect">
            <a:avLst>
              <a:gd name="adj" fmla="val 41290"/>
            </a:avLst>
          </a:prstGeom>
          <a:solidFill>
            <a:srgbClr val="DCE0F0"/>
          </a:solidFill>
          <a:ln/>
        </p:spPr>
        <p:txBody>
          <a:bodyPr/>
          <a:lstStyle/>
          <a:p>
            <a:endParaRPr lang="es-CO" noProof="0" dirty="0"/>
          </a:p>
        </p:txBody>
      </p:sp>
      <p:sp>
        <p:nvSpPr>
          <p:cNvPr id="3" name="Shape 1"/>
          <p:cNvSpPr/>
          <p:nvPr/>
        </p:nvSpPr>
        <p:spPr>
          <a:xfrm>
            <a:off x="9525000" y="1143000"/>
            <a:ext cx="1397000" cy="1397000"/>
          </a:xfrm>
          <a:prstGeom prst="roundRect">
            <a:avLst>
              <a:gd name="adj" fmla="val 50000"/>
            </a:avLst>
          </a:prstGeom>
          <a:solidFill>
            <a:srgbClr val="C7CCE8"/>
          </a:solidFill>
          <a:ln/>
        </p:spPr>
        <p:txBody>
          <a:bodyPr/>
          <a:lstStyle/>
          <a:p>
            <a:endParaRPr lang="es-CO" noProof="0" dirty="0"/>
          </a:p>
        </p:txBody>
      </p:sp>
      <p:pic>
        <p:nvPicPr>
          <p:cNvPr id="4" name="Image 0" descr="Logo de Pralogy"/>
          <p:cNvPicPr>
            <a:picLocks noChangeAspect="1"/>
          </p:cNvPicPr>
          <p:nvPr/>
        </p:nvPicPr>
        <p:blipFill>
          <a:blip r:embed="rId3"/>
          <a:srcRect t="-22" b="-22"/>
          <a:stretch/>
        </p:blipFill>
        <p:spPr>
          <a:xfrm>
            <a:off x="812800" y="812800"/>
            <a:ext cx="2095500" cy="431800"/>
          </a:xfrm>
          <a:prstGeom prst="rect">
            <a:avLst/>
          </a:prstGeom>
        </p:spPr>
      </p:pic>
      <p:sp>
        <p:nvSpPr>
          <p:cNvPr id="5" name="Text 2"/>
          <p:cNvSpPr>
            <a:spLocks noGrp="1"/>
          </p:cNvSpPr>
          <p:nvPr>
            <p:ph type="title"/>
          </p:nvPr>
        </p:nvSpPr>
        <p:spPr>
          <a:xfrm>
            <a:off x="812800" y="2312789"/>
            <a:ext cx="6867525" cy="1518841"/>
          </a:xfrm>
          <a:prstGeom prst="rect">
            <a:avLst/>
          </a:prstGeom>
          <a:noFill/>
          <a:ln/>
        </p:spPr>
        <p:txBody>
          <a:bodyPr wrap="square" lIns="0" tIns="0" rIns="0" bIns="0" rtlCol="0" anchor="t">
            <a:normAutofit/>
          </a:bodyPr>
          <a:lstStyle/>
          <a:p>
            <a:pPr marL="0" indent="0" algn="l">
              <a:lnSpc>
                <a:spcPts val="5880"/>
              </a:lnSpc>
              <a:buNone/>
            </a:pPr>
            <a:r>
              <a:rPr lang="es-CO" sz="5600" b="0" i="0" noProof="0" dirty="0">
                <a:solidFill>
                  <a:srgbClr val="1C2142"/>
                </a:solidFill>
                <a:latin typeface="Fraunces" pitchFamily="18" charset="0"/>
                <a:ea typeface="Fraunces" pitchFamily="18" charset="-122"/>
                <a:cs typeface="Fraunces" pitchFamily="18" charset="-120"/>
              </a:rPr>
              <a:t>Gracias por tu tiempo.</a:t>
            </a:r>
            <a:endParaRPr lang="es-CO" sz="5600" noProof="0" dirty="0"/>
          </a:p>
        </p:txBody>
      </p:sp>
      <p:sp>
        <p:nvSpPr>
          <p:cNvPr id="6" name="Text 3"/>
          <p:cNvSpPr/>
          <p:nvPr/>
        </p:nvSpPr>
        <p:spPr>
          <a:xfrm>
            <a:off x="812800" y="4034830"/>
            <a:ext cx="6867525" cy="736600"/>
          </a:xfrm>
          <a:prstGeom prst="rect">
            <a:avLst/>
          </a:prstGeom>
          <a:noFill/>
          <a:ln/>
        </p:spPr>
        <p:txBody>
          <a:bodyPr wrap="square" lIns="0" tIns="0" rIns="0" bIns="0" rtlCol="0" anchor="t">
            <a:normAutofit/>
          </a:bodyPr>
          <a:lstStyle/>
          <a:p>
            <a:pPr marL="0" indent="0" algn="l">
              <a:lnSpc>
                <a:spcPts val="2800"/>
              </a:lnSpc>
              <a:buNone/>
            </a:pPr>
            <a:r>
              <a:rPr lang="es-CO" sz="2000" noProof="0" dirty="0">
                <a:solidFill>
                  <a:srgbClr val="4A5070"/>
                </a:solidFill>
                <a:latin typeface="Nunito Sans" pitchFamily="34" charset="0"/>
                <a:ea typeface="Nunito Sans" pitchFamily="34" charset="-122"/>
                <a:cs typeface="Nunito Sans" pitchFamily="34" charset="-120"/>
              </a:rPr>
              <a:t>Ahora sí: ¿qué te preocupa, qué te frustra, qué quieres preguntar?</a:t>
            </a:r>
            <a:endParaRPr lang="es-CO" sz="2000" noProof="0" dirty="0"/>
          </a:p>
        </p:txBody>
      </p:sp>
      <p:sp>
        <p:nvSpPr>
          <p:cNvPr id="7" name="Text 4"/>
          <p:cNvSpPr/>
          <p:nvPr/>
        </p:nvSpPr>
        <p:spPr>
          <a:xfrm>
            <a:off x="812800" y="5814120"/>
            <a:ext cx="10883392" cy="256480"/>
          </a:xfrm>
          <a:prstGeom prst="rect">
            <a:avLst/>
          </a:prstGeom>
          <a:noFill/>
          <a:ln/>
        </p:spPr>
        <p:txBody>
          <a:bodyPr wrap="square" lIns="0" tIns="0" rIns="0" bIns="0" rtlCol="0" anchor="t">
            <a:normAutofit/>
          </a:bodyPr>
          <a:lstStyle/>
          <a:p>
            <a:pPr marL="0" indent="0" algn="l">
              <a:lnSpc>
                <a:spcPts val="1820"/>
              </a:lnSpc>
              <a:buNone/>
            </a:pPr>
            <a:r>
              <a:rPr lang="es-CO" sz="1300" noProof="0" dirty="0">
                <a:solidFill>
                  <a:srgbClr val="6B7085"/>
                </a:solidFill>
                <a:latin typeface="Nunito Sans" pitchFamily="34" charset="0"/>
                <a:ea typeface="Nunito Sans" pitchFamily="34" charset="-122"/>
                <a:cs typeface="Nunito Sans" pitchFamily="34" charset="-120"/>
              </a:rPr>
              <a:t>[Nombre del expositor] · [correo de contacto] · pralogy.co</a:t>
            </a:r>
            <a:endParaRPr lang="es-CO" sz="1300" noProof="0" dirty="0"/>
          </a:p>
        </p:txBody>
      </p:sp>
    </p:spTree>
  </p:cSld>
  <p:clrMapOvr>
    <a:masterClrMapping/>
  </p:clrMapOvr>
</p:sld>
</file>

<file path=ppt/theme/theme1.xml><?xml version="1.0" encoding="utf-8"?>
<a:theme xmlns:a="http://schemas.openxmlformats.org/drawingml/2006/main" name="Ciberseguridad sin ansiedad">
  <a:themeElements>
    <a:clrScheme name="Ciberseguridad sin ansiedad">
      <a:dk1>
        <a:srgbClr val="1C2142"/>
      </a:dk1>
      <a:lt1>
        <a:srgbClr val="F6F5F1"/>
      </a:lt1>
      <a:dk2>
        <a:srgbClr val="53566E"/>
      </a:dk2>
      <a:lt2>
        <a:srgbClr val="E0E0E0"/>
      </a:lt2>
      <a:accent1>
        <a:srgbClr val="2F3EBF"/>
      </a:accent1>
      <a:accent2>
        <a:srgbClr val="9DA8F2"/>
      </a:accent2>
      <a:accent3>
        <a:srgbClr val="2E3A9E"/>
      </a:accent3>
      <a:accent4>
        <a:srgbClr val="4A5070"/>
      </a:accent4>
      <a:accent5>
        <a:srgbClr val="6B7085"/>
      </a:accent5>
      <a:accent6>
        <a:srgbClr val="C7CCE8"/>
      </a:accent6>
      <a:hlink>
        <a:srgbClr val="0563C1"/>
      </a:hlink>
      <a:folHlink>
        <a:srgbClr val="954F72"/>
      </a:folHlink>
    </a:clrScheme>
    <a:fontScheme name="Ciberseguridad sin ansiedad">
      <a:majorFont>
        <a:latin typeface="Fraunce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887</TotalTime>
  <Words>3258</Words>
  <Application>Microsoft Office PowerPoint</Application>
  <PresentationFormat>Widescreen</PresentationFormat>
  <Paragraphs>238</Paragraphs>
  <Slides>24</Slides>
  <Notes>24</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Nunito Sans</vt:lpstr>
      <vt:lpstr>Wingdings</vt:lpstr>
      <vt:lpstr>Arial</vt:lpstr>
      <vt:lpstr>Fraunces</vt:lpstr>
      <vt:lpstr>Ciberseguridad sin ansiedad</vt:lpstr>
      <vt:lpstr>Ciberseguridad sin ansiedad</vt:lpstr>
      <vt:lpstr>¿Por qué yo? ¿Es necesario?</vt:lpstr>
      <vt:lpstr>Una empresa de ciberseguridad contrató a un hacker sin saberlo</vt:lpstr>
      <vt:lpstr>No eres el eslabón débil.</vt:lpstr>
      <vt:lpstr>La urgencia como arma</vt:lpstr>
      <vt:lpstr>No atacan tu computador. Prefieren atacar tus emociones.</vt:lpstr>
      <vt:lpstr>Ingeniería social en su mayor esplendor.</vt:lpstr>
      <vt:lpstr>PowerPoint Presentation</vt:lpstr>
      <vt:lpstr>Confía en mí, me conoces.</vt:lpstr>
      <vt:lpstr>Las estafas funcionan porque inducen pánico inmediato.</vt:lpstr>
      <vt:lpstr>Tres hábitos útiles.</vt:lpstr>
      <vt:lpstr>Un gestor de contraseñas recuerda por ti.</vt:lpstr>
      <vt:lpstr>Pausa y verifica por otro canal</vt:lpstr>
      <vt:lpstr>Olvida la jerga. Mira solo tres cosas.</vt:lpstr>
      <vt:lpstr>¿A dónde van tus datos cuando usas IA?</vt:lpstr>
      <vt:lpstr>Gratis no es lo mismo que empresarial</vt:lpstr>
      <vt:lpstr>Si pasa, reporta. No cargas solo con eso.</vt:lpstr>
      <vt:lpstr>Son las 3 de la tarde. Hiciste clic en algo raro y te quedó la duda. ¿Qué haces?</vt:lpstr>
      <vt:lpstr>Esconderlo es lo único que de verdad empeora las cosas</vt:lpstr>
      <vt:lpstr>Qué pasa cuando reportas</vt:lpstr>
      <vt:lpstr>«Creo que hice clic en algo raro»</vt:lpstr>
      <vt:lpstr>Cuatro ideas para tu tranquilidad</vt:lpstr>
      <vt:lpstr>Aquí no estás solo: a quién acudir</vt:lpstr>
      <vt:lpstr>Gracias por tu tiempo.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Ciberseguridad sin ansiedad</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Nunito Sans
Copyright 2016 The Nunito Sans Project Authors (https://github.com/Fonthausen/NunitoSans)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Fraunces
Copyright 2018 The Fraunces Project Authors (https://github.com/undercasetype/Fraunces)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Pralogy Security</cp:lastModifiedBy>
  <cp:revision>10</cp:revision>
  <dcterms:created xsi:type="dcterms:W3CDTF">2026-10-22T13:59:02Z</dcterms:created>
  <dcterms:modified xsi:type="dcterms:W3CDTF">2026-10-26T14:46:20Z</dcterms:modified>
</cp:coreProperties>
</file>