
<file path=[Content_Types].xml><?xml version="1.0" encoding="utf-8"?>
<Types xmlns="http://schemas.openxmlformats.org/package/2006/content-types">
  <Default Extension="fntdata" ContentType="application/x-fontdata"/>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svg" ContentType="image/svg+xml"/>
  <Override PartName="/ppt/media/image30.svg" ContentType="image/svg+xml"/>
  <Override PartName="/ppt/media/image32.svg" ContentType="image/svg+xml"/>
  <Override PartName="/ppt/media/image3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3"/>
  </p:notesMasterIdLst>
  <p:sldIdLst>
    <p:sldId id="256" r:id="rId2"/>
    <p:sldId id="257" r:id="rId3"/>
    <p:sldId id="260" r:id="rId4"/>
    <p:sldId id="259" r:id="rId5"/>
    <p:sldId id="262" r:id="rId6"/>
    <p:sldId id="263" r:id="rId7"/>
    <p:sldId id="264" r:id="rId8"/>
    <p:sldId id="265" r:id="rId9"/>
    <p:sldId id="284" r:id="rId10"/>
    <p:sldId id="269" r:id="rId11"/>
    <p:sldId id="270" r:id="rId12"/>
    <p:sldId id="272" r:id="rId13"/>
    <p:sldId id="273" r:id="rId14"/>
    <p:sldId id="274" r:id="rId15"/>
    <p:sldId id="285" r:id="rId16"/>
    <p:sldId id="286" r:id="rId17"/>
    <p:sldId id="276" r:id="rId18"/>
    <p:sldId id="278" r:id="rId19"/>
    <p:sldId id="279" r:id="rId20"/>
    <p:sldId id="282" r:id="rId21"/>
    <p:sldId id="283" r:id="rId22"/>
  </p:sldIdLst>
  <p:sldSz cx="12192000" cy="6858000"/>
  <p:notesSz cx="6858000" cy="12192000"/>
  <p:embeddedFontLst>
    <p:embeddedFont>
      <p:font typeface="Fraunces" panose="020B0604020202020204" charset="0"/>
      <p:regular r:id="rId24"/>
      <p:bold r:id="rId25"/>
    </p:embeddedFont>
    <p:embeddedFont>
      <p:font typeface="Nunito Sans" pitchFamily="2" charset="0"/>
      <p:regular r:id="rId26"/>
      <p:bold r:id="rId27"/>
      <p:italic r:id="rId28"/>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10"/>
  </p:normalViewPr>
  <p:slideViewPr>
    <p:cSldViewPr snapToGrid="0" snapToObjects="1">
      <p:cViewPr varScale="1">
        <p:scale>
          <a:sx n="70" d="100"/>
          <a:sy n="70" d="100"/>
        </p:scale>
        <p:origin x="512"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font" Target="fonts/font1.fntdata"/><Relationship Id="rId25" Type="http://schemas.openxmlformats.org/officeDocument/2006/relationships/font" Target="fonts/font2.fntdata"/><Relationship Id="rId26" Type="http://schemas.openxmlformats.org/officeDocument/2006/relationships/font" Target="fonts/font3.fntdata"/><Relationship Id="rId27" Type="http://schemas.openxmlformats.org/officeDocument/2006/relationships/font" Target="fonts/font4.fntdata"/><Relationship Id="rId28" Type="http://schemas.openxmlformats.org/officeDocument/2006/relationships/font" Target="fonts/font5.fntdata"/><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782075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cálida, sin formalidades. Presentarse en una línea. Decir desde el inicio: esta no es la típica capacitación de seguridad llena de reglas. Es una conversación para que salgan con menos carga, no con más. Duración: una hora.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Siente</a:t>
            </a:r>
            <a:r>
              <a:rPr lang="en-US" dirty="0"/>
              <a:t> </a:t>
            </a:r>
            <a:r>
              <a:rPr lang="en-US" dirty="0" err="1"/>
              <a:t>que</a:t>
            </a:r>
            <a:r>
              <a:rPr lang="en-US" dirty="0"/>
              <a:t> </a:t>
            </a:r>
            <a:r>
              <a:rPr lang="en-US" dirty="0" err="1"/>
              <a:t>su</a:t>
            </a:r>
            <a:r>
              <a:rPr lang="en-US" dirty="0"/>
              <a:t> día </a:t>
            </a:r>
            <a:r>
              <a:rPr lang="en-US" dirty="0" err="1"/>
              <a:t>está</a:t>
            </a:r>
            <a:r>
              <a:rPr lang="en-US" dirty="0"/>
              <a:t> </a:t>
            </a:r>
            <a:r>
              <a:rPr lang="en-US" dirty="0" err="1"/>
              <a:t>lleno</a:t>
            </a:r>
            <a:r>
              <a:rPr lang="en-US" dirty="0"/>
              <a:t> de </a:t>
            </a:r>
            <a:r>
              <a:rPr lang="en-US" dirty="0" err="1"/>
              <a:t>pendientes</a:t>
            </a:r>
            <a:r>
              <a:rPr lang="en-US" dirty="0"/>
              <a:t>, </a:t>
            </a:r>
            <a:r>
              <a:rPr lang="en-US" dirty="0" err="1"/>
              <a:t>tareas</a:t>
            </a:r>
            <a:r>
              <a:rPr lang="en-US" dirty="0"/>
              <a:t> y </a:t>
            </a:r>
            <a:r>
              <a:rPr lang="en-US" dirty="0" err="1"/>
              <a:t>obligaciones</a:t>
            </a:r>
            <a:r>
              <a:rPr lang="en-US" dirty="0"/>
              <a:t> con las </a:t>
            </a:r>
            <a:r>
              <a:rPr lang="en-US" dirty="0" err="1"/>
              <a:t>que</a:t>
            </a:r>
            <a:r>
              <a:rPr lang="en-US" dirty="0"/>
              <a:t> se </a:t>
            </a:r>
            <a:r>
              <a:rPr lang="en-US" dirty="0" err="1"/>
              <a:t>siente</a:t>
            </a:r>
            <a:r>
              <a:rPr lang="en-US" dirty="0"/>
              <a:t> </a:t>
            </a:r>
            <a:r>
              <a:rPr lang="en-US" dirty="0" err="1"/>
              <a:t>abrumado</a:t>
            </a:r>
            <a:r>
              <a:rPr lang="en-US" dirty="0"/>
              <a:t>, y </a:t>
            </a:r>
            <a:r>
              <a:rPr lang="en-US" dirty="0" err="1"/>
              <a:t>además</a:t>
            </a:r>
            <a:r>
              <a:rPr lang="en-US" dirty="0"/>
              <a:t> le </a:t>
            </a:r>
            <a:r>
              <a:rPr lang="en-US" dirty="0" err="1"/>
              <a:t>parece</a:t>
            </a:r>
            <a:r>
              <a:rPr lang="en-US" dirty="0"/>
              <a:t> </a:t>
            </a:r>
            <a:r>
              <a:rPr lang="en-US" dirty="0" err="1"/>
              <a:t>que</a:t>
            </a:r>
            <a:r>
              <a:rPr lang="en-US" dirty="0"/>
              <a:t> la </a:t>
            </a:r>
            <a:r>
              <a:rPr lang="en-US" dirty="0" err="1"/>
              <a:t>ciberseguridad</a:t>
            </a:r>
            <a:r>
              <a:rPr lang="en-US" dirty="0"/>
              <a:t> le </a:t>
            </a:r>
            <a:r>
              <a:rPr lang="en-US" dirty="0" err="1"/>
              <a:t>añade</a:t>
            </a:r>
            <a:r>
              <a:rPr lang="en-US" dirty="0"/>
              <a:t> </a:t>
            </a:r>
            <a:r>
              <a:rPr lang="en-US" dirty="0" err="1"/>
              <a:t>una</a:t>
            </a:r>
            <a:r>
              <a:rPr lang="en-US" dirty="0"/>
              <a:t> </a:t>
            </a:r>
            <a:r>
              <a:rPr lang="en-US" dirty="0" err="1"/>
              <a:t>capa</a:t>
            </a:r>
            <a:r>
              <a:rPr lang="en-US" dirty="0"/>
              <a:t> extra de </a:t>
            </a:r>
            <a:r>
              <a:rPr lang="en-US" dirty="0" err="1"/>
              <a:t>estrés</a:t>
            </a:r>
            <a:r>
              <a:rPr lang="en-US" dirty="0"/>
              <a:t> y </a:t>
            </a:r>
            <a:r>
              <a:rPr lang="en-US" dirty="0" err="1"/>
              <a:t>ansiedad</a:t>
            </a:r>
            <a:r>
              <a:rPr lang="en-US" dirty="0"/>
              <a:t>?</a:t>
            </a:r>
          </a:p>
          <a:p>
            <a:r>
              <a:rPr lang="en-US" dirty="0" err="1"/>
              <a:t>Tenemos</a:t>
            </a:r>
            <a:r>
              <a:rPr lang="en-US" dirty="0"/>
              <a:t> </a:t>
            </a:r>
            <a:r>
              <a:rPr lang="en-US" dirty="0" err="1"/>
              <a:t>acceso</a:t>
            </a:r>
            <a:r>
              <a:rPr lang="en-US" dirty="0"/>
              <a:t> a </a:t>
            </a:r>
            <a:r>
              <a:rPr lang="en-US" dirty="0" err="1"/>
              <a:t>información</a:t>
            </a:r>
            <a:r>
              <a:rPr lang="en-US" dirty="0"/>
              <a:t> de la </a:t>
            </a:r>
            <a:r>
              <a:rPr lang="en-US" dirty="0" err="1"/>
              <a:t>empresa</a:t>
            </a:r>
            <a:r>
              <a:rPr lang="en-US" dirty="0"/>
              <a:t> </a:t>
            </a:r>
            <a:r>
              <a:rPr lang="en-US" dirty="0" err="1"/>
              <a:t>como</a:t>
            </a:r>
            <a:r>
              <a:rPr lang="en-US" dirty="0"/>
              <a:t> Facturas, </a:t>
            </a:r>
            <a:r>
              <a:rPr lang="en-US" dirty="0" err="1"/>
              <a:t>aprobaciones</a:t>
            </a:r>
            <a:r>
              <a:rPr lang="en-US" dirty="0"/>
              <a:t>, </a:t>
            </a:r>
            <a:r>
              <a:rPr lang="en-US" dirty="0" err="1"/>
              <a:t>correos</a:t>
            </a:r>
            <a:r>
              <a:rPr lang="en-US" dirty="0"/>
              <a:t>, bases de </a:t>
            </a:r>
            <a:r>
              <a:rPr lang="en-US" dirty="0" err="1"/>
              <a:t>datos</a:t>
            </a:r>
            <a:r>
              <a:rPr lang="en-US" dirty="0"/>
              <a:t>, </a:t>
            </a:r>
            <a:r>
              <a:rPr lang="en-US" dirty="0" err="1"/>
              <a:t>documentos</a:t>
            </a:r>
            <a:r>
              <a:rPr lang="en-US" dirty="0"/>
              <a:t>. </a:t>
            </a:r>
            <a:r>
              <a:rPr lang="en-US" dirty="0" err="1"/>
              <a:t>Puede</a:t>
            </a:r>
            <a:r>
              <a:rPr lang="en-US" dirty="0"/>
              <a:t> </a:t>
            </a:r>
            <a:r>
              <a:rPr lang="en-US" dirty="0" err="1"/>
              <a:t>parecernos</a:t>
            </a:r>
            <a:r>
              <a:rPr lang="en-US" dirty="0"/>
              <a:t> </a:t>
            </a:r>
            <a:r>
              <a:rPr lang="en-US" dirty="0" err="1"/>
              <a:t>que</a:t>
            </a:r>
            <a:r>
              <a:rPr lang="en-US" dirty="0"/>
              <a:t> la </a:t>
            </a:r>
            <a:r>
              <a:rPr lang="en-US" dirty="0" err="1"/>
              <a:t>información</a:t>
            </a:r>
            <a:r>
              <a:rPr lang="en-US" dirty="0"/>
              <a:t> </a:t>
            </a:r>
            <a:r>
              <a:rPr lang="en-US" dirty="0" err="1"/>
              <a:t>que</a:t>
            </a:r>
            <a:r>
              <a:rPr lang="en-US" dirty="0"/>
              <a:t> </a:t>
            </a:r>
            <a:r>
              <a:rPr lang="en-US" dirty="0" err="1"/>
              <a:t>manejamos</a:t>
            </a:r>
            <a:r>
              <a:rPr lang="en-US" dirty="0"/>
              <a:t> no es tan </a:t>
            </a:r>
            <a:r>
              <a:rPr lang="en-US" dirty="0" err="1"/>
              <a:t>relevante</a:t>
            </a:r>
            <a:r>
              <a:rPr lang="en-US" dirty="0"/>
              <a:t> </a:t>
            </a:r>
            <a:r>
              <a:rPr lang="en-US" dirty="0" err="1"/>
              <a:t>pero</a:t>
            </a:r>
            <a:r>
              <a:rPr lang="en-US" dirty="0"/>
              <a:t> para un </a:t>
            </a:r>
            <a:r>
              <a:rPr lang="en-US" dirty="0" err="1"/>
              <a:t>atacante</a:t>
            </a:r>
            <a:r>
              <a:rPr lang="en-US" dirty="0"/>
              <a:t> </a:t>
            </a:r>
            <a:r>
              <a:rPr lang="en-US" dirty="0" err="1"/>
              <a:t>esta</a:t>
            </a:r>
            <a:r>
              <a:rPr lang="en-US" dirty="0"/>
              <a:t> </a:t>
            </a:r>
            <a:r>
              <a:rPr lang="en-US" dirty="0" err="1"/>
              <a:t>información</a:t>
            </a:r>
            <a:r>
              <a:rPr lang="en-US" dirty="0"/>
              <a:t> es </a:t>
            </a:r>
            <a:r>
              <a:rPr lang="en-US" dirty="0" err="1"/>
              <a:t>oro</a:t>
            </a:r>
            <a:r>
              <a:rPr lang="en-US" dirty="0"/>
              <a:t> y van a </a:t>
            </a:r>
            <a:r>
              <a:rPr lang="en-US" dirty="0" err="1"/>
              <a:t>buscar</a:t>
            </a:r>
            <a:r>
              <a:rPr lang="en-US" dirty="0"/>
              <a:t> </a:t>
            </a:r>
            <a:r>
              <a:rPr lang="en-US" dirty="0" err="1"/>
              <a:t>conseguirla</a:t>
            </a:r>
            <a:r>
              <a:rPr lang="en-US" dirty="0"/>
              <a:t> </a:t>
            </a:r>
            <a:r>
              <a:rPr lang="en-US" dirty="0" err="1"/>
              <a:t>engañandonos</a:t>
            </a:r>
            <a:r>
              <a:rPr lang="en-US" dirty="0"/>
              <a:t>.</a:t>
            </a:r>
          </a:p>
          <a:p>
            <a:r>
              <a:rPr lang="en-US" dirty="0"/>
              <a:t>Esto se </a:t>
            </a:r>
            <a:r>
              <a:rPr lang="en-US" dirty="0" err="1"/>
              <a:t>conoce</a:t>
            </a:r>
            <a:r>
              <a:rPr lang="en-US" dirty="0"/>
              <a:t> </a:t>
            </a:r>
            <a:r>
              <a:rPr lang="en-US" dirty="0" err="1"/>
              <a:t>como</a:t>
            </a:r>
            <a:r>
              <a:rPr lang="en-US" dirty="0"/>
              <a:t> phishing, </a:t>
            </a:r>
            <a:r>
              <a:rPr lang="en-US" dirty="0" err="1"/>
              <a:t>pero</a:t>
            </a:r>
            <a:r>
              <a:rPr lang="en-US" dirty="0"/>
              <a:t> </a:t>
            </a:r>
            <a:r>
              <a:rPr lang="en-US" dirty="0" err="1"/>
              <a:t>quiero</a:t>
            </a:r>
            <a:r>
              <a:rPr lang="en-US" dirty="0"/>
              <a:t> </a:t>
            </a:r>
            <a:r>
              <a:rPr lang="en-US" dirty="0" err="1"/>
              <a:t>que</a:t>
            </a:r>
            <a:r>
              <a:rPr lang="en-US" dirty="0"/>
              <a:t> </a:t>
            </a:r>
            <a:r>
              <a:rPr lang="en-US" dirty="0" err="1"/>
              <a:t>sepas</a:t>
            </a:r>
            <a:r>
              <a:rPr lang="en-US" dirty="0"/>
              <a:t> </a:t>
            </a:r>
            <a:r>
              <a:rPr lang="en-US" dirty="0" err="1"/>
              <a:t>que</a:t>
            </a:r>
            <a:r>
              <a:rPr lang="en-US" dirty="0"/>
              <a:t> el phishing no es </a:t>
            </a:r>
            <a:r>
              <a:rPr lang="en-US" dirty="0" err="1"/>
              <a:t>tu</a:t>
            </a:r>
            <a:r>
              <a:rPr lang="en-US" dirty="0"/>
              <a:t> culpa. </a:t>
            </a:r>
            <a:r>
              <a:rPr lang="en-US" dirty="0" err="1"/>
              <a:t>Reportar</a:t>
            </a:r>
            <a:r>
              <a:rPr lang="en-US" dirty="0"/>
              <a:t> </a:t>
            </a:r>
            <a:r>
              <a:rPr lang="en-US" dirty="0" err="1"/>
              <a:t>siempre</a:t>
            </a:r>
            <a:r>
              <a:rPr lang="en-US" dirty="0"/>
              <a:t> </a:t>
            </a:r>
            <a:r>
              <a:rPr lang="en-US" dirty="0" err="1"/>
              <a:t>va</a:t>
            </a:r>
            <a:r>
              <a:rPr lang="en-US" dirty="0"/>
              <a:t> a ser la </a:t>
            </a:r>
            <a:r>
              <a:rPr lang="en-US" dirty="0" err="1"/>
              <a:t>mejor</a:t>
            </a:r>
            <a:r>
              <a:rPr lang="en-US" dirty="0"/>
              <a:t> </a:t>
            </a:r>
            <a:r>
              <a:rPr lang="en-US" dirty="0" err="1"/>
              <a:t>opcion</a:t>
            </a:r>
            <a:r>
              <a:rPr lang="en-US" dirty="0"/>
              <a:t>.</a:t>
            </a:r>
          </a:p>
          <a:p>
            <a:r>
              <a:rPr lang="en-US" dirty="0"/>
              <a:t>Lo </a:t>
            </a:r>
            <a:r>
              <a:rPr lang="en-US" dirty="0" err="1"/>
              <a:t>más</a:t>
            </a:r>
            <a:r>
              <a:rPr lang="en-US" dirty="0"/>
              <a:t> </a:t>
            </a:r>
            <a:r>
              <a:rPr lang="en-US" dirty="0" err="1"/>
              <a:t>irónico</a:t>
            </a:r>
            <a:r>
              <a:rPr lang="en-US" dirty="0"/>
              <a:t> de </a:t>
            </a:r>
            <a:r>
              <a:rPr lang="en-US" dirty="0" err="1"/>
              <a:t>todo</a:t>
            </a:r>
            <a:r>
              <a:rPr lang="en-US" dirty="0"/>
              <a:t> es </a:t>
            </a:r>
            <a:r>
              <a:rPr lang="en-US" dirty="0" err="1"/>
              <a:t>que</a:t>
            </a:r>
            <a:r>
              <a:rPr lang="en-US" dirty="0"/>
              <a:t> </a:t>
            </a:r>
            <a:r>
              <a:rPr lang="en-US" dirty="0" err="1"/>
              <a:t>todos</a:t>
            </a:r>
            <a:r>
              <a:rPr lang="en-US" dirty="0"/>
              <a:t> </a:t>
            </a:r>
            <a:r>
              <a:rPr lang="en-US" dirty="0" err="1"/>
              <a:t>tenemos</a:t>
            </a:r>
            <a:r>
              <a:rPr lang="en-US" dirty="0"/>
              <a:t> </a:t>
            </a:r>
            <a:r>
              <a:rPr lang="en-US" dirty="0" err="1"/>
              <a:t>que</a:t>
            </a:r>
            <a:r>
              <a:rPr lang="en-US" dirty="0"/>
              <a:t> </a:t>
            </a:r>
            <a:r>
              <a:rPr lang="en-US" dirty="0" err="1"/>
              <a:t>estar</a:t>
            </a:r>
            <a:r>
              <a:rPr lang="en-US" dirty="0"/>
              <a:t> </a:t>
            </a:r>
            <a:r>
              <a:rPr lang="en-US" dirty="0" err="1"/>
              <a:t>alerta</a:t>
            </a:r>
            <a:r>
              <a:rPr lang="en-US" dirty="0"/>
              <a:t>, </a:t>
            </a:r>
            <a:r>
              <a:rPr lang="en-US" dirty="0" err="1"/>
              <a:t>ya</a:t>
            </a:r>
            <a:r>
              <a:rPr lang="en-US" dirty="0"/>
              <a:t> </a:t>
            </a:r>
            <a:r>
              <a:rPr lang="en-US" dirty="0" err="1"/>
              <a:t>que</a:t>
            </a:r>
            <a:r>
              <a:rPr lang="en-US" dirty="0"/>
              <a:t> hasta las </a:t>
            </a:r>
            <a:r>
              <a:rPr lang="en-US" dirty="0" err="1"/>
              <a:t>empresas</a:t>
            </a:r>
            <a:r>
              <a:rPr lang="en-US" dirty="0"/>
              <a:t> de </a:t>
            </a:r>
            <a:r>
              <a:rPr lang="en-US" dirty="0" err="1"/>
              <a:t>ciberseguridad</a:t>
            </a:r>
            <a:r>
              <a:rPr lang="en-US" dirty="0"/>
              <a:t> </a:t>
            </a:r>
            <a:r>
              <a:rPr lang="en-US" dirty="0" err="1"/>
              <a:t>caen</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KnowBe4 es una empresa cuyo negocio es entrenar empleados contra el phishing. En julio de 2024 contrató a un ingeniero remoto que resultó ser un operativo de Corea del Norte. Si le pasa a ellos, a cualquiera le puede pasar. Lo importante es cómo terminó: nadie fue despedido por haberlo entrevistado; el sistema de detección alertó en unos 25 minutos y contuvieron el equipo esa misma noche. Fuente: blog.knowbe4.com, «How a North Korean Fake IT Worker Tried to Infiltrate Us».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Reconocer lo que la gente ya intuye: sí, las personas son el punto más atacado. Pero darle la vuelta: te buscan porque tienes acceso a lo valioso, no porque hagas mal tu trabajo. Atacar a una persona con un correo convincente es más barato que romper un sistema bien protegido. Por eso la persona atenta es la primera línea de defensa. Decirlo con tono de reconocimiento, no de advertencia.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primer bloque, unos 15 minutos. Idea central: los ataques no explotan que no sepas de tecnología. Explotan emociones que todos tenemos. Reconocer la emoción es la defensa.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los cuatro mensajes en voz alta. Preguntar: ¿cuál de estos han recibido? Casi siempre alguien reconoce el del gerente o el del banco. El punto: ninguno pide saber de tecnología. Todos buscan que actúes antes de pensar. Si reconoces la emoción, ya ganaste la mitad.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dirty="0"/>
              <a:t>Como resultado, se transfirieron aproximadamente 25 millones de dólares a cinco cuentas bancarias en Hong Kong [1]. El robo no se detectó hasta que el empleado que fue víctima del ataque se comunicó con un superior de </a:t>
            </a:r>
            <a:r>
              <a:rPr lang="es-ES" dirty="0" err="1"/>
              <a:t>Arup</a:t>
            </a:r>
            <a:r>
              <a:rPr lang="es-ES" dirty="0"/>
              <a:t>, quien no tenía conocimiento de las transacciones en cuestión. A finales de 2025, la investigación seguía en curso y no se ha dado a conocer públicamente ninguna información nueva sobre el atacante.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Contraste directo con Arup. Mismo tipo de ataque, distinto final. La diferencia no fue tecnología, fue una pausa y una pregunta que solo la persona real podía responder. Invitar a la sala a pensar: ¿qué pregunta le harían a su jefe? Lo que almorzaron, el nombre de su mascota, algo de la última reunión. Fuente: Bloomberg, 26 de julio de 2024; La República (Colombia).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EEBE2-BAF2-86D4-E0A5-40BFE7DF91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592BC8-506D-46CB-B429-432F1C0F9D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08454B-EF9A-8DEF-4D30-857702DF34D5}"/>
              </a:ext>
            </a:extLst>
          </p:cNvPr>
          <p:cNvSpPr>
            <a:spLocks noGrp="1"/>
          </p:cNvSpPr>
          <p:nvPr>
            <p:ph type="body" idx="1"/>
          </p:nvPr>
        </p:nvSpPr>
        <p:spPr/>
        <p:txBody>
          <a:bodyPr/>
          <a:lstStyle/>
          <a:p>
            <a:r>
              <a:rPr lang="en-US" dirty="0"/>
              <a:t>Contraste directo con Arup. Mismo tipo de ataque, distinto final. La diferencia no fue tecnología, fue una pausa y una pregunta que solo la persona real podía responder. Invitar a la sala a pensar: ¿qué pregunta le harían a su jefe? Lo que almorzaron, el nombre de su mascota, algo de la última reunión. Fuente: Bloomberg, 26 de julio de 2024; La República (Colombia).</a:t>
            </a:r>
          </a:p>
        </p:txBody>
      </p:sp>
      <p:sp>
        <p:nvSpPr>
          <p:cNvPr id="4" name="Slide Number Placeholder 3">
            <a:extLst>
              <a:ext uri="{FF2B5EF4-FFF2-40B4-BE49-F238E27FC236}">
                <a16:creationId xmlns:a16="http://schemas.microsoft.com/office/drawing/2014/main" id="{BAAF0817-3D6A-A460-C6CA-950B684A1949}"/>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8828758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la frase y dejar un silencio. Si la empresa cliente está presente con un directivo, es ideal que esa persona lo confirme en voz alta: «En esta empresa, confirmar nunca es un problema». Ese respaldo vale más que cualquier diapositiva.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segundo bloque, unos 15 minutos. Idea central: no se trata de recordar más cosas, sino de recordar menos y hacerlas automáticas.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la empresa ya tiene un gestor aprobado, hacer una demostración de dos minutos: guardar una contraseña y autocompletarla. Si no lo tiene, este es el momento de recomendarlo a la gerencia; es de las medidas con mejor relación costo beneficio. Presentarlo como bienestar, no como obligación: menos cosas que recordar.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hábito que habría salvado a Arup y el que salvó a Ferrari. Remarcar el alivio: la responsabilidad no es detectar el fraude, es seguir el proceso. Que el proceso te proteja. Si la empresa no tiene un canal de verificación definido, anotarlo como tarea para las reglas de la casa al final.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Este hábito es la red de seguridad: si algún día caes en un correo falso y entregas tu contraseña, el atacante todavía necesita tu celular. Por eso baja la ansiedad: no tienes que ser perfecto detectando estafas. Se activa una sola vez, en unos cinco minutos, en la configuración de seguridad de cada cuenta. Prioridad: el correo (es la llave para recuperar todo lo demás), el banco y WhatsApp (Ajustes &gt; Cuenta &gt; Verificación en dos pasos). Si la empresa lo permite, hacer la demostración en vivo con WhatsApp: es la que todos tienen. Mensaje clave sobre los códigos: un código que llega sin haberlo pedido no es un error, es la señal de que alguien tiene tu contraseña y el segundo paso lo frenó. Nunca se le dicta a nadie, ni a quien diga ser del banco o de soporte. Cambiar la contraseña y avisar a seguridad. Fuentes: CISA, «More than a Password» (cisa.gov/MFA); Microsoft reporta que la verificación en varios pasos bloquea más del 99 % de los ataques automatizados a cuentas; WhatsApp, centro de ayuda «Cómo usar la verificación en dos pasos».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Explicarlo con un ejemplo cotidiano: «ayúdame a responderle a Juan Pérez, cédula tal, que tiene un crédito en mora». Al dar enviar: (1) el texto sale cifrado de tu computador; (2) llega a los servidores del proveedor, normalmente en Estados Unidos; (3) se guarda en el historial y en registros de seguridad al menos unos 30 días aunque borres el chat, y en algunos casos revisores humanos leen conversaciones (Google lo declara para Gemini personal y conserva lo revisado hasta 3 años). Además, un juez puede ordenar conservar los chats: en el caso New York Times contra OpenAI (2025) se ordenó preservar incluso chats borrados. En Colombia, enviar datos personales de clientes a otro país requiere autorización del titular y contrato con el proveedor (Ley 1581 de 2012). Fuentes: help.openai.com (retención de chats), support.google.com/gemini/answer/13594961, openai.com/index/response-to-nyt-data-demands.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Casi todos los proveedores dicen «no entrenamos con tus datos», pero depende del plan y de un interruptor que casi nadie abre. Ejemplos (verificados a octubre de 2026; revisar antes de presentar): ChatGPT Free, Plus y Pro entrenan por defecto salvo que apagues «Mejorar el modelo para todos»; Business, Enterprise y API no. Claude Free, Pro y Max deben elegir desde octubre de 2025 (si aceptan, 5 años de retención); Team, Enterprise y API no se usan para entrenar. Gemini personal con «Actividad» activada entrena y puede ser revisado por humanos; Workspace empresarial no. Copilot con cuenta personal entrena salvo opt-out; con cuenta de trabajo de Microsoft 365, no. Detalle: en ChatGPT, dar pulgar arriba o abajo permite usar esa conversación aunque el entrenamiento esté apagado. Mensaje final: lo muy delicado no va a ninguna IA externa. Fuentes: help.openai.com/en/articles/7730893, anthropic.com/news/updates-to-our-consumer-terms, support.google.com/gemini/answer/13594961, learn.microsoft.com/copilot/microsoft-365/enterprise-data-protection.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tercer bloque, unos 12 minutos. Es el bloque más importante para el bienestar: lo que más estrés genera no es el clic, es esconderlo y quedarse con la duda.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Mensaje central del bloque: caer en un phishing o en un fraude le puede pasar a cualquiera, incluso a expertos (recordar KnowBe4 y Arup). Eso no es lo grave. Lo grave es no reportarlo: cada hora sin avisar le da más tiempo al atacante. Desde la experiencia de Pralogy: cuando atendemos un incidente, lo que necesitamos es información rápida, no culpables. Si una empresa castiga a quien reporta, la próxima vez nadie reporta, y ahí sí el daño crece. Opcional: mencionar la seguridad psicológica de Amy Edmondson (Harvard): los equipos donde se puede admitir un error sin miedo funcionan mejor.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Estas son las cuatro fases del ciclo de respuesta a incidentes del NIST (Instituto Nacional de Estándares y Tecnología de EE. UU.), guía SP 800-61, la referencia más usada en el mundo. Explicarlas con palabras simples: 1) Prepararnos: todo lo que hacemos antes, como esta charla, los dos pasos y saber a quién avisar. 2) Darnos cuenta: alguien nota algo raro y avisa; el equipo revisa qué pasó. Aquí está el papel de cada persona. 3) Frenar y arreglar: aislar el equipo o la cuenta para que no se extienda, limpiar y volver a la normalidad. 4) Aprender: revisar qué mejorar, sin culpables. Nota para el expositor: en abril de 2025 NIST publicó la revisión 3 de la guía, que reorganiza estas fases dentro de las funciones del marco CSF 2.0 (Gobernar, Identificar, Proteger, Detectar, Responder, Recuperar). Las cuatro fases clásicas siguen siendo la forma más clara de explicarlo. Fuentes: csrc.nist.gov/pubs/sp/800/61/r2/final y csrc.nist.gov/pubs/sp/800/61/r3/final.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Completar con la empresa cliente antes de la charla. Si algún campo queda vacío, decirlo con honestidad y proponer a la gerencia definirlo; Pralogy puede ofrecerse como canal de reporte para clientes que no tienen uno. Esta diapositiva es la que convierte la charla en algo accionable.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preguntas, unos cinco minutos. Si se hizo la encuesta previa, comentar uno o dos resultados aquí. Preguntas útiles para abrir la conversación si nadie habla: ¿la presión de detectar estafas agrega estrés a tu día? ¿Hay alguna política de seguridad que te complique la rutina? Anotar las respuestas para ajustar la siguiente sesión.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341041"/>
            <a:ext cx="10566400" cy="502841"/>
          </a:xfrm>
          <a:prstGeom prst="rect">
            <a:avLst/>
          </a:prstGeom>
          <a:noFill/>
          <a:ln/>
        </p:spPr>
        <p:txBody>
          <a:bodyPr wrap="square" lIns="0" tIns="0" rIns="0" bIns="0" rtlCol="0" anchor="t"/>
          <a:lstStyle>
            <a:lvl1pPr marL="0" indent="0" algn="l">
              <a:lnSpc>
                <a:spcPct val="115000"/>
              </a:lnSpc>
              <a:buNone/>
              <a:defRPr lang="en-US" sz="3600" dirty="0">
                <a:solidFill>
                  <a:srgbClr val="1C2142"/>
                </a:solidFill>
                <a:latin typeface="Fraunces" pitchFamily="34" charset="0"/>
                <a:ea typeface="Fraunces" pitchFamily="34" charset="-122"/>
                <a:cs typeface="Fraunces"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2148681"/>
            <a:ext cx="10566400" cy="3896519"/>
          </a:xfrm>
          <a:prstGeom prst="rect">
            <a:avLst/>
          </a:prstGeom>
          <a:noFill/>
          <a:ln/>
        </p:spPr>
        <p:txBody>
          <a:bodyPr wrap="square" lIns="0" tIns="0" rIns="0" bIns="0" rtlCol="0" anchor="t"/>
          <a:lstStyle>
            <a:lvl1pPr marL="0" indent="0" algn="l">
              <a:lnSpc>
                <a:spcPct val="140000"/>
              </a:lnSpc>
              <a:buNone/>
              <a:defRPr lang="en-US" sz="1600" dirty="0">
                <a:solidFill>
                  <a:srgbClr val="1C2142"/>
                </a:solidFill>
                <a:latin typeface="Nunito Sans" pitchFamily="34" charset="0"/>
                <a:ea typeface="Nunito Sans" pitchFamily="34" charset="-122"/>
                <a:cs typeface="Nunito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341041"/>
            <a:ext cx="10566400" cy="502841"/>
          </a:xfrm>
          <a:prstGeom prst="rect">
            <a:avLst/>
          </a:prstGeom>
          <a:noFill/>
          <a:ln/>
        </p:spPr>
        <p:txBody>
          <a:bodyPr wrap="square" lIns="0" tIns="0" rIns="0" bIns="0" rtlCol="0" anchor="t"/>
          <a:lstStyle>
            <a:lvl1pPr marL="0" indent="0" algn="l">
              <a:lnSpc>
                <a:spcPct val="115000"/>
              </a:lnSpc>
              <a:buNone/>
              <a:defRPr lang="en-US" sz="3600" dirty="0">
                <a:solidFill>
                  <a:srgbClr val="1C2142"/>
                </a:solidFill>
                <a:latin typeface="Fraunces" pitchFamily="34" charset="0"/>
                <a:ea typeface="Fraunces" pitchFamily="34" charset="-122"/>
                <a:cs typeface="Fraunces"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2148681"/>
            <a:ext cx="10566400" cy="3896519"/>
          </a:xfrm>
          <a:prstGeom prst="rect">
            <a:avLst/>
          </a:prstGeom>
          <a:noFill/>
          <a:ln/>
        </p:spPr>
        <p:txBody>
          <a:bodyPr wrap="square" lIns="0" tIns="0" rIns="0" bIns="0" rtlCol="0" anchor="t"/>
          <a:lstStyle>
            <a:lvl1pPr marL="0" indent="0" algn="l">
              <a:lnSpc>
                <a:spcPct val="140000"/>
              </a:lnSpc>
              <a:buNone/>
              <a:defRPr lang="en-US" sz="1600" dirty="0">
                <a:solidFill>
                  <a:srgbClr val="1C2142"/>
                </a:solidFill>
                <a:latin typeface="Nunito Sans" pitchFamily="34" charset="0"/>
                <a:ea typeface="Nunito Sans" pitchFamily="34" charset="-122"/>
                <a:cs typeface="Nunito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svg"/><Relationship Id="rId5" Type="http://schemas.openxmlformats.org/officeDocument/2006/relationships/image" Target="../media/image3.png"/><Relationship Id="rId6" Type="http://schemas.openxmlformats.org/officeDocument/2006/relationships/hyperlink" Target="https://blog.knowbe4.com/how-a-north-korean-fake-it-worker-tried-to-infiltrate-us"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hyperlink" Target="https://westoahu.hawaii.edu/cyber/forensics-weekly-executive-summmaries/arup-deekfake-scam-forensic-analysis/" TargetMode="Externa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2.xml"/><Relationship Id="rId4" Type="http://schemas.openxmlformats.org/officeDocument/2006/relationships/notesSlide" Target="../notesSlides/notesSlide8.xml"/><Relationship Id="rId5" Type="http://schemas.openxmlformats.org/officeDocument/2006/relationships/image" Target="../media/image1.png"/><Relationship Id="rId6"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hyperlink" Target="https://inspiredelearning.com/blog/ferrari-deepfake-attack-foiled-with-simple-questi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2.png"/><Relationship Id="rId4" Type="http://schemas.openxmlformats.org/officeDocument/2006/relationships/image" Target="../media/image1.png"/><Relationship Id="rId5"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svg"/><Relationship Id="rId8" Type="http://schemas.openxmlformats.org/officeDocument/2006/relationships/image" Target="../media/image31.png"/><Relationship Id="rId9" Type="http://schemas.openxmlformats.org/officeDocument/2006/relationships/image" Target="../media/image32.svg"/><Relationship Id="rId10" Type="http://schemas.openxmlformats.org/officeDocument/2006/relationships/image" Target="../media/image33.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2.png"/><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5F1"/>
        </a:solidFill>
        <a:effectLst/>
      </p:bgPr>
    </p:bg>
    <p:spTree>
      <p:nvGrpSpPr>
        <p:cNvPr id="1" name=""/>
        <p:cNvGrpSpPr/>
        <p:nvPr/>
      </p:nvGrpSpPr>
      <p:grpSpPr>
        <a:xfrm>
          <a:off x="0" y="0"/>
          <a:ext cx="0" cy="0"/>
          <a:chOff x="0" y="0"/>
          <a:chExt cx="0" cy="0"/>
        </a:xfrm>
      </p:grpSpPr>
      <p:sp>
        <p:nvSpPr>
          <p:cNvPr id="2" name="Shape 0"/>
          <p:cNvSpPr/>
          <p:nvPr/>
        </p:nvSpPr>
        <p:spPr>
          <a:xfrm>
            <a:off x="7759192" y="889000"/>
            <a:ext cx="3937000" cy="3937000"/>
          </a:xfrm>
          <a:prstGeom prst="roundRect">
            <a:avLst>
              <a:gd name="adj" fmla="val 41290"/>
            </a:avLst>
          </a:prstGeom>
          <a:solidFill>
            <a:srgbClr val="E9ECF4"/>
          </a:solidFill>
          <a:ln/>
        </p:spPr>
        <p:txBody>
          <a:bodyPr/>
          <a:lstStyle/>
          <a:p>
            <a:endParaRPr lang="es-CO" noProof="0" dirty="0"/>
          </a:p>
        </p:txBody>
      </p:sp>
      <p:sp>
        <p:nvSpPr>
          <p:cNvPr id="3" name="Shape 1"/>
          <p:cNvSpPr/>
          <p:nvPr/>
        </p:nvSpPr>
        <p:spPr>
          <a:xfrm>
            <a:off x="9283192" y="3302000"/>
            <a:ext cx="2413000" cy="2413000"/>
          </a:xfrm>
          <a:prstGeom prst="roundRect">
            <a:avLst>
              <a:gd name="adj" fmla="val 50000"/>
            </a:avLst>
          </a:prstGeom>
          <a:solidFill>
            <a:srgbClr val="DCE0F0"/>
          </a:solidFill>
          <a:ln/>
        </p:spPr>
        <p:txBody>
          <a:bodyPr/>
          <a:lstStyle/>
          <a:p>
            <a:endParaRPr lang="es-CO" noProof="0" dirty="0"/>
          </a:p>
        </p:txBody>
      </p:sp>
      <p:sp>
        <p:nvSpPr>
          <p:cNvPr id="4" name="Shape 2"/>
          <p:cNvSpPr/>
          <p:nvPr/>
        </p:nvSpPr>
        <p:spPr>
          <a:xfrm>
            <a:off x="8267192" y="3810000"/>
            <a:ext cx="889000" cy="889000"/>
          </a:xfrm>
          <a:prstGeom prst="roundRect">
            <a:avLst>
              <a:gd name="adj" fmla="val 50000"/>
            </a:avLst>
          </a:prstGeom>
          <a:solidFill>
            <a:srgbClr val="C7CCE8"/>
          </a:solidFill>
          <a:ln/>
        </p:spPr>
        <p:txBody>
          <a:bodyPr/>
          <a:lstStyle/>
          <a:p>
            <a:endParaRPr lang="es-CO" noProof="0" dirty="0"/>
          </a:p>
        </p:txBody>
      </p:sp>
      <p:pic>
        <p:nvPicPr>
          <p:cNvPr id="5" name="Image 0" descr="Logo de Pralogy"/>
          <p:cNvPicPr>
            <a:picLocks noChangeAspect="1"/>
          </p:cNvPicPr>
          <p:nvPr/>
        </p:nvPicPr>
        <p:blipFill>
          <a:blip r:embed="rId3"/>
          <a:srcRect t="-22" b="-22"/>
          <a:stretch/>
        </p:blipFill>
        <p:spPr>
          <a:xfrm>
            <a:off x="812800" y="812800"/>
            <a:ext cx="2095500" cy="431800"/>
          </a:xfrm>
          <a:prstGeom prst="rect">
            <a:avLst/>
          </a:prstGeom>
        </p:spPr>
      </p:pic>
      <p:sp>
        <p:nvSpPr>
          <p:cNvPr id="6" name="Text 3"/>
          <p:cNvSpPr/>
          <p:nvPr/>
        </p:nvSpPr>
        <p:spPr>
          <a:xfrm>
            <a:off x="812800" y="2033389"/>
            <a:ext cx="7194550"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CAPACITACIÓN</a:t>
            </a:r>
            <a:endParaRPr lang="es-CO" sz="1400" noProof="0" dirty="0"/>
          </a:p>
        </p:txBody>
      </p:sp>
      <p:sp>
        <p:nvSpPr>
          <p:cNvPr id="7" name="Text 4"/>
          <p:cNvSpPr>
            <a:spLocks noGrp="1"/>
          </p:cNvSpPr>
          <p:nvPr>
            <p:ph type="title"/>
          </p:nvPr>
        </p:nvSpPr>
        <p:spPr>
          <a:xfrm>
            <a:off x="812800" y="2510830"/>
            <a:ext cx="7194550" cy="1625600"/>
          </a:xfrm>
          <a:prstGeom prst="rect">
            <a:avLst/>
          </a:prstGeom>
          <a:noFill/>
          <a:ln/>
        </p:spPr>
        <p:txBody>
          <a:bodyPr wrap="square" lIns="0" tIns="0" rIns="0" bIns="0" rtlCol="0" anchor="t">
            <a:normAutofit/>
          </a:bodyPr>
          <a:lstStyle/>
          <a:p>
            <a:pPr marL="0" indent="0" algn="l">
              <a:lnSpc>
                <a:spcPts val="6300"/>
              </a:lnSpc>
              <a:buNone/>
            </a:pPr>
            <a:r>
              <a:rPr lang="es-CO" sz="6000" b="0" i="0" noProof="0" dirty="0">
                <a:solidFill>
                  <a:srgbClr val="1C2142"/>
                </a:solidFill>
                <a:latin typeface="Fraunces" pitchFamily="18" charset="0"/>
                <a:ea typeface="Fraunces" pitchFamily="18" charset="-122"/>
                <a:cs typeface="Fraunces" pitchFamily="18" charset="-120"/>
              </a:rPr>
              <a:t>Ciberseguridad sin ansiedad</a:t>
            </a:r>
            <a:endParaRPr lang="es-CO" sz="6000" noProof="0" dirty="0"/>
          </a:p>
        </p:txBody>
      </p:sp>
      <p:sp>
        <p:nvSpPr>
          <p:cNvPr id="8" name="Text 5"/>
          <p:cNvSpPr/>
          <p:nvPr/>
        </p:nvSpPr>
        <p:spPr>
          <a:xfrm>
            <a:off x="812800" y="4339630"/>
            <a:ext cx="7194550" cy="711200"/>
          </a:xfrm>
          <a:prstGeom prst="rect">
            <a:avLst/>
          </a:prstGeom>
          <a:noFill/>
          <a:ln/>
        </p:spPr>
        <p:txBody>
          <a:bodyPr wrap="square" lIns="0" tIns="0" rIns="0" bIns="0" rtlCol="0" anchor="t">
            <a:normAutofit/>
          </a:bodyPr>
          <a:lstStyle/>
          <a:p>
            <a:pPr marL="0" indent="0" algn="l">
              <a:lnSpc>
                <a:spcPts val="2700"/>
              </a:lnSpc>
              <a:buNone/>
            </a:pPr>
            <a:r>
              <a:rPr lang="es-CO" sz="2000" noProof="0" dirty="0">
                <a:solidFill>
                  <a:srgbClr val="4A5070"/>
                </a:solidFill>
                <a:latin typeface="Nunito Sans" pitchFamily="34" charset="0"/>
                <a:ea typeface="Nunito Sans" pitchFamily="34" charset="-122"/>
                <a:cs typeface="Nunito Sans" pitchFamily="34" charset="-120"/>
              </a:rPr>
              <a:t>Cómo afrontar los retos que trae la ciberseguridad en el día a día sin estrés adicional.</a:t>
            </a:r>
            <a:endParaRPr lang="es-CO" sz="2000" noProof="0" dirty="0"/>
          </a:p>
        </p:txBody>
      </p:sp>
      <p:sp>
        <p:nvSpPr>
          <p:cNvPr id="9" name="Text 6"/>
          <p:cNvSpPr/>
          <p:nvPr/>
        </p:nvSpPr>
        <p:spPr>
          <a:xfrm>
            <a:off x="812800" y="5814120"/>
            <a:ext cx="10883392" cy="256480"/>
          </a:xfrm>
          <a:prstGeom prst="rect">
            <a:avLst/>
          </a:prstGeom>
          <a:noFill/>
          <a:ln/>
        </p:spPr>
        <p:txBody>
          <a:bodyPr wrap="square" lIns="0" tIns="0" rIns="0" bIns="0" rtlCol="0" anchor="t">
            <a:normAutofit/>
          </a:bodyPr>
          <a:lstStyle/>
          <a:p>
            <a:pPr marL="0" indent="0" algn="l">
              <a:lnSpc>
                <a:spcPts val="1820"/>
              </a:lnSpc>
              <a:buNone/>
            </a:pPr>
            <a:r>
              <a:rPr lang="es-CO" sz="1300" noProof="0" dirty="0">
                <a:solidFill>
                  <a:srgbClr val="6B7085"/>
                </a:solidFill>
                <a:latin typeface="Nunito Sans" pitchFamily="34" charset="0"/>
                <a:ea typeface="Nunito Sans" pitchFamily="34" charset="-122"/>
                <a:cs typeface="Nunito Sans" pitchFamily="34" charset="-120"/>
              </a:rPr>
              <a:t>Zamir Velázquez. Juan Cárdenas · 29 de Octubre de 2026 · [Cliente]</a:t>
            </a:r>
            <a:endParaRPr lang="es-CO" sz="130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CF4"/>
        </a:solidFill>
        <a:effectLst/>
      </p:bgPr>
    </p:bg>
    <p:spTree>
      <p:nvGrpSpPr>
        <p:cNvPr id="1" name=""/>
        <p:cNvGrpSpPr/>
        <p:nvPr/>
      </p:nvGrpSpPr>
      <p:grpSpPr>
        <a:xfrm>
          <a:off x="0" y="0"/>
          <a:ext cx="0" cy="0"/>
          <a:chOff x="0" y="0"/>
          <a:chExt cx="0" cy="0"/>
        </a:xfrm>
      </p:grpSpPr>
      <p:sp>
        <p:nvSpPr>
          <p:cNvPr id="2" name="Shape 0"/>
          <p:cNvSpPr/>
          <p:nvPr/>
        </p:nvSpPr>
        <p:spPr>
          <a:xfrm>
            <a:off x="8770493" y="1974469"/>
            <a:ext cx="2774950" cy="2774950"/>
          </a:xfrm>
          <a:prstGeom prst="roundRect">
            <a:avLst>
              <a:gd name="adj" fmla="val 50000"/>
            </a:avLst>
          </a:prstGeom>
          <a:noFill/>
          <a:ln w="19050">
            <a:solidFill>
              <a:srgbClr val="C7CCE8"/>
            </a:solidFill>
            <a:prstDash val="solid"/>
          </a:ln>
        </p:spPr>
        <p:txBody>
          <a:bodyPr/>
          <a:lstStyle/>
          <a:p>
            <a:endParaRPr lang="es-CO" noProof="0" dirty="0"/>
          </a:p>
        </p:txBody>
      </p:sp>
      <p:sp>
        <p:nvSpPr>
          <p:cNvPr id="3" name="Shape 1"/>
          <p:cNvSpPr/>
          <p:nvPr/>
        </p:nvSpPr>
        <p:spPr>
          <a:xfrm>
            <a:off x="9278493" y="2482469"/>
            <a:ext cx="1758950" cy="1758950"/>
          </a:xfrm>
          <a:prstGeom prst="roundRect">
            <a:avLst>
              <a:gd name="adj" fmla="val 50000"/>
            </a:avLst>
          </a:prstGeom>
          <a:noFill/>
          <a:ln w="19050">
            <a:solidFill>
              <a:srgbClr val="B3BAE0"/>
            </a:solidFill>
            <a:prstDash val="solid"/>
          </a:ln>
        </p:spPr>
        <p:txBody>
          <a:bodyPr/>
          <a:lstStyle/>
          <a:p>
            <a:endParaRPr lang="es-CO" noProof="0" dirty="0"/>
          </a:p>
        </p:txBody>
      </p:sp>
      <p:sp>
        <p:nvSpPr>
          <p:cNvPr id="4" name="Shape 2"/>
          <p:cNvSpPr/>
          <p:nvPr/>
        </p:nvSpPr>
        <p:spPr>
          <a:xfrm>
            <a:off x="9776968" y="2980944"/>
            <a:ext cx="762000" cy="762000"/>
          </a:xfrm>
          <a:prstGeom prst="roundRect">
            <a:avLst>
              <a:gd name="adj" fmla="val 50000"/>
            </a:avLst>
          </a:prstGeom>
          <a:solidFill>
            <a:srgbClr val="C7CCE8"/>
          </a:solidFill>
          <a:ln/>
        </p:spPr>
        <p:txBody>
          <a:bodyPr/>
          <a:lstStyle/>
          <a:p>
            <a:endParaRPr lang="es-CO" noProof="0" dirty="0"/>
          </a:p>
        </p:txBody>
      </p:sp>
      <p:sp>
        <p:nvSpPr>
          <p:cNvPr id="5" name="Text 3"/>
          <p:cNvSpPr/>
          <p:nvPr/>
        </p:nvSpPr>
        <p:spPr>
          <a:xfrm>
            <a:off x="812800" y="1259284"/>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rPr>
              <a:t>INTRODUCCIÓN</a:t>
            </a:r>
            <a:endParaRPr lang="es-CO" sz="1400" noProof="0" dirty="0"/>
          </a:p>
        </p:txBody>
      </p:sp>
      <p:sp>
        <p:nvSpPr>
          <p:cNvPr id="6" name="Text 4"/>
          <p:cNvSpPr>
            <a:spLocks noGrp="1"/>
          </p:cNvSpPr>
          <p:nvPr>
            <p:ph type="title"/>
          </p:nvPr>
        </p:nvSpPr>
        <p:spPr>
          <a:xfrm>
            <a:off x="750888" y="2129905"/>
            <a:ext cx="7194550" cy="640060"/>
          </a:xfrm>
          <a:prstGeom prst="rect">
            <a:avLst/>
          </a:prstGeom>
          <a:noFill/>
          <a:ln/>
        </p:spPr>
        <p:txBody>
          <a:bodyPr wrap="square" lIns="0" tIns="0" rIns="0" bIns="0" rtlCol="0" anchor="t">
            <a:normAutofit fontScale="90000"/>
          </a:bodyPr>
          <a:lstStyle/>
          <a:p>
            <a:pPr marL="0" indent="0" algn="l">
              <a:lnSpc>
                <a:spcPts val="4840"/>
              </a:lnSpc>
              <a:buNone/>
            </a:pPr>
            <a:r>
              <a:rPr lang="es-CO" sz="4400" b="0" i="0" noProof="0" dirty="0">
                <a:solidFill>
                  <a:srgbClr val="1C2142"/>
                </a:solidFill>
                <a:latin typeface="Fraunces" pitchFamily="18" charset="0"/>
                <a:ea typeface="Fraunces" pitchFamily="18" charset="-122"/>
                <a:cs typeface="Fraunces" pitchFamily="18" charset="-120"/>
              </a:rPr>
              <a:t>¿Por qué yo? ¿Es necesario?</a:t>
            </a:r>
            <a:endParaRPr lang="es-CO" sz="4400" noProof="0" dirty="0"/>
          </a:p>
        </p:txBody>
      </p:sp>
      <p:sp>
        <p:nvSpPr>
          <p:cNvPr id="7" name="Text 5"/>
          <p:cNvSpPr/>
          <p:nvPr/>
        </p:nvSpPr>
        <p:spPr>
          <a:xfrm>
            <a:off x="646557" y="3117673"/>
            <a:ext cx="7617968" cy="1873603"/>
          </a:xfrm>
          <a:prstGeom prst="rect">
            <a:avLst/>
          </a:prstGeom>
          <a:noFill/>
          <a:ln/>
        </p:spPr>
        <p:txBody>
          <a:bodyPr wrap="square" lIns="0" tIns="0" rIns="0" bIns="0" rtlCol="0" anchor="t">
            <a:normAutofit/>
          </a:bodyPr>
          <a:lstStyle/>
          <a:p>
            <a:pPr marL="342900" indent="-342900">
              <a:lnSpc>
                <a:spcPts val="2800"/>
              </a:lnSpc>
              <a:buFont typeface="Wingdings" panose="05000000000000000000" pitchFamily="2" charset="2"/>
              <a:buChar char="§"/>
            </a:pPr>
            <a:r>
              <a:rPr lang="es-CO" sz="2000" noProof="0" dirty="0">
                <a:solidFill>
                  <a:srgbClr val="4A5070"/>
                </a:solidFill>
                <a:latin typeface="Nunito Sans" pitchFamily="34" charset="0"/>
                <a:ea typeface="Nunito Sans" pitchFamily="34" charset="-122"/>
                <a:cs typeface="Nunito Sans" pitchFamily="34" charset="-120"/>
              </a:rPr>
              <a:t>Facturas, aprobaciones, correos, bases de datos, documentos. </a:t>
            </a:r>
          </a:p>
          <a:p>
            <a:pPr marL="342900" indent="-342900">
              <a:lnSpc>
                <a:spcPts val="2800"/>
              </a:lnSpc>
              <a:buFont typeface="Wingdings" panose="05000000000000000000" pitchFamily="2" charset="2"/>
              <a:buChar char="§"/>
            </a:pPr>
            <a:r>
              <a:rPr lang="es-CO" sz="2000" noProof="0" dirty="0">
                <a:solidFill>
                  <a:srgbClr val="4A5070"/>
                </a:solidFill>
                <a:latin typeface="Nunito Sans" pitchFamily="34" charset="0"/>
                <a:ea typeface="Nunito Sans" pitchFamily="34" charset="-122"/>
                <a:cs typeface="Nunito Sans" pitchFamily="34" charset="-120"/>
              </a:rPr>
              <a:t>Nuestro acceso a información de la empresa es un factor que nos hace atractivos a ciber-atacantes.</a:t>
            </a:r>
          </a:p>
          <a:p>
            <a:pPr marL="342900" indent="-342900">
              <a:lnSpc>
                <a:spcPts val="2800"/>
              </a:lnSpc>
              <a:buFont typeface="Wingdings" panose="05000000000000000000" pitchFamily="2" charset="2"/>
              <a:buChar char="§"/>
            </a:pPr>
            <a:r>
              <a:rPr lang="es-CO" sz="2000" noProof="0" dirty="0">
                <a:solidFill>
                  <a:srgbClr val="4A5070"/>
                </a:solidFill>
                <a:latin typeface="Nunito Sans" pitchFamily="34" charset="0"/>
              </a:rPr>
              <a:t>El phishing no es tu culpa, reportar siempre es la mejor opción.</a:t>
            </a:r>
          </a:p>
          <a:p>
            <a:pPr marL="342900" indent="-342900">
              <a:lnSpc>
                <a:spcPts val="2800"/>
              </a:lnSpc>
              <a:buFont typeface="Wingdings" panose="05000000000000000000" pitchFamily="2" charset="2"/>
              <a:buChar char="§"/>
            </a:pPr>
            <a:r>
              <a:rPr lang="es-CO" sz="2000" noProof="0" dirty="0">
                <a:solidFill>
                  <a:srgbClr val="4A5070"/>
                </a:solidFill>
                <a:latin typeface="Nunito Sans" pitchFamily="34" charset="0"/>
              </a:rPr>
              <a:t>Hasta las empresas de ciberseguridad caen.</a:t>
            </a:r>
          </a:p>
        </p:txBody>
      </p:sp>
      <p:pic>
        <p:nvPicPr>
          <p:cNvPr id="8" name="Image 0" descr="Pralogy"/>
          <p:cNvPicPr>
            <a:picLocks noChangeAspect="1"/>
          </p:cNvPicPr>
          <p:nvPr/>
        </p:nvPicPr>
        <p:blipFill>
          <a:blip r:embed="rId3"/>
          <a:srcRect l="-62" r="-62"/>
          <a:stretch/>
        </p:blipFill>
        <p:spPr>
          <a:xfrm>
            <a:off x="812800" y="6356096"/>
            <a:ext cx="1111250" cy="228600"/>
          </a:xfrm>
          <a:prstGeom prst="rect">
            <a:avLst/>
          </a:prstGeom>
        </p:spPr>
      </p:pic>
      <p:sp>
        <p:nvSpPr>
          <p:cNvPr id="9" name="Text 6"/>
          <p:cNvSpPr/>
          <p:nvPr/>
        </p:nvSpPr>
        <p:spPr>
          <a:xfrm>
            <a:off x="11236920" y="6363736"/>
            <a:ext cx="142280"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2</a:t>
            </a:r>
            <a:endParaRPr lang="es-CO" sz="1200"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654304" y="476349"/>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LE PASA HASTA A LOS EXPERTOS</a:t>
            </a:r>
            <a:endParaRPr lang="es-CO" sz="1400" noProof="0" dirty="0"/>
          </a:p>
        </p:txBody>
      </p:sp>
      <p:sp>
        <p:nvSpPr>
          <p:cNvPr id="3" name="Text 1"/>
          <p:cNvSpPr>
            <a:spLocks noGrp="1"/>
          </p:cNvSpPr>
          <p:nvPr>
            <p:ph type="title"/>
          </p:nvPr>
        </p:nvSpPr>
        <p:spPr>
          <a:xfrm>
            <a:off x="654304" y="1029990"/>
            <a:ext cx="10883392" cy="103108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Una empresa de ciberseguridad contrató a un hacker sin saberlo</a:t>
            </a:r>
            <a:endParaRPr lang="es-CO" sz="3600" noProof="0" dirty="0"/>
          </a:p>
        </p:txBody>
      </p:sp>
      <p:sp>
        <p:nvSpPr>
          <p:cNvPr id="8" name="Shape 6"/>
          <p:cNvSpPr/>
          <p:nvPr/>
        </p:nvSpPr>
        <p:spPr>
          <a:xfrm>
            <a:off x="6430136" y="1883664"/>
            <a:ext cx="4709477" cy="1592471"/>
          </a:xfrm>
          <a:prstGeom prst="roundRect">
            <a:avLst>
              <a:gd name="adj" fmla="val 4815"/>
            </a:avLst>
          </a:prstGeom>
          <a:solidFill>
            <a:srgbClr val="E9ECF4"/>
          </a:solidFill>
          <a:ln/>
        </p:spPr>
        <p:txBody>
          <a:bodyPr/>
          <a:lstStyle/>
          <a:p>
            <a:endParaRPr lang="es-CO" noProof="0" dirty="0"/>
          </a:p>
        </p:txBody>
      </p:sp>
      <p:sp>
        <p:nvSpPr>
          <p:cNvPr id="9" name="Text 7"/>
          <p:cNvSpPr/>
          <p:nvPr/>
        </p:nvSpPr>
        <p:spPr>
          <a:xfrm>
            <a:off x="6708901" y="2001020"/>
            <a:ext cx="4669917" cy="256480"/>
          </a:xfrm>
          <a:prstGeom prst="rect">
            <a:avLst/>
          </a:prstGeom>
          <a:noFill/>
          <a:ln/>
        </p:spPr>
        <p:txBody>
          <a:bodyPr wrap="square" lIns="0" tIns="0" rIns="0" bIns="0" rtlCol="0" anchor="t">
            <a:normAutofit/>
          </a:bodyPr>
          <a:lstStyle/>
          <a:p>
            <a:pPr marL="0" indent="0" algn="l">
              <a:lnSpc>
                <a:spcPts val="1820"/>
              </a:lnSpc>
              <a:buNone/>
            </a:pPr>
            <a:r>
              <a:rPr lang="es-CO" sz="1300" b="1" kern="0" spc="100" noProof="0" dirty="0">
                <a:solidFill>
                  <a:srgbClr val="2F3EBF"/>
                </a:solidFill>
                <a:latin typeface="Nunito Sans" pitchFamily="34" charset="0"/>
                <a:ea typeface="Nunito Sans" pitchFamily="34" charset="-122"/>
                <a:cs typeface="Nunito Sans" pitchFamily="34" charset="-120"/>
              </a:rPr>
              <a:t>SIN EMBARGO</a:t>
            </a:r>
            <a:endParaRPr lang="es-CO" sz="1300" noProof="0" dirty="0"/>
          </a:p>
        </p:txBody>
      </p:sp>
      <p:sp>
        <p:nvSpPr>
          <p:cNvPr id="10" name="Text 8"/>
          <p:cNvSpPr/>
          <p:nvPr/>
        </p:nvSpPr>
        <p:spPr>
          <a:xfrm>
            <a:off x="6722238" y="2339797"/>
            <a:ext cx="4303456" cy="1213910"/>
          </a:xfrm>
          <a:prstGeom prst="rect">
            <a:avLst/>
          </a:prstGeom>
          <a:noFill/>
          <a:ln/>
        </p:spPr>
        <p:txBody>
          <a:bodyPr wrap="square" lIns="0" tIns="0" rIns="0" bIns="0" rtlCol="0" anchor="t">
            <a:normAutofit/>
          </a:bodyPr>
          <a:lstStyle/>
          <a:p>
            <a:pPr marL="0" indent="0" algn="l">
              <a:lnSpc>
                <a:spcPts val="2750"/>
              </a:lnSpc>
              <a:buNone/>
            </a:pPr>
            <a:r>
              <a:rPr lang="es-CO" sz="2200" noProof="0" dirty="0">
                <a:solidFill>
                  <a:srgbClr val="1C2142"/>
                </a:solidFill>
                <a:latin typeface="Fraunces" pitchFamily="18" charset="0"/>
                <a:ea typeface="Fraunces" pitchFamily="18" charset="-122"/>
                <a:cs typeface="Fraunces" pitchFamily="18" charset="-120"/>
              </a:rPr>
              <a:t>No hubo culpables. Tenían un proceso de aislamiento que funcionó.</a:t>
            </a:r>
            <a:endParaRPr lang="es-CO" sz="2200" noProof="0" dirty="0"/>
          </a:p>
        </p:txBody>
      </p:sp>
      <p:pic>
        <p:nvPicPr>
          <p:cNvPr id="12" name="Image 0" descr="Pralogy"/>
          <p:cNvPicPr>
            <a:picLocks noChangeAspect="1"/>
          </p:cNvPicPr>
          <p:nvPr/>
        </p:nvPicPr>
        <p:blipFill>
          <a:blip r:embed="rId3"/>
          <a:srcRect l="-62" r="-62"/>
          <a:stretch/>
        </p:blipFill>
        <p:spPr>
          <a:xfrm>
            <a:off x="812800" y="6273800"/>
            <a:ext cx="1111250" cy="228600"/>
          </a:xfrm>
          <a:prstGeom prst="rect">
            <a:avLst/>
          </a:prstGeom>
        </p:spPr>
      </p:pic>
      <p:sp>
        <p:nvSpPr>
          <p:cNvPr id="13" name="Text 10"/>
          <p:cNvSpPr/>
          <p:nvPr/>
        </p:nvSpPr>
        <p:spPr>
          <a:xfrm>
            <a:off x="11236920" y="6281440"/>
            <a:ext cx="142280"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3</a:t>
            </a:r>
            <a:endParaRPr lang="es-CO" sz="1200" noProof="0" dirty="0"/>
          </a:p>
        </p:txBody>
      </p:sp>
      <p:grpSp>
        <p:nvGrpSpPr>
          <p:cNvPr id="18" name="Group 17">
            <a:extLst>
              <a:ext uri="{FF2B5EF4-FFF2-40B4-BE49-F238E27FC236}">
                <a16:creationId xmlns:a16="http://schemas.microsoft.com/office/drawing/2014/main" id="{405DAD0E-FB29-3961-297B-49B8BC5F6B94}"/>
              </a:ext>
            </a:extLst>
          </p:cNvPr>
          <p:cNvGrpSpPr/>
          <p:nvPr/>
        </p:nvGrpSpPr>
        <p:grpSpPr>
          <a:xfrm>
            <a:off x="654304" y="2400201"/>
            <a:ext cx="5156200" cy="3177679"/>
            <a:chOff x="819150" y="2657971"/>
            <a:chExt cx="5156200" cy="3177679"/>
          </a:xfrm>
        </p:grpSpPr>
        <p:sp>
          <p:nvSpPr>
            <p:cNvPr id="4" name="Shape 2"/>
            <p:cNvSpPr/>
            <p:nvPr/>
          </p:nvSpPr>
          <p:spPr>
            <a:xfrm>
              <a:off x="819150" y="2683272"/>
              <a:ext cx="5156200" cy="3152378"/>
            </a:xfrm>
            <a:prstGeom prst="roundRect">
              <a:avLst>
                <a:gd name="adj" fmla="val 4633"/>
              </a:avLst>
            </a:prstGeom>
            <a:solidFill>
              <a:srgbClr val="FCFBF8"/>
            </a:solidFill>
            <a:ln w="12700">
              <a:solidFill>
                <a:srgbClr val="DDE0EA"/>
              </a:solidFill>
              <a:prstDash val="solid"/>
            </a:ln>
          </p:spPr>
          <p:txBody>
            <a:bodyPr/>
            <a:lstStyle/>
            <a:p>
              <a:endParaRPr lang="es-CO" noProof="0" dirty="0"/>
            </a:p>
          </p:txBody>
        </p:sp>
        <p:sp>
          <p:nvSpPr>
            <p:cNvPr id="5" name="Text 3"/>
            <p:cNvSpPr/>
            <p:nvPr/>
          </p:nvSpPr>
          <p:spPr>
            <a:xfrm>
              <a:off x="971804" y="2657971"/>
              <a:ext cx="4669917" cy="256480"/>
            </a:xfrm>
            <a:prstGeom prst="rect">
              <a:avLst/>
            </a:prstGeom>
            <a:noFill/>
            <a:ln/>
          </p:spPr>
          <p:txBody>
            <a:bodyPr wrap="square" lIns="0" tIns="0" rIns="0" bIns="0" rtlCol="0" anchor="t">
              <a:normAutofit/>
            </a:bodyPr>
            <a:lstStyle/>
            <a:p>
              <a:pPr marL="0" indent="0" algn="l">
                <a:lnSpc>
                  <a:spcPts val="1820"/>
                </a:lnSpc>
                <a:buNone/>
              </a:pPr>
              <a:endParaRPr lang="es-CO" sz="1300" noProof="0" dirty="0"/>
            </a:p>
          </p:txBody>
        </p:sp>
        <p:sp>
          <p:nvSpPr>
            <p:cNvPr id="6" name="Text 4"/>
            <p:cNvSpPr/>
            <p:nvPr/>
          </p:nvSpPr>
          <p:spPr>
            <a:xfrm>
              <a:off x="1130299" y="3774978"/>
              <a:ext cx="4669917" cy="909141"/>
            </a:xfrm>
            <a:prstGeom prst="rect">
              <a:avLst/>
            </a:prstGeom>
            <a:noFill/>
            <a:ln/>
          </p:spPr>
          <p:txBody>
            <a:bodyPr wrap="square" lIns="0" tIns="0" rIns="0" bIns="0" rtlCol="0" anchor="t">
              <a:normAutofit/>
            </a:bodyPr>
            <a:lstStyle/>
            <a:p>
              <a:pPr marL="0" indent="0" algn="l">
                <a:lnSpc>
                  <a:spcPts val="2320"/>
                </a:lnSpc>
                <a:buNone/>
              </a:pPr>
              <a:r>
                <a:rPr lang="es-CO" sz="1600" noProof="0" dirty="0">
                  <a:solidFill>
                    <a:srgbClr val="4A5070"/>
                  </a:solidFill>
                  <a:latin typeface="Nunito Sans" pitchFamily="34" charset="0"/>
                  <a:ea typeface="Nunito Sans" pitchFamily="34" charset="-122"/>
                  <a:cs typeface="Nunito Sans" pitchFamily="34" charset="-120"/>
                </a:rPr>
                <a:t>Un candidato pasó cuatro entrevistas por video y la revisión de antecedentes. Usaba una identidad robada y una foto retocada con IA.</a:t>
              </a:r>
              <a:endParaRPr lang="es-CO" sz="1600" noProof="0" dirty="0"/>
            </a:p>
          </p:txBody>
        </p:sp>
        <p:sp>
          <p:nvSpPr>
            <p:cNvPr id="7" name="Text 5"/>
            <p:cNvSpPr/>
            <p:nvPr/>
          </p:nvSpPr>
          <p:spPr>
            <a:xfrm>
              <a:off x="1130300" y="4963319"/>
              <a:ext cx="4669917" cy="614561"/>
            </a:xfrm>
            <a:prstGeom prst="rect">
              <a:avLst/>
            </a:prstGeom>
            <a:noFill/>
            <a:ln/>
          </p:spPr>
          <p:txBody>
            <a:bodyPr wrap="square" lIns="0" tIns="0" rIns="0" bIns="0" rtlCol="0" anchor="t">
              <a:normAutofit/>
            </a:bodyPr>
            <a:lstStyle/>
            <a:p>
              <a:pPr marL="0" indent="0" algn="l">
                <a:lnSpc>
                  <a:spcPts val="2320"/>
                </a:lnSpc>
                <a:buNone/>
              </a:pPr>
              <a:r>
                <a:rPr lang="es-CO" sz="1600" noProof="0" dirty="0">
                  <a:solidFill>
                    <a:srgbClr val="4A5070"/>
                  </a:solidFill>
                  <a:latin typeface="Nunito Sans" pitchFamily="34" charset="0"/>
                  <a:ea typeface="Nunito Sans" pitchFamily="34" charset="-122"/>
                  <a:cs typeface="Nunito Sans" pitchFamily="34" charset="-120"/>
                </a:rPr>
                <a:t>El sistema de la empresa lo detectó en minutos, apenas encendió el computador que le enviaron.</a:t>
              </a:r>
              <a:endParaRPr lang="es-CO" sz="1600" noProof="0" dirty="0"/>
            </a:p>
          </p:txBody>
        </p:sp>
        <p:pic>
          <p:nvPicPr>
            <p:cNvPr id="15" name="Graphic 14" descr="KnowBe4">
              <a:extLst>
                <a:ext uri="{FF2B5EF4-FFF2-40B4-BE49-F238E27FC236}">
                  <a16:creationId xmlns:a16="http://schemas.microsoft.com/office/drawing/2014/main" id="{EBE53860-7E65-BEC5-4404-37A0CA5A74E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544637" y="2890538"/>
              <a:ext cx="3705225" cy="695325"/>
            </a:xfrm>
            <a:prstGeom prst="rect">
              <a:avLst/>
            </a:prstGeom>
          </p:spPr>
        </p:pic>
      </p:grpSp>
      <p:pic>
        <p:nvPicPr>
          <p:cNvPr id="17" name="Picture 16">
            <a:extLst>
              <a:ext uri="{FF2B5EF4-FFF2-40B4-BE49-F238E27FC236}">
                <a16:creationId xmlns:a16="http://schemas.microsoft.com/office/drawing/2014/main" id="{6E780D33-52F7-D3FF-67CD-7FBEA85BEA68}"/>
              </a:ext>
            </a:extLst>
          </p:cNvPr>
          <p:cNvPicPr>
            <a:picLocks noChangeAspect="1"/>
          </p:cNvPicPr>
          <p:nvPr/>
        </p:nvPicPr>
        <p:blipFill>
          <a:blip r:embed="rId5"/>
          <a:stretch>
            <a:fillRect/>
          </a:stretch>
        </p:blipFill>
        <p:spPr>
          <a:xfrm>
            <a:off x="6430137" y="3755032"/>
            <a:ext cx="4709476" cy="2241850"/>
          </a:xfrm>
          <a:prstGeom prst="rect">
            <a:avLst/>
          </a:prstGeom>
          <a:ln>
            <a:noFill/>
          </a:ln>
          <a:effectLst>
            <a:outerShdw blurRad="292100" dist="139700" dir="2700000" algn="tl" rotWithShape="0">
              <a:srgbClr val="333333">
                <a:alpha val="65000"/>
              </a:srgbClr>
            </a:outerShdw>
          </a:effectLst>
        </p:spPr>
      </p:pic>
      <p:sp>
        <p:nvSpPr>
          <p:cNvPr id="20" name="TextBox 19">
            <a:extLst>
              <a:ext uri="{FF2B5EF4-FFF2-40B4-BE49-F238E27FC236}">
                <a16:creationId xmlns:a16="http://schemas.microsoft.com/office/drawing/2014/main" id="{931F4371-3307-FADB-1161-8D5B2F7CDA49}"/>
              </a:ext>
            </a:extLst>
          </p:cNvPr>
          <p:cNvSpPr txBox="1"/>
          <p:nvPr/>
        </p:nvSpPr>
        <p:spPr>
          <a:xfrm>
            <a:off x="692593" y="5841471"/>
            <a:ext cx="5215636" cy="253916"/>
          </a:xfrm>
          <a:prstGeom prst="rect">
            <a:avLst/>
          </a:prstGeom>
          <a:noFill/>
        </p:spPr>
        <p:txBody>
          <a:bodyPr wrap="square">
            <a:spAutoFit/>
          </a:bodyPr>
          <a:lstStyle/>
          <a:p>
            <a:r>
              <a:rPr lang="en-US" sz="1050" dirty="0">
                <a:solidFill>
                  <a:schemeClr val="accent5">
                    <a:lumMod val="60000"/>
                    <a:lumOff val="40000"/>
                  </a:schemeClr>
                </a:solidFill>
                <a:hlinkClick r:id="rId6">
                  <a:extLst>
                    <a:ext uri="{A12FA001-AC4F-418D-AE19-62706E023703}">
                      <ahyp:hlinkClr xmlns:ahyp="http://schemas.microsoft.com/office/drawing/2018/hyperlinkcolor" val="tx"/>
                    </a:ext>
                  </a:extLst>
                </a:hlinkClick>
              </a:rPr>
              <a:t>https://blog.knowbe4.com/how-a-north-korean-fake-it-worker-tried-to-infiltrate-us</a:t>
            </a:r>
            <a:endParaRPr lang="en-US" sz="1050" dirty="0">
              <a:solidFill>
                <a:schemeClr val="accent5">
                  <a:lumMod val="60000"/>
                  <a:lumOff val="40000"/>
                </a:schemeClr>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E3A9E"/>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2289870"/>
            <a:ext cx="9810750" cy="825500"/>
          </a:xfrm>
          <a:prstGeom prst="rect">
            <a:avLst/>
          </a:prstGeom>
          <a:noFill/>
          <a:ln/>
        </p:spPr>
        <p:txBody>
          <a:bodyPr wrap="square" lIns="0" tIns="0" rIns="0" bIns="0" rtlCol="0" anchor="t">
            <a:normAutofit/>
          </a:bodyPr>
          <a:lstStyle/>
          <a:p>
            <a:pPr marL="0" indent="0" algn="l">
              <a:lnSpc>
                <a:spcPts val="6300"/>
              </a:lnSpc>
              <a:buNone/>
            </a:pPr>
            <a:r>
              <a:rPr lang="es-CO" sz="6000" b="0" i="0" noProof="0" dirty="0">
                <a:solidFill>
                  <a:srgbClr val="F6F5F1"/>
                </a:solidFill>
                <a:latin typeface="Fraunces" pitchFamily="18" charset="0"/>
                <a:ea typeface="Fraunces" pitchFamily="18" charset="-122"/>
                <a:cs typeface="Fraunces" pitchFamily="18" charset="-120"/>
              </a:rPr>
              <a:t>Sí, eres un blanco.</a:t>
            </a:r>
            <a:endParaRPr lang="es-CO" sz="6000" noProof="0" dirty="0"/>
          </a:p>
        </p:txBody>
      </p:sp>
      <p:sp>
        <p:nvSpPr>
          <p:cNvPr id="3" name="Text 1"/>
          <p:cNvSpPr/>
          <p:nvPr/>
        </p:nvSpPr>
        <p:spPr>
          <a:xfrm>
            <a:off x="812800" y="3394770"/>
            <a:ext cx="9156700" cy="1900000"/>
          </a:xfrm>
          <a:prstGeom prst="rect">
            <a:avLst/>
          </a:prstGeom>
          <a:noFill/>
          <a:ln/>
        </p:spPr>
        <p:txBody>
          <a:bodyPr wrap="square" lIns="0" tIns="0" rIns="0" bIns="0" rtlCol="0" anchor="t">
            <a:noAutofit/>
          </a:bodyPr>
          <a:lstStyle/>
          <a:p>
            <a:pPr marL="0" indent="0" algn="l">
              <a:lnSpc>
                <a:spcPts val="3080"/>
              </a:lnSpc>
              <a:buNone/>
            </a:pPr>
            <a:r>
              <a:rPr lang="es-CO" sz="2200" noProof="0" dirty="0">
                <a:solidFill>
                  <a:srgbClr val="DCE0F5"/>
                </a:solidFill>
                <a:latin typeface="Nunito Sans" pitchFamily="34" charset="0"/>
                <a:ea typeface="Nunito Sans" pitchFamily="34" charset="-122"/>
                <a:cs typeface="Nunito Sans" pitchFamily="34" charset="-120"/>
              </a:rPr>
              <a:t>Y no es porque seas débil, sino porque eres importante: manejas dinero, datos y aprobaciones. Para un atacante es más fácil engañar a una persona que romper un sistema. Saberlo no es para preocuparte, es para que vayas un paso adelante.</a:t>
            </a:r>
            <a:endParaRPr lang="es-CO" sz="220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7">
    <p:bg>
      <p:bgPr>
        <a:solidFill>
          <a:srgbClr val="1C2142"/>
        </a:solidFill>
        <a:effectLst/>
      </p:bgPr>
    </p:bg>
    <p:spTree>
      <p:nvGrpSpPr>
        <p:cNvPr id="1" name=""/>
        <p:cNvGrpSpPr/>
        <p:nvPr/>
      </p:nvGrpSpPr>
      <p:grpSpPr>
        <a:xfrm>
          <a:off x="0" y="0"/>
          <a:ext cx="0" cy="0"/>
          <a:chOff x="0" y="0"/>
          <a:chExt cx="0" cy="0"/>
        </a:xfrm>
      </p:grpSpPr>
      <p:sp>
        <p:nvSpPr>
          <p:cNvPr id="2" name="Shape 0"/>
          <p:cNvSpPr/>
          <p:nvPr/>
        </p:nvSpPr>
        <p:spPr>
          <a:xfrm>
            <a:off x="8949944" y="-472281"/>
            <a:ext cx="4572000" cy="4572000"/>
          </a:xfrm>
          <a:prstGeom prst="roundRect">
            <a:avLst>
              <a:gd name="adj" fmla="val 35556"/>
            </a:avLst>
          </a:prstGeom>
          <a:solidFill>
            <a:srgbClr val="252B55"/>
          </a:solidFill>
          <a:ln/>
        </p:spPr>
        <p:txBody>
          <a:bodyPr/>
          <a:lstStyle/>
          <a:p>
            <a:endParaRPr lang="es-CO" noProof="0" dirty="0"/>
          </a:p>
        </p:txBody>
      </p:sp>
      <p:sp>
        <p:nvSpPr>
          <p:cNvPr id="3" name="Text 1"/>
          <p:cNvSpPr/>
          <p:nvPr/>
        </p:nvSpPr>
        <p:spPr>
          <a:xfrm>
            <a:off x="812800" y="812800"/>
            <a:ext cx="10883392" cy="1168400"/>
          </a:xfrm>
          <a:prstGeom prst="rect">
            <a:avLst/>
          </a:prstGeom>
          <a:noFill/>
          <a:ln/>
        </p:spPr>
        <p:txBody>
          <a:bodyPr wrap="square" lIns="0" tIns="0" rIns="0" bIns="0" rtlCol="0" anchor="t">
            <a:normAutofit fontScale="92500"/>
          </a:bodyPr>
          <a:lstStyle/>
          <a:p>
            <a:pPr marL="0" indent="0" algn="l">
              <a:lnSpc>
                <a:spcPts val="9000"/>
              </a:lnSpc>
              <a:buNone/>
            </a:pPr>
            <a:r>
              <a:rPr lang="es-CO" sz="9000" noProof="0" dirty="0">
                <a:solidFill>
                  <a:srgbClr val="9DA8F2"/>
                </a:solidFill>
                <a:latin typeface="Fraunces" pitchFamily="18" charset="0"/>
                <a:ea typeface="Fraunces" pitchFamily="18" charset="-122"/>
                <a:cs typeface="Fraunces" pitchFamily="18" charset="-120"/>
              </a:rPr>
              <a:t>01</a:t>
            </a:r>
            <a:endParaRPr lang="es-CO" sz="9000" noProof="0" dirty="0"/>
          </a:p>
        </p:txBody>
      </p:sp>
      <p:sp>
        <p:nvSpPr>
          <p:cNvPr id="4" name="Text 2"/>
          <p:cNvSpPr>
            <a:spLocks noGrp="1"/>
          </p:cNvSpPr>
          <p:nvPr>
            <p:ph type="title"/>
          </p:nvPr>
        </p:nvSpPr>
        <p:spPr>
          <a:xfrm>
            <a:off x="812800" y="4735386"/>
            <a:ext cx="8502650" cy="847185"/>
          </a:xfrm>
          <a:prstGeom prst="rect">
            <a:avLst/>
          </a:prstGeom>
          <a:noFill/>
          <a:ln/>
        </p:spPr>
        <p:txBody>
          <a:bodyPr wrap="square" lIns="0" tIns="0" rIns="0" bIns="0" rtlCol="0" anchor="t">
            <a:normAutofit/>
          </a:bodyPr>
          <a:lstStyle/>
          <a:p>
            <a:pPr marL="0" indent="0" algn="l">
              <a:lnSpc>
                <a:spcPts val="5460"/>
              </a:lnSpc>
              <a:buNone/>
            </a:pPr>
            <a:r>
              <a:rPr lang="es-CO" sz="5200" b="0" i="0" noProof="0" dirty="0">
                <a:solidFill>
                  <a:srgbClr val="F6F5F1"/>
                </a:solidFill>
                <a:latin typeface="Fraunces" pitchFamily="18" charset="0"/>
                <a:ea typeface="Fraunces" pitchFamily="18" charset="-122"/>
                <a:cs typeface="Fraunces" pitchFamily="18" charset="-120"/>
              </a:rPr>
              <a:t>La urgencia como arma</a:t>
            </a:r>
            <a:endParaRPr lang="es-CO" sz="5200" noProof="0" dirty="0"/>
          </a:p>
        </p:txBody>
      </p:sp>
      <p:sp>
        <p:nvSpPr>
          <p:cNvPr id="5" name="Text 3"/>
          <p:cNvSpPr/>
          <p:nvPr/>
        </p:nvSpPr>
        <p:spPr>
          <a:xfrm>
            <a:off x="812800" y="5689600"/>
            <a:ext cx="8502650" cy="381000"/>
          </a:xfrm>
          <a:prstGeom prst="rect">
            <a:avLst/>
          </a:prstGeom>
          <a:noFill/>
          <a:ln/>
        </p:spPr>
        <p:txBody>
          <a:bodyPr wrap="square" lIns="0" tIns="0" rIns="0" bIns="0" rtlCol="0" anchor="t">
            <a:normAutofit/>
          </a:bodyPr>
          <a:lstStyle/>
          <a:p>
            <a:pPr marL="0" indent="0" algn="l">
              <a:lnSpc>
                <a:spcPts val="2800"/>
              </a:lnSpc>
              <a:buNone/>
            </a:pPr>
            <a:r>
              <a:rPr lang="es-CO" sz="2000" noProof="0" dirty="0">
                <a:solidFill>
                  <a:srgbClr val="C7CCE8"/>
                </a:solidFill>
                <a:latin typeface="Nunito Sans" pitchFamily="34" charset="0"/>
                <a:ea typeface="Nunito Sans" pitchFamily="34" charset="-122"/>
                <a:cs typeface="Nunito Sans" pitchFamily="34" charset="-120"/>
              </a:rPr>
              <a:t>Cómo te presionan, y por qué pausar es la mejor defensa.</a:t>
            </a:r>
            <a:endParaRPr lang="es-CO" sz="2000" noProof="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BLOQUE 1 · LA URGENCIA COMO ARMA</a:t>
            </a:r>
            <a:endParaRPr lang="es-CO" sz="1400" noProof="0" dirty="0"/>
          </a:p>
        </p:txBody>
      </p:sp>
      <p:sp>
        <p:nvSpPr>
          <p:cNvPr id="3" name="Text 1"/>
          <p:cNvSpPr>
            <a:spLocks noGrp="1"/>
          </p:cNvSpPr>
          <p:nvPr>
            <p:ph type="title"/>
          </p:nvPr>
        </p:nvSpPr>
        <p:spPr>
          <a:xfrm>
            <a:off x="812800" y="1341041"/>
            <a:ext cx="10883392" cy="1031081"/>
          </a:xfrm>
          <a:prstGeom prst="rect">
            <a:avLst/>
          </a:prstGeom>
          <a:noFill/>
          <a:ln/>
        </p:spPr>
        <p:txBody>
          <a:bodyPr wrap="square" lIns="0" tIns="0" rIns="0" bIns="0" rtlCol="0" anchor="t">
            <a:normAutofit/>
          </a:bodyPr>
          <a:lstStyle/>
          <a:p>
            <a:pPr marL="0" indent="0" algn="l">
              <a:lnSpc>
                <a:spcPts val="3960"/>
              </a:lnSpc>
              <a:buNone/>
            </a:pPr>
            <a:r>
              <a:rPr lang="es-CO" b="0" i="0" noProof="0" dirty="0">
                <a:solidFill>
                  <a:srgbClr val="1C2142"/>
                </a:solidFill>
                <a:latin typeface="Fraunces" pitchFamily="18" charset="0"/>
                <a:ea typeface="Fraunces" pitchFamily="18" charset="-122"/>
                <a:cs typeface="Fraunces" pitchFamily="18" charset="-120"/>
              </a:rPr>
              <a:t>No atacan tu computador. Prefieren atacar tus emociones.</a:t>
            </a:r>
            <a:endParaRPr lang="es-CO" noProof="0" dirty="0"/>
          </a:p>
        </p:txBody>
      </p:sp>
      <p:sp>
        <p:nvSpPr>
          <p:cNvPr id="4" name="Shape 2"/>
          <p:cNvSpPr/>
          <p:nvPr/>
        </p:nvSpPr>
        <p:spPr>
          <a:xfrm>
            <a:off x="819150" y="2632472"/>
            <a:ext cx="5181600" cy="1429941"/>
          </a:xfrm>
          <a:prstGeom prst="roundRect">
            <a:avLst>
              <a:gd name="adj" fmla="val 10214"/>
            </a:avLst>
          </a:prstGeom>
          <a:solidFill>
            <a:srgbClr val="FCFBF8"/>
          </a:solidFill>
          <a:ln w="12700">
            <a:solidFill>
              <a:srgbClr val="DDE0EA"/>
            </a:solidFill>
            <a:prstDash val="solid"/>
          </a:ln>
        </p:spPr>
        <p:txBody>
          <a:bodyPr/>
          <a:lstStyle/>
          <a:p>
            <a:endParaRPr lang="es-CO" noProof="0" dirty="0"/>
          </a:p>
        </p:txBody>
      </p:sp>
      <p:sp>
        <p:nvSpPr>
          <p:cNvPr id="5" name="Text 3"/>
          <p:cNvSpPr/>
          <p:nvPr/>
        </p:nvSpPr>
        <p:spPr>
          <a:xfrm>
            <a:off x="1079500" y="2892822"/>
            <a:ext cx="4800727" cy="299641"/>
          </a:xfrm>
          <a:prstGeom prst="rect">
            <a:avLst/>
          </a:prstGeom>
          <a:noFill/>
          <a:ln/>
        </p:spPr>
        <p:txBody>
          <a:bodyPr wrap="square" lIns="0" tIns="0" rIns="0" bIns="0" rtlCol="0" anchor="t">
            <a:normAutofit/>
          </a:bodyPr>
          <a:lstStyle/>
          <a:p>
            <a:pPr marL="0" indent="0" algn="l">
              <a:lnSpc>
                <a:spcPts val="2160"/>
              </a:lnSpc>
              <a:buNone/>
            </a:pPr>
            <a:r>
              <a:rPr lang="es-CO" sz="1800" b="1" noProof="0" dirty="0">
                <a:solidFill>
                  <a:srgbClr val="2F3EBF"/>
                </a:solidFill>
                <a:latin typeface="Nunito Sans" pitchFamily="34" charset="0"/>
                <a:ea typeface="Nunito Sans" pitchFamily="34" charset="-122"/>
                <a:cs typeface="Nunito Sans" pitchFamily="34" charset="-120"/>
              </a:rPr>
              <a:t>Miedo</a:t>
            </a:r>
            <a:endParaRPr lang="es-CO" sz="1800" noProof="0" dirty="0"/>
          </a:p>
        </p:txBody>
      </p:sp>
      <p:sp>
        <p:nvSpPr>
          <p:cNvPr id="6" name="Text 4"/>
          <p:cNvSpPr/>
          <p:nvPr/>
        </p:nvSpPr>
        <p:spPr>
          <a:xfrm>
            <a:off x="1079501" y="3268663"/>
            <a:ext cx="3081020" cy="558800"/>
          </a:xfrm>
          <a:prstGeom prst="rect">
            <a:avLst/>
          </a:prstGeom>
          <a:noFill/>
          <a:ln/>
        </p:spPr>
        <p:txBody>
          <a:bodyPr wrap="square" lIns="0" tIns="0" rIns="0" bIns="0" rtlCol="0" anchor="t">
            <a:normAutofit/>
          </a:bodyPr>
          <a:lstStyle/>
          <a:p>
            <a:pPr marL="0" indent="0" algn="l">
              <a:lnSpc>
                <a:spcPts val="2100"/>
              </a:lnSpc>
              <a:buNone/>
            </a:pPr>
            <a:r>
              <a:rPr lang="es-CO" sz="1500" i="1" noProof="0" dirty="0">
                <a:solidFill>
                  <a:srgbClr val="4A5070"/>
                </a:solidFill>
                <a:latin typeface="Nunito Sans" pitchFamily="34" charset="0"/>
                <a:ea typeface="Nunito Sans" pitchFamily="34" charset="-122"/>
                <a:cs typeface="Nunito Sans" pitchFamily="34" charset="-120"/>
              </a:rPr>
              <a:t>Su cuenta será suspendida en 24 horas si no confirma sus datos.</a:t>
            </a:r>
            <a:endParaRPr lang="es-CO" sz="1500" noProof="0" dirty="0"/>
          </a:p>
        </p:txBody>
      </p:sp>
      <p:sp>
        <p:nvSpPr>
          <p:cNvPr id="7" name="Shape 5"/>
          <p:cNvSpPr/>
          <p:nvPr/>
        </p:nvSpPr>
        <p:spPr>
          <a:xfrm>
            <a:off x="6191250" y="2632472"/>
            <a:ext cx="5181600" cy="1429941"/>
          </a:xfrm>
          <a:prstGeom prst="roundRect">
            <a:avLst>
              <a:gd name="adj" fmla="val 10214"/>
            </a:avLst>
          </a:prstGeom>
          <a:solidFill>
            <a:srgbClr val="FCFBF8"/>
          </a:solidFill>
          <a:ln w="12700">
            <a:solidFill>
              <a:srgbClr val="DDE0EA"/>
            </a:solidFill>
            <a:prstDash val="solid"/>
          </a:ln>
        </p:spPr>
        <p:txBody>
          <a:bodyPr/>
          <a:lstStyle/>
          <a:p>
            <a:endParaRPr lang="es-CO" noProof="0" dirty="0"/>
          </a:p>
        </p:txBody>
      </p:sp>
      <p:sp>
        <p:nvSpPr>
          <p:cNvPr id="8" name="Text 6"/>
          <p:cNvSpPr/>
          <p:nvPr/>
        </p:nvSpPr>
        <p:spPr>
          <a:xfrm>
            <a:off x="6451600" y="2892822"/>
            <a:ext cx="4800727" cy="299641"/>
          </a:xfrm>
          <a:prstGeom prst="rect">
            <a:avLst/>
          </a:prstGeom>
          <a:noFill/>
          <a:ln/>
        </p:spPr>
        <p:txBody>
          <a:bodyPr wrap="square" lIns="0" tIns="0" rIns="0" bIns="0" rtlCol="0" anchor="t">
            <a:normAutofit/>
          </a:bodyPr>
          <a:lstStyle/>
          <a:p>
            <a:pPr marL="0" indent="0" algn="l">
              <a:lnSpc>
                <a:spcPts val="2160"/>
              </a:lnSpc>
              <a:buNone/>
            </a:pPr>
            <a:r>
              <a:rPr lang="es-CO" sz="1800" b="1" noProof="0" dirty="0">
                <a:solidFill>
                  <a:srgbClr val="2F3EBF"/>
                </a:solidFill>
                <a:latin typeface="Nunito Sans" pitchFamily="34" charset="0"/>
                <a:ea typeface="Nunito Sans" pitchFamily="34" charset="-122"/>
                <a:cs typeface="Nunito Sans" pitchFamily="34" charset="-120"/>
              </a:rPr>
              <a:t>Urgencia</a:t>
            </a:r>
            <a:endParaRPr lang="es-CO" sz="1800" noProof="0" dirty="0"/>
          </a:p>
        </p:txBody>
      </p:sp>
      <p:sp>
        <p:nvSpPr>
          <p:cNvPr id="9" name="Text 7"/>
          <p:cNvSpPr/>
          <p:nvPr/>
        </p:nvSpPr>
        <p:spPr>
          <a:xfrm>
            <a:off x="6451600" y="3268663"/>
            <a:ext cx="3030727" cy="558800"/>
          </a:xfrm>
          <a:prstGeom prst="rect">
            <a:avLst/>
          </a:prstGeom>
          <a:noFill/>
          <a:ln/>
        </p:spPr>
        <p:txBody>
          <a:bodyPr wrap="square" lIns="0" tIns="0" rIns="0" bIns="0" rtlCol="0" anchor="t">
            <a:normAutofit/>
          </a:bodyPr>
          <a:lstStyle/>
          <a:p>
            <a:pPr marL="0" indent="0" algn="l">
              <a:lnSpc>
                <a:spcPts val="2100"/>
              </a:lnSpc>
              <a:buNone/>
            </a:pPr>
            <a:r>
              <a:rPr lang="es-CO" sz="1500" i="1" noProof="0" dirty="0">
                <a:solidFill>
                  <a:srgbClr val="4A5070"/>
                </a:solidFill>
                <a:latin typeface="Nunito Sans" pitchFamily="34" charset="0"/>
                <a:ea typeface="Nunito Sans" pitchFamily="34" charset="-122"/>
                <a:cs typeface="Nunito Sans" pitchFamily="34" charset="-120"/>
              </a:rPr>
              <a:t>Necesito la transferencia antes del cierre bancario. Es para hoy.</a:t>
            </a:r>
            <a:endParaRPr lang="es-CO" sz="1500" noProof="0" dirty="0"/>
          </a:p>
        </p:txBody>
      </p:sp>
      <p:sp>
        <p:nvSpPr>
          <p:cNvPr id="10" name="Shape 8"/>
          <p:cNvSpPr/>
          <p:nvPr/>
        </p:nvSpPr>
        <p:spPr>
          <a:xfrm>
            <a:off x="819150" y="4252913"/>
            <a:ext cx="5181600" cy="1429941"/>
          </a:xfrm>
          <a:prstGeom prst="roundRect">
            <a:avLst>
              <a:gd name="adj" fmla="val 10214"/>
            </a:avLst>
          </a:prstGeom>
          <a:solidFill>
            <a:srgbClr val="FCFBF8"/>
          </a:solidFill>
          <a:ln w="12700">
            <a:solidFill>
              <a:srgbClr val="DDE0EA"/>
            </a:solidFill>
            <a:prstDash val="solid"/>
          </a:ln>
        </p:spPr>
        <p:txBody>
          <a:bodyPr/>
          <a:lstStyle/>
          <a:p>
            <a:endParaRPr lang="es-CO" noProof="0" dirty="0"/>
          </a:p>
        </p:txBody>
      </p:sp>
      <p:sp>
        <p:nvSpPr>
          <p:cNvPr id="11" name="Text 9"/>
          <p:cNvSpPr/>
          <p:nvPr/>
        </p:nvSpPr>
        <p:spPr>
          <a:xfrm>
            <a:off x="1079500" y="4513263"/>
            <a:ext cx="4800727" cy="299641"/>
          </a:xfrm>
          <a:prstGeom prst="rect">
            <a:avLst/>
          </a:prstGeom>
          <a:noFill/>
          <a:ln/>
        </p:spPr>
        <p:txBody>
          <a:bodyPr wrap="square" lIns="0" tIns="0" rIns="0" bIns="0" rtlCol="0" anchor="t">
            <a:normAutofit/>
          </a:bodyPr>
          <a:lstStyle/>
          <a:p>
            <a:pPr marL="0" indent="0" algn="l">
              <a:lnSpc>
                <a:spcPts val="2160"/>
              </a:lnSpc>
              <a:buNone/>
            </a:pPr>
            <a:r>
              <a:rPr lang="es-CO" sz="1800" b="1" noProof="0" dirty="0">
                <a:solidFill>
                  <a:srgbClr val="2F3EBF"/>
                </a:solidFill>
                <a:latin typeface="Nunito Sans" pitchFamily="34" charset="0"/>
                <a:ea typeface="Nunito Sans" pitchFamily="34" charset="-122"/>
                <a:cs typeface="Nunito Sans" pitchFamily="34" charset="-120"/>
              </a:rPr>
              <a:t>Autoridad</a:t>
            </a:r>
            <a:endParaRPr lang="es-CO" sz="1800" noProof="0" dirty="0"/>
          </a:p>
        </p:txBody>
      </p:sp>
      <p:sp>
        <p:nvSpPr>
          <p:cNvPr id="12" name="Text 10"/>
          <p:cNvSpPr/>
          <p:nvPr/>
        </p:nvSpPr>
        <p:spPr>
          <a:xfrm>
            <a:off x="1079501" y="4889103"/>
            <a:ext cx="3373628" cy="558800"/>
          </a:xfrm>
          <a:prstGeom prst="rect">
            <a:avLst/>
          </a:prstGeom>
          <a:noFill/>
          <a:ln/>
        </p:spPr>
        <p:txBody>
          <a:bodyPr wrap="square" lIns="0" tIns="0" rIns="0" bIns="0" rtlCol="0" anchor="t">
            <a:normAutofit/>
          </a:bodyPr>
          <a:lstStyle/>
          <a:p>
            <a:pPr marL="0" indent="0" algn="l">
              <a:lnSpc>
                <a:spcPts val="2100"/>
              </a:lnSpc>
              <a:buNone/>
            </a:pPr>
            <a:r>
              <a:rPr lang="es-CO" sz="1500" i="1" noProof="0" dirty="0">
                <a:solidFill>
                  <a:srgbClr val="4A5070"/>
                </a:solidFill>
                <a:latin typeface="Nunito Sans" pitchFamily="34" charset="0"/>
                <a:ea typeface="Nunito Sans" pitchFamily="34" charset="-122"/>
                <a:cs typeface="Nunito Sans" pitchFamily="34" charset="-120"/>
              </a:rPr>
              <a:t>Soy el gerente. Estoy en reunión, no puedo hablar. Hazlo y luego te explico.</a:t>
            </a:r>
            <a:endParaRPr lang="es-CO" sz="1500" noProof="0" dirty="0"/>
          </a:p>
        </p:txBody>
      </p:sp>
      <p:sp>
        <p:nvSpPr>
          <p:cNvPr id="13" name="Shape 11"/>
          <p:cNvSpPr/>
          <p:nvPr/>
        </p:nvSpPr>
        <p:spPr>
          <a:xfrm>
            <a:off x="6191250" y="4252913"/>
            <a:ext cx="5181600" cy="1429941"/>
          </a:xfrm>
          <a:prstGeom prst="roundRect">
            <a:avLst>
              <a:gd name="adj" fmla="val 10214"/>
            </a:avLst>
          </a:prstGeom>
          <a:solidFill>
            <a:srgbClr val="FCFBF8"/>
          </a:solidFill>
          <a:ln w="12700">
            <a:solidFill>
              <a:srgbClr val="DDE0EA"/>
            </a:solidFill>
            <a:prstDash val="solid"/>
          </a:ln>
        </p:spPr>
        <p:txBody>
          <a:bodyPr/>
          <a:lstStyle/>
          <a:p>
            <a:endParaRPr lang="es-CO" noProof="0" dirty="0"/>
          </a:p>
        </p:txBody>
      </p:sp>
      <p:sp>
        <p:nvSpPr>
          <p:cNvPr id="14" name="Text 12"/>
          <p:cNvSpPr/>
          <p:nvPr/>
        </p:nvSpPr>
        <p:spPr>
          <a:xfrm>
            <a:off x="6451600" y="4513263"/>
            <a:ext cx="4800727" cy="299641"/>
          </a:xfrm>
          <a:prstGeom prst="rect">
            <a:avLst/>
          </a:prstGeom>
          <a:noFill/>
          <a:ln/>
        </p:spPr>
        <p:txBody>
          <a:bodyPr wrap="square" lIns="0" tIns="0" rIns="0" bIns="0" rtlCol="0" anchor="t">
            <a:normAutofit/>
          </a:bodyPr>
          <a:lstStyle/>
          <a:p>
            <a:pPr marL="0" indent="0" algn="l">
              <a:lnSpc>
                <a:spcPts val="2160"/>
              </a:lnSpc>
              <a:buNone/>
            </a:pPr>
            <a:r>
              <a:rPr lang="es-CO" sz="1800" b="1" noProof="0" dirty="0">
                <a:solidFill>
                  <a:srgbClr val="2F3EBF"/>
                </a:solidFill>
                <a:latin typeface="Nunito Sans" pitchFamily="34" charset="0"/>
                <a:ea typeface="Nunito Sans" pitchFamily="34" charset="-122"/>
                <a:cs typeface="Nunito Sans" pitchFamily="34" charset="-120"/>
              </a:rPr>
              <a:t>Codicia o curiosidad</a:t>
            </a:r>
            <a:endParaRPr lang="es-CO" sz="1800" noProof="0" dirty="0"/>
          </a:p>
        </p:txBody>
      </p:sp>
      <p:sp>
        <p:nvSpPr>
          <p:cNvPr id="15" name="Text 13"/>
          <p:cNvSpPr/>
          <p:nvPr/>
        </p:nvSpPr>
        <p:spPr>
          <a:xfrm>
            <a:off x="6451600" y="4889103"/>
            <a:ext cx="3135691" cy="558800"/>
          </a:xfrm>
          <a:prstGeom prst="rect">
            <a:avLst/>
          </a:prstGeom>
          <a:noFill/>
          <a:ln/>
        </p:spPr>
        <p:txBody>
          <a:bodyPr wrap="square" lIns="0" tIns="0" rIns="0" bIns="0" rtlCol="0" anchor="t">
            <a:normAutofit/>
          </a:bodyPr>
          <a:lstStyle/>
          <a:p>
            <a:pPr marL="0" indent="0" algn="l">
              <a:lnSpc>
                <a:spcPts val="2100"/>
              </a:lnSpc>
              <a:buNone/>
            </a:pPr>
            <a:r>
              <a:rPr lang="es-CO" sz="1500" i="1" noProof="0" dirty="0">
                <a:solidFill>
                  <a:srgbClr val="4A5070"/>
                </a:solidFill>
                <a:latin typeface="Nunito Sans" pitchFamily="34" charset="0"/>
                <a:ea typeface="Nunito Sans" pitchFamily="34" charset="-122"/>
                <a:cs typeface="Nunito Sans" pitchFamily="34" charset="-120"/>
              </a:rPr>
              <a:t>Tu bono fue aprobado. Confirma tus datos para recibirlo.</a:t>
            </a:r>
            <a:endParaRPr lang="es-CO" sz="1500" noProof="0" dirty="0"/>
          </a:p>
        </p:txBody>
      </p:sp>
      <p:pic>
        <p:nvPicPr>
          <p:cNvPr id="16" name="Image 0" descr="Pralogy"/>
          <p:cNvPicPr>
            <a:picLocks noChangeAspect="1"/>
          </p:cNvPicPr>
          <p:nvPr/>
        </p:nvPicPr>
        <p:blipFill>
          <a:blip r:embed="rId3"/>
          <a:srcRect l="-62" r="-62"/>
          <a:stretch/>
        </p:blipFill>
        <p:spPr>
          <a:xfrm>
            <a:off x="812800" y="6273800"/>
            <a:ext cx="1111250" cy="228600"/>
          </a:xfrm>
          <a:prstGeom prst="rect">
            <a:avLst/>
          </a:prstGeom>
        </p:spPr>
      </p:pic>
      <p:sp>
        <p:nvSpPr>
          <p:cNvPr id="17" name="Text 14"/>
          <p:cNvSpPr/>
          <p:nvPr/>
        </p:nvSpPr>
        <p:spPr>
          <a:xfrm>
            <a:off x="11236920" y="6281440"/>
            <a:ext cx="142280"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6</a:t>
            </a:r>
            <a:endParaRPr lang="es-CO" sz="1200" noProof="0" dirty="0"/>
          </a:p>
        </p:txBody>
      </p:sp>
      <p:pic>
        <p:nvPicPr>
          <p:cNvPr id="19" name="Picture 18">
            <a:extLst>
              <a:ext uri="{FF2B5EF4-FFF2-40B4-BE49-F238E27FC236}">
                <a16:creationId xmlns:a16="http://schemas.microsoft.com/office/drawing/2014/main" id="{4F218021-207F-ABB2-4674-E4DEBCE25B34}"/>
              </a:ext>
            </a:extLst>
          </p:cNvPr>
          <p:cNvPicPr>
            <a:picLocks noChangeAspect="1"/>
          </p:cNvPicPr>
          <p:nvPr/>
        </p:nvPicPr>
        <p:blipFill>
          <a:blip r:embed="rId4"/>
          <a:stretch>
            <a:fillRect/>
          </a:stretch>
        </p:blipFill>
        <p:spPr>
          <a:xfrm>
            <a:off x="4351021" y="2764219"/>
            <a:ext cx="1397381" cy="1397381"/>
          </a:xfrm>
          <a:prstGeom prst="rect">
            <a:avLst/>
          </a:prstGeom>
        </p:spPr>
      </p:pic>
      <p:pic>
        <p:nvPicPr>
          <p:cNvPr id="22" name="Picture 21" descr="Ansiedad - Iconos gratis de usuario">
            <a:extLst>
              <a:ext uri="{FF2B5EF4-FFF2-40B4-BE49-F238E27FC236}">
                <a16:creationId xmlns:a16="http://schemas.microsoft.com/office/drawing/2014/main" id="{E9E28415-C1F1-DC9E-D7BA-40234728731E}"/>
              </a:ext>
            </a:extLst>
          </p:cNvPr>
          <p:cNvPicPr>
            <a:picLocks noChangeAspect="1"/>
          </p:cNvPicPr>
          <p:nvPr/>
        </p:nvPicPr>
        <p:blipFill>
          <a:blip r:embed="rId5"/>
          <a:stretch>
            <a:fillRect/>
          </a:stretch>
        </p:blipFill>
        <p:spPr>
          <a:xfrm>
            <a:off x="9742677" y="2775817"/>
            <a:ext cx="1400897" cy="1400897"/>
          </a:xfrm>
          <a:prstGeom prst="rect">
            <a:avLst/>
          </a:prstGeom>
        </p:spPr>
      </p:pic>
      <p:pic>
        <p:nvPicPr>
          <p:cNvPr id="24" name="Picture 23">
            <a:extLst>
              <a:ext uri="{FF2B5EF4-FFF2-40B4-BE49-F238E27FC236}">
                <a16:creationId xmlns:a16="http://schemas.microsoft.com/office/drawing/2014/main" id="{EFAD4869-1D1D-D9FA-DE4C-56A7E9D4C915}"/>
              </a:ext>
            </a:extLst>
          </p:cNvPr>
          <p:cNvPicPr>
            <a:picLocks noChangeAspect="1"/>
          </p:cNvPicPr>
          <p:nvPr/>
        </p:nvPicPr>
        <p:blipFill>
          <a:blip r:embed="rId6"/>
          <a:stretch>
            <a:fillRect/>
          </a:stretch>
        </p:blipFill>
        <p:spPr>
          <a:xfrm>
            <a:off x="4561077" y="4322762"/>
            <a:ext cx="1544637" cy="1544637"/>
          </a:xfrm>
          <a:prstGeom prst="rect">
            <a:avLst/>
          </a:prstGeom>
        </p:spPr>
      </p:pic>
      <p:pic>
        <p:nvPicPr>
          <p:cNvPr id="26" name="Picture 25">
            <a:extLst>
              <a:ext uri="{FF2B5EF4-FFF2-40B4-BE49-F238E27FC236}">
                <a16:creationId xmlns:a16="http://schemas.microsoft.com/office/drawing/2014/main" id="{BA950DA3-5740-35F1-A2E7-62CC209612CB}"/>
              </a:ext>
            </a:extLst>
          </p:cNvPr>
          <p:cNvPicPr>
            <a:picLocks noChangeAspect="1"/>
          </p:cNvPicPr>
          <p:nvPr/>
        </p:nvPicPr>
        <p:blipFill>
          <a:blip r:embed="rId7"/>
          <a:stretch>
            <a:fillRect/>
          </a:stretch>
        </p:blipFill>
        <p:spPr>
          <a:xfrm>
            <a:off x="9622154" y="4367214"/>
            <a:ext cx="1426464" cy="142646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729932" y="1160516"/>
            <a:ext cx="10883392" cy="274241"/>
          </a:xfrm>
          <a:prstGeom prst="rect">
            <a:avLst/>
          </a:prstGeom>
          <a:noFill/>
          <a:ln/>
        </p:spPr>
        <p:txBody>
          <a:bodyPr wrap="square" lIns="0" tIns="0" rIns="0" bIns="0" rtlCol="0" anchor="t">
            <a:normAutofit/>
          </a:bodyPr>
          <a:lstStyle/>
          <a:p>
            <a:pPr>
              <a:lnSpc>
                <a:spcPts val="1960"/>
              </a:lnSpc>
            </a:pPr>
            <a:r>
              <a:rPr lang="es-CO" sz="1400" b="1" kern="0" spc="150" dirty="0">
                <a:solidFill>
                  <a:srgbClr val="2F3EBF"/>
                </a:solidFill>
                <a:latin typeface="Nunito Sans" pitchFamily="34" charset="0"/>
                <a:ea typeface="Nunito Sans" pitchFamily="34" charset="-122"/>
                <a:cs typeface="Nunito Sans" pitchFamily="34" charset="-120"/>
              </a:rPr>
              <a:t>BLOQUE 1 · LA URGENCIA COMO ARMA</a:t>
            </a:r>
            <a:endParaRPr lang="es-CO" sz="1400" dirty="0"/>
          </a:p>
        </p:txBody>
      </p:sp>
      <p:sp>
        <p:nvSpPr>
          <p:cNvPr id="3" name="Text 1"/>
          <p:cNvSpPr>
            <a:spLocks noGrp="1"/>
          </p:cNvSpPr>
          <p:nvPr>
            <p:ph type="title"/>
          </p:nvPr>
        </p:nvSpPr>
        <p:spPr>
          <a:xfrm>
            <a:off x="729932" y="1688757"/>
            <a:ext cx="10883392" cy="528241"/>
          </a:xfrm>
          <a:prstGeom prst="rect">
            <a:avLst/>
          </a:prstGeom>
          <a:noFill/>
          <a:ln/>
        </p:spPr>
        <p:txBody>
          <a:bodyPr wrap="square" lIns="0" tIns="0" rIns="0" bIns="0" rtlCol="0" anchor="t">
            <a:normAutofit/>
          </a:bodyPr>
          <a:lstStyle/>
          <a:p>
            <a:pPr marL="0" indent="0" algn="l">
              <a:lnSpc>
                <a:spcPts val="3960"/>
              </a:lnSpc>
              <a:buNone/>
            </a:pPr>
            <a:r>
              <a:rPr lang="es-CO" dirty="0">
                <a:latin typeface="Fraunces" pitchFamily="18" charset="0"/>
              </a:rPr>
              <a:t>Ingeniería social en su mayor esplendor.</a:t>
            </a:r>
            <a:endParaRPr lang="es-CO" sz="3600" noProof="0" dirty="0"/>
          </a:p>
        </p:txBody>
      </p:sp>
      <p:grpSp>
        <p:nvGrpSpPr>
          <p:cNvPr id="28" name="Group 27">
            <a:extLst>
              <a:ext uri="{FF2B5EF4-FFF2-40B4-BE49-F238E27FC236}">
                <a16:creationId xmlns:a16="http://schemas.microsoft.com/office/drawing/2014/main" id="{9B8323BB-8FAA-7D65-87F5-D43EDFE8E91A}"/>
              </a:ext>
            </a:extLst>
          </p:cNvPr>
          <p:cNvGrpSpPr/>
          <p:nvPr/>
        </p:nvGrpSpPr>
        <p:grpSpPr>
          <a:xfrm>
            <a:off x="729932" y="2654809"/>
            <a:ext cx="2686114" cy="2017624"/>
            <a:chOff x="819150" y="2129631"/>
            <a:chExt cx="2501900" cy="2097584"/>
          </a:xfrm>
        </p:grpSpPr>
        <p:sp>
          <p:nvSpPr>
            <p:cNvPr id="4" name="Shape 2"/>
            <p:cNvSpPr/>
            <p:nvPr/>
          </p:nvSpPr>
          <p:spPr>
            <a:xfrm>
              <a:off x="819150" y="2129631"/>
              <a:ext cx="2501900" cy="2097584"/>
            </a:xfrm>
            <a:prstGeom prst="roundRect">
              <a:avLst>
                <a:gd name="adj" fmla="val 6963"/>
              </a:avLst>
            </a:prstGeom>
            <a:solidFill>
              <a:srgbClr val="FCFBF8"/>
            </a:solidFill>
            <a:ln w="12700">
              <a:solidFill>
                <a:srgbClr val="DDE0EA"/>
              </a:solidFill>
              <a:prstDash val="solid"/>
            </a:ln>
          </p:spPr>
          <p:txBody>
            <a:bodyPr/>
            <a:lstStyle/>
            <a:p>
              <a:endParaRPr lang="es-CO" noProof="0" dirty="0"/>
            </a:p>
          </p:txBody>
        </p:sp>
        <p:sp>
          <p:nvSpPr>
            <p:cNvPr id="6" name="Text 4"/>
            <p:cNvSpPr/>
            <p:nvPr/>
          </p:nvSpPr>
          <p:spPr>
            <a:xfrm>
              <a:off x="1049782" y="2498142"/>
              <a:ext cx="2040636" cy="1617234"/>
            </a:xfrm>
            <a:prstGeom prst="rect">
              <a:avLst/>
            </a:prstGeom>
            <a:noFill/>
            <a:ln/>
          </p:spPr>
          <p:txBody>
            <a:bodyPr wrap="square" lIns="0" tIns="0" rIns="0" bIns="0" rtlCol="0" anchor="t">
              <a:normAutofit/>
            </a:bodyPr>
            <a:lstStyle/>
            <a:p>
              <a:pPr marL="0" indent="0">
                <a:lnSpc>
                  <a:spcPts val="1960"/>
                </a:lnSpc>
                <a:buNone/>
              </a:pPr>
              <a:r>
                <a:rPr lang="es-CO" sz="1600" dirty="0">
                  <a:solidFill>
                    <a:srgbClr val="1C2142"/>
                  </a:solidFill>
                  <a:latin typeface="Nunito Sans" pitchFamily="34" charset="0"/>
                </a:rPr>
                <a:t>Un empleado recibe un correo del </a:t>
              </a:r>
              <a:r>
                <a:rPr lang="es-CO" sz="1600" b="1" dirty="0">
                  <a:solidFill>
                    <a:srgbClr val="1C2142"/>
                  </a:solidFill>
                  <a:latin typeface="Nunito Sans" pitchFamily="34" charset="0"/>
                </a:rPr>
                <a:t>“Director Financiero” </a:t>
              </a:r>
              <a:r>
                <a:rPr lang="es-CO" sz="1600" dirty="0">
                  <a:solidFill>
                    <a:srgbClr val="1C2142"/>
                  </a:solidFill>
                  <a:latin typeface="Nunito Sans" pitchFamily="34" charset="0"/>
                </a:rPr>
                <a:t>para realizar una </a:t>
              </a:r>
              <a:r>
                <a:rPr lang="es-CO" sz="1600" b="1" dirty="0">
                  <a:solidFill>
                    <a:srgbClr val="1C2142"/>
                  </a:solidFill>
                  <a:latin typeface="Nunito Sans" pitchFamily="34" charset="0"/>
                </a:rPr>
                <a:t>transacción confidencial</a:t>
              </a:r>
              <a:r>
                <a:rPr lang="es-CO" sz="1600" noProof="0" dirty="0">
                  <a:solidFill>
                    <a:srgbClr val="4A5070"/>
                  </a:solidFill>
                  <a:latin typeface="Nunito Sans" pitchFamily="34" charset="0"/>
                  <a:ea typeface="Nunito Sans" pitchFamily="34" charset="-122"/>
                  <a:cs typeface="Nunito Sans" pitchFamily="34" charset="-120"/>
                </a:rPr>
                <a:t>.</a:t>
              </a:r>
              <a:endParaRPr lang="es-CO" sz="1600" noProof="0" dirty="0"/>
            </a:p>
          </p:txBody>
        </p:sp>
      </p:grpSp>
      <p:grpSp>
        <p:nvGrpSpPr>
          <p:cNvPr id="29" name="Group 28">
            <a:extLst>
              <a:ext uri="{FF2B5EF4-FFF2-40B4-BE49-F238E27FC236}">
                <a16:creationId xmlns:a16="http://schemas.microsoft.com/office/drawing/2014/main" id="{AB06B7B2-F892-AE1B-CD6C-BD0DEFF3557C}"/>
              </a:ext>
            </a:extLst>
          </p:cNvPr>
          <p:cNvGrpSpPr/>
          <p:nvPr/>
        </p:nvGrpSpPr>
        <p:grpSpPr>
          <a:xfrm>
            <a:off x="3618520" y="2884126"/>
            <a:ext cx="2501900" cy="2097584"/>
            <a:chOff x="3498850" y="2129631"/>
            <a:chExt cx="2501900" cy="2097584"/>
          </a:xfrm>
        </p:grpSpPr>
        <p:sp>
          <p:nvSpPr>
            <p:cNvPr id="20" name="Shape 8">
              <a:extLst>
                <a:ext uri="{FF2B5EF4-FFF2-40B4-BE49-F238E27FC236}">
                  <a16:creationId xmlns:a16="http://schemas.microsoft.com/office/drawing/2014/main" id="{D1F4A3E0-B880-D7C9-4A0F-F4B5BE1C0371}"/>
                </a:ext>
              </a:extLst>
            </p:cNvPr>
            <p:cNvSpPr/>
            <p:nvPr/>
          </p:nvSpPr>
          <p:spPr>
            <a:xfrm>
              <a:off x="3498850" y="2129631"/>
              <a:ext cx="2501900" cy="2097584"/>
            </a:xfrm>
            <a:prstGeom prst="roundRect">
              <a:avLst>
                <a:gd name="adj" fmla="val 6963"/>
              </a:avLst>
            </a:prstGeom>
            <a:solidFill>
              <a:srgbClr val="FCFBF8"/>
            </a:solidFill>
            <a:ln w="12700">
              <a:solidFill>
                <a:srgbClr val="DDE0EA"/>
              </a:solidFill>
              <a:prstDash val="solid"/>
            </a:ln>
          </p:spPr>
          <p:txBody>
            <a:bodyPr/>
            <a:lstStyle/>
            <a:p>
              <a:endParaRPr lang="es-CO" noProof="0" dirty="0"/>
            </a:p>
          </p:txBody>
        </p:sp>
        <p:sp>
          <p:nvSpPr>
            <p:cNvPr id="8" name="Text 6"/>
            <p:cNvSpPr/>
            <p:nvPr/>
          </p:nvSpPr>
          <p:spPr>
            <a:xfrm>
              <a:off x="3759200" y="2377281"/>
              <a:ext cx="2040636" cy="256480"/>
            </a:xfrm>
            <a:prstGeom prst="rect">
              <a:avLst/>
            </a:prstGeom>
            <a:noFill/>
            <a:ln/>
          </p:spPr>
          <p:txBody>
            <a:bodyPr wrap="square" lIns="0" tIns="0" rIns="0" bIns="0" rtlCol="0" anchor="t">
              <a:normAutofit/>
            </a:bodyPr>
            <a:lstStyle/>
            <a:p>
              <a:pPr marL="0" indent="0" algn="l">
                <a:lnSpc>
                  <a:spcPts val="1820"/>
                </a:lnSpc>
                <a:buNone/>
              </a:pPr>
              <a:endParaRPr lang="es-CO" sz="1300" noProof="0" dirty="0"/>
            </a:p>
          </p:txBody>
        </p:sp>
        <p:sp>
          <p:nvSpPr>
            <p:cNvPr id="9" name="Text 7"/>
            <p:cNvSpPr/>
            <p:nvPr/>
          </p:nvSpPr>
          <p:spPr>
            <a:xfrm>
              <a:off x="3723894" y="2548147"/>
              <a:ext cx="2111248" cy="1369791"/>
            </a:xfrm>
            <a:prstGeom prst="rect">
              <a:avLst/>
            </a:prstGeom>
            <a:noFill/>
            <a:ln/>
          </p:spPr>
          <p:txBody>
            <a:bodyPr wrap="square" lIns="0" tIns="0" rIns="0" bIns="0" rtlCol="0" anchor="t">
              <a:noAutofit/>
            </a:bodyPr>
            <a:lstStyle/>
            <a:p>
              <a:pPr marL="0" indent="0" algn="l">
                <a:lnSpc>
                  <a:spcPts val="1960"/>
                </a:lnSpc>
                <a:buNone/>
              </a:pPr>
              <a:r>
                <a:rPr lang="es-CO" sz="1600" b="1" noProof="0" dirty="0">
                  <a:solidFill>
                    <a:srgbClr val="1C2142"/>
                  </a:solidFill>
                  <a:latin typeface="Nunito Sans" pitchFamily="34" charset="0"/>
                  <a:ea typeface="Nunito Sans" pitchFamily="34" charset="-122"/>
                  <a:cs typeface="Nunito Sans" pitchFamily="34" charset="-120"/>
                </a:rPr>
                <a:t>Sospecha que es phishing.</a:t>
              </a:r>
              <a:r>
                <a:rPr lang="es-CO" sz="1600" noProof="0" dirty="0">
                  <a:solidFill>
                    <a:srgbClr val="1C2142"/>
                  </a:solidFill>
                  <a:latin typeface="Nunito Sans" pitchFamily="34" charset="0"/>
                  <a:ea typeface="Nunito Sans" pitchFamily="34" charset="-122"/>
                  <a:cs typeface="Nunito Sans" pitchFamily="34" charset="-120"/>
                </a:rPr>
                <a:t> Su instinto le advierte del peligro pero </a:t>
              </a:r>
              <a:r>
                <a:rPr lang="es-CO" sz="1600" b="1" dirty="0">
                  <a:solidFill>
                    <a:srgbClr val="1C2142"/>
                  </a:solidFill>
                  <a:latin typeface="Nunito Sans" pitchFamily="34" charset="0"/>
                </a:rPr>
                <a:t>lo</a:t>
              </a:r>
              <a:r>
                <a:rPr lang="es-CO" sz="1600" noProof="0" dirty="0">
                  <a:solidFill>
                    <a:srgbClr val="1C2142"/>
                  </a:solidFill>
                  <a:latin typeface="Nunito Sans" pitchFamily="34" charset="0"/>
                  <a:ea typeface="Nunito Sans" pitchFamily="34" charset="-122"/>
                  <a:cs typeface="Nunito Sans" pitchFamily="34" charset="-120"/>
                </a:rPr>
                <a:t> invitan a una </a:t>
              </a:r>
              <a:r>
                <a:rPr lang="es-CO" sz="1600" b="1" noProof="0" dirty="0">
                  <a:solidFill>
                    <a:srgbClr val="1C2142"/>
                  </a:solidFill>
                  <a:latin typeface="Nunito Sans" pitchFamily="34" charset="0"/>
                  <a:ea typeface="Nunito Sans" pitchFamily="34" charset="-122"/>
                  <a:cs typeface="Nunito Sans" pitchFamily="34" charset="-120"/>
                </a:rPr>
                <a:t>videollamada</a:t>
              </a:r>
              <a:r>
                <a:rPr lang="es-CO" sz="1600" noProof="0" dirty="0">
                  <a:solidFill>
                    <a:srgbClr val="1C2142"/>
                  </a:solidFill>
                  <a:latin typeface="Nunito Sans" pitchFamily="34" charset="0"/>
                  <a:ea typeface="Nunito Sans" pitchFamily="34" charset="-122"/>
                  <a:cs typeface="Nunito Sans" pitchFamily="34" charset="-120"/>
                </a:rPr>
                <a:t>.</a:t>
              </a:r>
              <a:endParaRPr lang="es-CO" sz="1600" noProof="0" dirty="0"/>
            </a:p>
          </p:txBody>
        </p:sp>
      </p:grpSp>
      <p:grpSp>
        <p:nvGrpSpPr>
          <p:cNvPr id="30" name="Group 29">
            <a:extLst>
              <a:ext uri="{FF2B5EF4-FFF2-40B4-BE49-F238E27FC236}">
                <a16:creationId xmlns:a16="http://schemas.microsoft.com/office/drawing/2014/main" id="{F18CCC9C-84FB-B83B-8E3E-4FAC1F1307E0}"/>
              </a:ext>
            </a:extLst>
          </p:cNvPr>
          <p:cNvGrpSpPr/>
          <p:nvPr/>
        </p:nvGrpSpPr>
        <p:grpSpPr>
          <a:xfrm>
            <a:off x="6279896" y="3131776"/>
            <a:ext cx="2501900" cy="2097584"/>
            <a:chOff x="6184900" y="2123282"/>
            <a:chExt cx="2501900" cy="2097584"/>
          </a:xfrm>
        </p:grpSpPr>
        <p:sp>
          <p:nvSpPr>
            <p:cNvPr id="10" name="Shape 8"/>
            <p:cNvSpPr/>
            <p:nvPr/>
          </p:nvSpPr>
          <p:spPr>
            <a:xfrm>
              <a:off x="6184900" y="2123282"/>
              <a:ext cx="2501900" cy="2097584"/>
            </a:xfrm>
            <a:prstGeom prst="roundRect">
              <a:avLst>
                <a:gd name="adj" fmla="val 6963"/>
              </a:avLst>
            </a:prstGeom>
            <a:solidFill>
              <a:srgbClr val="FCFBF8"/>
            </a:solidFill>
            <a:ln w="12700">
              <a:solidFill>
                <a:srgbClr val="DDE0EA"/>
              </a:solidFill>
              <a:prstDash val="solid"/>
            </a:ln>
          </p:spPr>
          <p:txBody>
            <a:bodyPr/>
            <a:lstStyle/>
            <a:p>
              <a:endParaRPr lang="es-CO" noProof="0" dirty="0"/>
            </a:p>
          </p:txBody>
        </p:sp>
        <p:sp>
          <p:nvSpPr>
            <p:cNvPr id="11" name="Text 9"/>
            <p:cNvSpPr/>
            <p:nvPr/>
          </p:nvSpPr>
          <p:spPr>
            <a:xfrm>
              <a:off x="6438900" y="2389981"/>
              <a:ext cx="2040636" cy="256480"/>
            </a:xfrm>
            <a:prstGeom prst="rect">
              <a:avLst/>
            </a:prstGeom>
            <a:noFill/>
            <a:ln/>
          </p:spPr>
          <p:txBody>
            <a:bodyPr wrap="square" lIns="0" tIns="0" rIns="0" bIns="0" rtlCol="0" anchor="t">
              <a:normAutofit/>
            </a:bodyPr>
            <a:lstStyle/>
            <a:p>
              <a:pPr marL="0" indent="0" algn="l">
                <a:lnSpc>
                  <a:spcPts val="1820"/>
                </a:lnSpc>
                <a:buNone/>
              </a:pPr>
              <a:endParaRPr lang="es-CO" sz="1300" noProof="0" dirty="0"/>
            </a:p>
          </p:txBody>
        </p:sp>
        <p:sp>
          <p:nvSpPr>
            <p:cNvPr id="12" name="Text 10"/>
            <p:cNvSpPr/>
            <p:nvPr/>
          </p:nvSpPr>
          <p:spPr>
            <a:xfrm>
              <a:off x="6438900" y="2513541"/>
              <a:ext cx="2040636" cy="1269603"/>
            </a:xfrm>
            <a:prstGeom prst="rect">
              <a:avLst/>
            </a:prstGeom>
            <a:noFill/>
            <a:ln/>
          </p:spPr>
          <p:txBody>
            <a:bodyPr wrap="square" lIns="0" tIns="0" rIns="0" bIns="0" rtlCol="0" anchor="t">
              <a:normAutofit/>
            </a:bodyPr>
            <a:lstStyle/>
            <a:p>
              <a:pPr marL="0" indent="0" algn="l">
                <a:lnSpc>
                  <a:spcPts val="1960"/>
                </a:lnSpc>
                <a:buNone/>
              </a:pPr>
              <a:r>
                <a:rPr lang="es-CO" sz="1600" dirty="0">
                  <a:solidFill>
                    <a:srgbClr val="1C2142"/>
                  </a:solidFill>
                  <a:latin typeface="Nunito Sans" pitchFamily="34" charset="0"/>
                </a:rPr>
                <a:t>En la </a:t>
              </a:r>
              <a:r>
                <a:rPr lang="es-CO" sz="1600" b="1" dirty="0">
                  <a:solidFill>
                    <a:srgbClr val="1C2142"/>
                  </a:solidFill>
                  <a:latin typeface="Nunito Sans" pitchFamily="34" charset="0"/>
                </a:rPr>
                <a:t>videollamada</a:t>
              </a:r>
              <a:r>
                <a:rPr lang="es-CO" sz="1600" dirty="0">
                  <a:solidFill>
                    <a:srgbClr val="1C2142"/>
                  </a:solidFill>
                  <a:latin typeface="Nunito Sans" pitchFamily="34" charset="0"/>
                </a:rPr>
                <a:t> se encuentra con el </a:t>
              </a:r>
              <a:r>
                <a:rPr lang="es-CO" sz="1600" b="1" dirty="0">
                  <a:solidFill>
                    <a:srgbClr val="1C2142"/>
                  </a:solidFill>
                  <a:latin typeface="Nunito Sans" pitchFamily="34" charset="0"/>
                </a:rPr>
                <a:t>“Director financiero</a:t>
              </a:r>
              <a:r>
                <a:rPr lang="es-CO" sz="1600" dirty="0">
                  <a:solidFill>
                    <a:srgbClr val="1C2142"/>
                  </a:solidFill>
                  <a:latin typeface="Nunito Sans" pitchFamily="34" charset="0"/>
                </a:rPr>
                <a:t>” y compañeros. Todos eran </a:t>
              </a:r>
              <a:r>
                <a:rPr lang="es-CO" sz="1600" b="1" dirty="0">
                  <a:solidFill>
                    <a:srgbClr val="1C2142"/>
                  </a:solidFill>
                  <a:latin typeface="Nunito Sans" pitchFamily="34" charset="0"/>
                </a:rPr>
                <a:t>hechos con IA.</a:t>
              </a:r>
            </a:p>
          </p:txBody>
        </p:sp>
      </p:grpSp>
      <p:grpSp>
        <p:nvGrpSpPr>
          <p:cNvPr id="31" name="Group 30">
            <a:extLst>
              <a:ext uri="{FF2B5EF4-FFF2-40B4-BE49-F238E27FC236}">
                <a16:creationId xmlns:a16="http://schemas.microsoft.com/office/drawing/2014/main" id="{3B4A2170-58A3-D5AE-72C5-F972C9AE3741}"/>
              </a:ext>
            </a:extLst>
          </p:cNvPr>
          <p:cNvGrpSpPr/>
          <p:nvPr/>
        </p:nvGrpSpPr>
        <p:grpSpPr>
          <a:xfrm>
            <a:off x="8941272" y="3398475"/>
            <a:ext cx="2501900" cy="2097584"/>
            <a:chOff x="8870950" y="2129631"/>
            <a:chExt cx="2501900" cy="2097584"/>
          </a:xfrm>
        </p:grpSpPr>
        <p:sp>
          <p:nvSpPr>
            <p:cNvPr id="13" name="Shape 11"/>
            <p:cNvSpPr/>
            <p:nvPr/>
          </p:nvSpPr>
          <p:spPr>
            <a:xfrm>
              <a:off x="8870950" y="2129631"/>
              <a:ext cx="2501900" cy="2097584"/>
            </a:xfrm>
            <a:prstGeom prst="roundRect">
              <a:avLst>
                <a:gd name="adj" fmla="val 6963"/>
              </a:avLst>
            </a:prstGeom>
            <a:solidFill>
              <a:srgbClr val="FCFBF8"/>
            </a:solidFill>
            <a:ln w="12700">
              <a:solidFill>
                <a:srgbClr val="DDE0EA"/>
              </a:solidFill>
              <a:prstDash val="solid"/>
            </a:ln>
          </p:spPr>
          <p:txBody>
            <a:bodyPr/>
            <a:lstStyle/>
            <a:p>
              <a:endParaRPr lang="es-CO" noProof="0" dirty="0"/>
            </a:p>
          </p:txBody>
        </p:sp>
        <p:sp>
          <p:nvSpPr>
            <p:cNvPr id="14" name="Text 12"/>
            <p:cNvSpPr/>
            <p:nvPr/>
          </p:nvSpPr>
          <p:spPr>
            <a:xfrm>
              <a:off x="9131300" y="2389981"/>
              <a:ext cx="2040636" cy="256480"/>
            </a:xfrm>
            <a:prstGeom prst="rect">
              <a:avLst/>
            </a:prstGeom>
            <a:noFill/>
            <a:ln/>
          </p:spPr>
          <p:txBody>
            <a:bodyPr wrap="square" lIns="0" tIns="0" rIns="0" bIns="0" rtlCol="0" anchor="t">
              <a:normAutofit/>
            </a:bodyPr>
            <a:lstStyle/>
            <a:p>
              <a:pPr marL="0" indent="0" algn="l">
                <a:lnSpc>
                  <a:spcPts val="1820"/>
                </a:lnSpc>
                <a:buNone/>
              </a:pPr>
              <a:endParaRPr lang="es-CO" sz="1300" noProof="0" dirty="0"/>
            </a:p>
          </p:txBody>
        </p:sp>
        <p:sp>
          <p:nvSpPr>
            <p:cNvPr id="15" name="Text 13"/>
            <p:cNvSpPr/>
            <p:nvPr/>
          </p:nvSpPr>
          <p:spPr>
            <a:xfrm>
              <a:off x="9131300" y="2376558"/>
              <a:ext cx="2010918" cy="1584162"/>
            </a:xfrm>
            <a:prstGeom prst="rect">
              <a:avLst/>
            </a:prstGeom>
            <a:noFill/>
            <a:ln/>
          </p:spPr>
          <p:txBody>
            <a:bodyPr wrap="square" lIns="0" tIns="0" rIns="0" bIns="0" rtlCol="0" anchor="t">
              <a:normAutofit/>
            </a:bodyPr>
            <a:lstStyle/>
            <a:p>
              <a:pPr marL="0" indent="0" algn="l">
                <a:lnSpc>
                  <a:spcPts val="1960"/>
                </a:lnSpc>
                <a:buNone/>
              </a:pPr>
              <a:r>
                <a:rPr lang="es-CO" sz="1600" dirty="0">
                  <a:solidFill>
                    <a:srgbClr val="1C2142"/>
                  </a:solidFill>
                  <a:latin typeface="Nunito Sans" pitchFamily="34" charset="0"/>
                </a:rPr>
                <a:t>Al ser </a:t>
              </a:r>
              <a:r>
                <a:rPr lang="es-CO" sz="1600" b="1" dirty="0">
                  <a:solidFill>
                    <a:srgbClr val="1C2142"/>
                  </a:solidFill>
                  <a:latin typeface="Nunito Sans" pitchFamily="34" charset="0"/>
                </a:rPr>
                <a:t>urgente</a:t>
              </a:r>
              <a:r>
                <a:rPr lang="es-CO" sz="1600" dirty="0">
                  <a:solidFill>
                    <a:srgbClr val="1C2142"/>
                  </a:solidFill>
                  <a:latin typeface="Nunito Sans" pitchFamily="34" charset="0"/>
                </a:rPr>
                <a:t> y tener confirmación por </a:t>
              </a:r>
              <a:r>
                <a:rPr lang="es-CO" sz="1600" b="1" dirty="0">
                  <a:solidFill>
                    <a:srgbClr val="1C2142"/>
                  </a:solidFill>
                  <a:latin typeface="Nunito Sans" pitchFamily="34" charset="0"/>
                </a:rPr>
                <a:t>videollamada</a:t>
              </a:r>
              <a:r>
                <a:rPr lang="es-CO" sz="1600" dirty="0">
                  <a:solidFill>
                    <a:srgbClr val="1C2142"/>
                  </a:solidFill>
                  <a:latin typeface="Nunito Sans" pitchFamily="34" charset="0"/>
                </a:rPr>
                <a:t>, el empleado </a:t>
              </a:r>
              <a:r>
                <a:rPr lang="es-CO" sz="1600" b="1" dirty="0">
                  <a:solidFill>
                    <a:srgbClr val="1C2142"/>
                  </a:solidFill>
                  <a:latin typeface="Nunito Sans" pitchFamily="34" charset="0"/>
                </a:rPr>
                <a:t>transfiere</a:t>
              </a:r>
              <a:r>
                <a:rPr lang="es-CO" sz="1600" dirty="0">
                  <a:solidFill>
                    <a:srgbClr val="1C2142"/>
                  </a:solidFill>
                  <a:latin typeface="Nunito Sans" pitchFamily="34" charset="0"/>
                </a:rPr>
                <a:t> alrededor de </a:t>
              </a:r>
              <a:r>
                <a:rPr lang="es-CO" sz="1600" b="1" dirty="0">
                  <a:solidFill>
                    <a:srgbClr val="1C2142"/>
                  </a:solidFill>
                  <a:latin typeface="Nunito Sans" pitchFamily="34" charset="0"/>
                </a:rPr>
                <a:t>25 millones de dólares</a:t>
              </a:r>
              <a:r>
                <a:rPr lang="es-CO" sz="1600" dirty="0">
                  <a:solidFill>
                    <a:srgbClr val="1C2142"/>
                  </a:solidFill>
                  <a:latin typeface="Nunito Sans" pitchFamily="34" charset="0"/>
                </a:rPr>
                <a:t>.</a:t>
              </a:r>
            </a:p>
          </p:txBody>
        </p:sp>
      </p:grpSp>
      <p:pic>
        <p:nvPicPr>
          <p:cNvPr id="17" name="Image 0" descr="Pralogy"/>
          <p:cNvPicPr>
            <a:picLocks noChangeAspect="1"/>
          </p:cNvPicPr>
          <p:nvPr/>
        </p:nvPicPr>
        <p:blipFill>
          <a:blip r:embed="rId3"/>
          <a:srcRect l="-62" r="-62"/>
          <a:stretch/>
        </p:blipFill>
        <p:spPr>
          <a:xfrm>
            <a:off x="812800" y="6273800"/>
            <a:ext cx="1111250" cy="228600"/>
          </a:xfrm>
          <a:prstGeom prst="rect">
            <a:avLst/>
          </a:prstGeom>
        </p:spPr>
      </p:pic>
      <p:sp>
        <p:nvSpPr>
          <p:cNvPr id="18" name="Text 15"/>
          <p:cNvSpPr/>
          <p:nvPr/>
        </p:nvSpPr>
        <p:spPr>
          <a:xfrm>
            <a:off x="11236920" y="6281440"/>
            <a:ext cx="142280"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t>7</a:t>
            </a:r>
          </a:p>
        </p:txBody>
      </p:sp>
      <p:sp>
        <p:nvSpPr>
          <p:cNvPr id="23" name="TextBox 22">
            <a:extLst>
              <a:ext uri="{FF2B5EF4-FFF2-40B4-BE49-F238E27FC236}">
                <a16:creationId xmlns:a16="http://schemas.microsoft.com/office/drawing/2014/main" id="{812239C9-1D05-8982-C1D9-E21E4879EE3E}"/>
              </a:ext>
            </a:extLst>
          </p:cNvPr>
          <p:cNvSpPr txBox="1"/>
          <p:nvPr/>
        </p:nvSpPr>
        <p:spPr>
          <a:xfrm>
            <a:off x="9656302" y="1045539"/>
            <a:ext cx="1503132" cy="246221"/>
          </a:xfrm>
          <a:prstGeom prst="rect">
            <a:avLst/>
          </a:prstGeom>
          <a:noFill/>
        </p:spPr>
        <p:txBody>
          <a:bodyPr wrap="square">
            <a:spAutoFit/>
          </a:bodyPr>
          <a:lstStyle/>
          <a:p>
            <a:r>
              <a:rPr lang="en-US" sz="1000" dirty="0"/>
              <a:t>https://www.arup.com/</a:t>
            </a:r>
          </a:p>
        </p:txBody>
      </p:sp>
      <p:sp>
        <p:nvSpPr>
          <p:cNvPr id="25" name="TextBox 24">
            <a:extLst>
              <a:ext uri="{FF2B5EF4-FFF2-40B4-BE49-F238E27FC236}">
                <a16:creationId xmlns:a16="http://schemas.microsoft.com/office/drawing/2014/main" id="{CEB87520-40BA-E9AC-B63D-B1CF090FB5E8}"/>
              </a:ext>
            </a:extLst>
          </p:cNvPr>
          <p:cNvSpPr txBox="1"/>
          <p:nvPr/>
        </p:nvSpPr>
        <p:spPr>
          <a:xfrm>
            <a:off x="875538" y="5856660"/>
            <a:ext cx="7244334" cy="246221"/>
          </a:xfrm>
          <a:prstGeom prst="rect">
            <a:avLst/>
          </a:prstGeom>
          <a:noFill/>
        </p:spPr>
        <p:txBody>
          <a:bodyPr wrap="square">
            <a:spAutoFit/>
          </a:bodyPr>
          <a:lstStyle/>
          <a:p>
            <a:r>
              <a:rPr lang="en-US" sz="1000" dirty="0">
                <a:solidFill>
                  <a:schemeClr val="accent5">
                    <a:lumMod val="60000"/>
                    <a:lumOff val="40000"/>
                  </a:schemeClr>
                </a:solidFill>
                <a:hlinkClick r:id="rId4">
                  <a:extLst>
                    <a:ext uri="{A12FA001-AC4F-418D-AE19-62706E023703}">
                      <ahyp:hlinkClr xmlns:ahyp="http://schemas.microsoft.com/office/drawing/2018/hyperlinkcolor" val="tx"/>
                    </a:ext>
                  </a:extLst>
                </a:hlinkClick>
              </a:rPr>
              <a:t>https://westoahu.hawaii.edu/cyber/forensics-weekly-executive-summmaries/arup-deekfake-scam-forensic-analysis/</a:t>
            </a:r>
            <a:endParaRPr lang="en-US" sz="1000" dirty="0">
              <a:solidFill>
                <a:schemeClr val="accent5">
                  <a:lumMod val="60000"/>
                  <a:lumOff val="40000"/>
                </a:schemeClr>
              </a:solidFill>
            </a:endParaRPr>
          </a:p>
        </p:txBody>
      </p:sp>
      <p:pic>
        <p:nvPicPr>
          <p:cNvPr id="27" name="Picture 26">
            <a:extLst>
              <a:ext uri="{FF2B5EF4-FFF2-40B4-BE49-F238E27FC236}">
                <a16:creationId xmlns:a16="http://schemas.microsoft.com/office/drawing/2014/main" id="{CD3762F9-87D5-2D1C-FE6A-DF04043B7944}"/>
              </a:ext>
            </a:extLst>
          </p:cNvPr>
          <p:cNvPicPr>
            <a:picLocks noChangeAspect="1"/>
          </p:cNvPicPr>
          <p:nvPr/>
        </p:nvPicPr>
        <p:blipFill>
          <a:blip r:embed="rId5"/>
          <a:srcRect t="28390" b="27263"/>
          <a:stretch>
            <a:fillRect/>
          </a:stretch>
        </p:blipFill>
        <p:spPr>
          <a:xfrm>
            <a:off x="9201622" y="304617"/>
            <a:ext cx="2412492" cy="855899"/>
          </a:xfrm>
          <a:prstGeom prst="rect">
            <a:avLst/>
          </a:prstGeom>
        </p:spPr>
      </p:pic>
      <p:sp>
        <p:nvSpPr>
          <p:cNvPr id="32" name="Rectangle 31">
            <a:extLst>
              <a:ext uri="{FF2B5EF4-FFF2-40B4-BE49-F238E27FC236}">
                <a16:creationId xmlns:a16="http://schemas.microsoft.com/office/drawing/2014/main" id="{DCBA9F19-5F09-7AAB-6F88-E40A8E61F52A}"/>
              </a:ext>
            </a:extLst>
          </p:cNvPr>
          <p:cNvSpPr/>
          <p:nvPr/>
        </p:nvSpPr>
        <p:spPr>
          <a:xfrm>
            <a:off x="729932" y="4228294"/>
            <a:ext cx="771365"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1.</a:t>
            </a:r>
          </a:p>
        </p:txBody>
      </p:sp>
      <p:sp>
        <p:nvSpPr>
          <p:cNvPr id="34" name="Rectangle 33">
            <a:extLst>
              <a:ext uri="{FF2B5EF4-FFF2-40B4-BE49-F238E27FC236}">
                <a16:creationId xmlns:a16="http://schemas.microsoft.com/office/drawing/2014/main" id="{73894C1B-46E7-8967-27C0-2F37E9F959C1}"/>
              </a:ext>
            </a:extLst>
          </p:cNvPr>
          <p:cNvSpPr/>
          <p:nvPr/>
        </p:nvSpPr>
        <p:spPr>
          <a:xfrm>
            <a:off x="3626741" y="4547771"/>
            <a:ext cx="771365" cy="923330"/>
          </a:xfrm>
          <a:prstGeom prst="rect">
            <a:avLst/>
          </a:prstGeom>
          <a:noFill/>
        </p:spPr>
        <p:txBody>
          <a:bodyPr wrap="none" lIns="91440" tIns="45720" rIns="91440" bIns="45720">
            <a:spAutoFit/>
          </a:bodyPr>
          <a:lstStyle/>
          <a:p>
            <a:pPr algn="ct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2</a:t>
            </a: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a:t>
            </a:r>
          </a:p>
        </p:txBody>
      </p:sp>
      <p:sp>
        <p:nvSpPr>
          <p:cNvPr id="36" name="Rectangle 35">
            <a:extLst>
              <a:ext uri="{FF2B5EF4-FFF2-40B4-BE49-F238E27FC236}">
                <a16:creationId xmlns:a16="http://schemas.microsoft.com/office/drawing/2014/main" id="{71CEC38E-B972-00C9-32DD-E615998AE98C}"/>
              </a:ext>
            </a:extLst>
          </p:cNvPr>
          <p:cNvSpPr/>
          <p:nvPr/>
        </p:nvSpPr>
        <p:spPr>
          <a:xfrm>
            <a:off x="6322723" y="4744284"/>
            <a:ext cx="771365"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3.</a:t>
            </a:r>
          </a:p>
        </p:txBody>
      </p:sp>
      <p:sp>
        <p:nvSpPr>
          <p:cNvPr id="38" name="Rectangle 37">
            <a:extLst>
              <a:ext uri="{FF2B5EF4-FFF2-40B4-BE49-F238E27FC236}">
                <a16:creationId xmlns:a16="http://schemas.microsoft.com/office/drawing/2014/main" id="{3F23E8C2-E41A-F0E5-8E2B-1DAE4C6DB019}"/>
              </a:ext>
            </a:extLst>
          </p:cNvPr>
          <p:cNvSpPr/>
          <p:nvPr/>
        </p:nvSpPr>
        <p:spPr>
          <a:xfrm>
            <a:off x="8960630" y="5129285"/>
            <a:ext cx="771365"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4.</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bg>
      <p:bgPr>
        <a:solidFill>
          <a:srgbClr val="E9ECF4"/>
        </a:solidFill>
        <a:effectLst/>
      </p:bgPr>
    </p:bg>
    <p:spTree>
      <p:nvGrpSpPr>
        <p:cNvPr id="1" name=""/>
        <p:cNvGrpSpPr/>
        <p:nvPr/>
      </p:nvGrpSpPr>
      <p:grpSpPr>
        <a:xfrm>
          <a:off x="0" y="0"/>
          <a:ext cx="0" cy="0"/>
          <a:chOff x="0" y="0"/>
          <a:chExt cx="0" cy="0"/>
        </a:xfrm>
      </p:grpSpPr>
      <p:pic>
        <p:nvPicPr>
          <p:cNvPr id="10" name="Image 1" descr="Pralogy"/>
          <p:cNvPicPr>
            <a:picLocks noChangeAspect="1"/>
          </p:cNvPicPr>
          <p:nvPr/>
        </p:nvPicPr>
        <p:blipFill>
          <a:blip r:embed="rId5"/>
          <a:srcRect l="-62" r="-62"/>
          <a:stretch/>
        </p:blipFill>
        <p:spPr>
          <a:xfrm>
            <a:off x="812800" y="6273800"/>
            <a:ext cx="1111250" cy="228600"/>
          </a:xfrm>
          <a:prstGeom prst="rect">
            <a:avLst/>
          </a:prstGeom>
        </p:spPr>
      </p:pic>
      <p:sp>
        <p:nvSpPr>
          <p:cNvPr id="11" name="Text 7"/>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8</a:t>
            </a:r>
            <a:endParaRPr lang="es-CO" sz="1200" noProof="0" dirty="0"/>
          </a:p>
        </p:txBody>
      </p:sp>
      <p:pic>
        <p:nvPicPr>
          <p:cNvPr id="16" name="deepfake example">
            <a:hlinkClick r:id="" action="ppaction://media"/>
            <a:extLst>
              <a:ext uri="{FF2B5EF4-FFF2-40B4-BE49-F238E27FC236}">
                <a16:creationId xmlns:a16="http://schemas.microsoft.com/office/drawing/2014/main" id="{F2FA7142-23B9-9624-ED0F-6208125A734A}"/>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0" y="9525"/>
            <a:ext cx="12192000" cy="68389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1625"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6"/>
                </p:tgtEl>
              </p:cMediaNode>
            </p:video>
            <p:seq concurrent="1" nextAc="seek">
              <p:cTn id="8" restart="whenNotActive" fill="hold" evtFilter="cancelBubble" nodeType="interactiveSeq">
                <p:stCondLst>
                  <p:cond evt="onClick" delay="0">
                    <p:tgtEl>
                      <p:spTgt spid="1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6"/>
                                        </p:tgtEl>
                                      </p:cBhvr>
                                    </p:cmd>
                                  </p:childTnLst>
                                </p:cTn>
                              </p:par>
                            </p:childTnLst>
                          </p:cTn>
                        </p:par>
                      </p:childTnLst>
                    </p:cTn>
                  </p:par>
                </p:childTnLst>
              </p:cTn>
              <p:nextCondLst>
                <p:cond evt="onClick" delay="0">
                  <p:tgtEl>
                    <p:spTgt spid="16"/>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9ECF4"/>
        </a:solidFill>
        <a:effectLst/>
      </p:bgPr>
    </p:bg>
    <p:spTree>
      <p:nvGrpSpPr>
        <p:cNvPr id="1" name="">
          <a:extLst>
            <a:ext uri="{FF2B5EF4-FFF2-40B4-BE49-F238E27FC236}">
              <a16:creationId xmlns:a16="http://schemas.microsoft.com/office/drawing/2014/main" id="{1AC77A0C-6E56-3A92-DB32-0BB483F3964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2C1FEA5-FF3E-D61F-E6F8-B275105EE9F4}"/>
              </a:ext>
            </a:extLst>
          </p:cNvPr>
          <p:cNvSpPr/>
          <p:nvPr/>
        </p:nvSpPr>
        <p:spPr>
          <a:xfrm>
            <a:off x="812800" y="652184"/>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BLOQUE 1 · LA URGENCIA COMO ARMA</a:t>
            </a:r>
            <a:endParaRPr lang="es-CO" sz="1400" noProof="0" dirty="0"/>
          </a:p>
        </p:txBody>
      </p:sp>
      <p:sp>
        <p:nvSpPr>
          <p:cNvPr id="3" name="Text 1">
            <a:extLst>
              <a:ext uri="{FF2B5EF4-FFF2-40B4-BE49-F238E27FC236}">
                <a16:creationId xmlns:a16="http://schemas.microsoft.com/office/drawing/2014/main" id="{5E61F51D-B91B-8CC8-E9DE-73CE02DEE3A7}"/>
              </a:ext>
            </a:extLst>
          </p:cNvPr>
          <p:cNvSpPr>
            <a:spLocks noGrp="1"/>
          </p:cNvSpPr>
          <p:nvPr>
            <p:ph type="title"/>
          </p:nvPr>
        </p:nvSpPr>
        <p:spPr>
          <a:xfrm>
            <a:off x="812800" y="1180425"/>
            <a:ext cx="10883392" cy="528241"/>
          </a:xfrm>
          <a:prstGeom prst="rect">
            <a:avLst/>
          </a:prstGeom>
          <a:noFill/>
          <a:ln/>
        </p:spPr>
        <p:txBody>
          <a:bodyPr wrap="square" lIns="0" tIns="0" rIns="0" bIns="0" rtlCol="0" anchor="t">
            <a:normAutofit/>
          </a:bodyPr>
          <a:lstStyle/>
          <a:p>
            <a:pPr marL="0" indent="0" algn="l">
              <a:lnSpc>
                <a:spcPts val="3960"/>
              </a:lnSpc>
              <a:buNone/>
            </a:pPr>
            <a:r>
              <a:rPr lang="es-CO" dirty="0">
                <a:latin typeface="Fraunces" pitchFamily="18" charset="0"/>
              </a:rPr>
              <a:t>Confía en mí, me conoces.</a:t>
            </a:r>
            <a:endParaRPr lang="es-CO" sz="3600" noProof="0" dirty="0"/>
          </a:p>
        </p:txBody>
      </p:sp>
      <p:pic>
        <p:nvPicPr>
          <p:cNvPr id="10" name="Image 1" descr="Pralogy">
            <a:extLst>
              <a:ext uri="{FF2B5EF4-FFF2-40B4-BE49-F238E27FC236}">
                <a16:creationId xmlns:a16="http://schemas.microsoft.com/office/drawing/2014/main" id="{96CE8DA4-661A-CA93-EF67-4CEB17A6BF29}"/>
              </a:ext>
            </a:extLst>
          </p:cNvPr>
          <p:cNvPicPr>
            <a:picLocks noChangeAspect="1"/>
          </p:cNvPicPr>
          <p:nvPr/>
        </p:nvPicPr>
        <p:blipFill>
          <a:blip r:embed="rId3"/>
          <a:srcRect l="-62" r="-62"/>
          <a:stretch/>
        </p:blipFill>
        <p:spPr>
          <a:xfrm>
            <a:off x="812800" y="6273800"/>
            <a:ext cx="1111250" cy="228600"/>
          </a:xfrm>
          <a:prstGeom prst="rect">
            <a:avLst/>
          </a:prstGeom>
        </p:spPr>
      </p:pic>
      <p:sp>
        <p:nvSpPr>
          <p:cNvPr id="11" name="Text 7">
            <a:extLst>
              <a:ext uri="{FF2B5EF4-FFF2-40B4-BE49-F238E27FC236}">
                <a16:creationId xmlns:a16="http://schemas.microsoft.com/office/drawing/2014/main" id="{CE93B04B-7710-AA20-7E3B-148CEF66BED4}"/>
              </a:ext>
            </a:extLst>
          </p:cNvPr>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9</a:t>
            </a:r>
            <a:endParaRPr lang="es-CO" sz="1200" noProof="0" dirty="0"/>
          </a:p>
        </p:txBody>
      </p:sp>
      <p:grpSp>
        <p:nvGrpSpPr>
          <p:cNvPr id="49" name="Group 48">
            <a:extLst>
              <a:ext uri="{FF2B5EF4-FFF2-40B4-BE49-F238E27FC236}">
                <a16:creationId xmlns:a16="http://schemas.microsoft.com/office/drawing/2014/main" id="{3DD92F5E-8FA2-0947-A83B-4A4DAD25248C}"/>
              </a:ext>
            </a:extLst>
          </p:cNvPr>
          <p:cNvGrpSpPr/>
          <p:nvPr/>
        </p:nvGrpSpPr>
        <p:grpSpPr>
          <a:xfrm>
            <a:off x="1642649" y="2003919"/>
            <a:ext cx="2810545" cy="1691535"/>
            <a:chOff x="945027" y="2121182"/>
            <a:chExt cx="2810545" cy="1691535"/>
          </a:xfrm>
        </p:grpSpPr>
        <p:pic>
          <p:nvPicPr>
            <p:cNvPr id="15" name="Picture 14">
              <a:extLst>
                <a:ext uri="{FF2B5EF4-FFF2-40B4-BE49-F238E27FC236}">
                  <a16:creationId xmlns:a16="http://schemas.microsoft.com/office/drawing/2014/main" id="{29B2614E-9DA1-FC5C-C936-B19E4834B3A7}"/>
                </a:ext>
              </a:extLst>
            </p:cNvPr>
            <p:cNvPicPr>
              <a:picLocks noChangeAspect="1"/>
            </p:cNvPicPr>
            <p:nvPr/>
          </p:nvPicPr>
          <p:blipFill>
            <a:blip r:embed="rId4"/>
            <a:stretch>
              <a:fillRect/>
            </a:stretch>
          </p:blipFill>
          <p:spPr>
            <a:xfrm>
              <a:off x="945027" y="2121182"/>
              <a:ext cx="1111250" cy="1111250"/>
            </a:xfrm>
            <a:prstGeom prst="rect">
              <a:avLst/>
            </a:prstGeom>
          </p:spPr>
        </p:pic>
        <p:cxnSp>
          <p:nvCxnSpPr>
            <p:cNvPr id="17" name="Straight Connector 16">
              <a:extLst>
                <a:ext uri="{FF2B5EF4-FFF2-40B4-BE49-F238E27FC236}">
                  <a16:creationId xmlns:a16="http://schemas.microsoft.com/office/drawing/2014/main" id="{358AC1DB-29E1-949E-C956-161FCA1397D7}"/>
                </a:ext>
              </a:extLst>
            </p:cNvPr>
            <p:cNvCxnSpPr>
              <a:cxnSpLocks/>
            </p:cNvCxnSpPr>
            <p:nvPr/>
          </p:nvCxnSpPr>
          <p:spPr>
            <a:xfrm flipV="1">
              <a:off x="2087154" y="2535355"/>
              <a:ext cx="492880" cy="894811"/>
            </a:xfrm>
            <a:prstGeom prst="line">
              <a:avLst/>
            </a:prstGeom>
            <a:ln w="38100"/>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id="{AABB949C-8286-51D7-696D-72413FDE8EF5}"/>
                </a:ext>
              </a:extLst>
            </p:cNvPr>
            <p:cNvPicPr>
              <a:picLocks noChangeAspect="1"/>
            </p:cNvPicPr>
            <p:nvPr/>
          </p:nvPicPr>
          <p:blipFill>
            <a:blip r:embed="rId5"/>
            <a:srcRect b="7916"/>
            <a:stretch>
              <a:fillRect/>
            </a:stretch>
          </p:blipFill>
          <p:spPr>
            <a:xfrm>
              <a:off x="2465319" y="2533205"/>
              <a:ext cx="1290253" cy="1279512"/>
            </a:xfrm>
            <a:prstGeom prst="rect">
              <a:avLst/>
            </a:prstGeom>
          </p:spPr>
        </p:pic>
      </p:grpSp>
      <p:grpSp>
        <p:nvGrpSpPr>
          <p:cNvPr id="51" name="Group 50">
            <a:extLst>
              <a:ext uri="{FF2B5EF4-FFF2-40B4-BE49-F238E27FC236}">
                <a16:creationId xmlns:a16="http://schemas.microsoft.com/office/drawing/2014/main" id="{26419563-8240-B5B7-AFEC-E3B24B60BD01}"/>
              </a:ext>
            </a:extLst>
          </p:cNvPr>
          <p:cNvGrpSpPr/>
          <p:nvPr/>
        </p:nvGrpSpPr>
        <p:grpSpPr>
          <a:xfrm>
            <a:off x="7567363" y="4318949"/>
            <a:ext cx="3713290" cy="1043501"/>
            <a:chOff x="416837" y="4468844"/>
            <a:chExt cx="3713290" cy="1043501"/>
          </a:xfrm>
        </p:grpSpPr>
        <p:sp>
          <p:nvSpPr>
            <p:cNvPr id="38" name="Shape 4">
              <a:extLst>
                <a:ext uri="{FF2B5EF4-FFF2-40B4-BE49-F238E27FC236}">
                  <a16:creationId xmlns:a16="http://schemas.microsoft.com/office/drawing/2014/main" id="{EA12E7D1-7E7C-8526-97F8-FE23B9E2AE52}"/>
                </a:ext>
              </a:extLst>
            </p:cNvPr>
            <p:cNvSpPr/>
            <p:nvPr/>
          </p:nvSpPr>
          <p:spPr>
            <a:xfrm>
              <a:off x="416837" y="4614209"/>
              <a:ext cx="3642939" cy="898136"/>
            </a:xfrm>
            <a:prstGeom prst="roundRect">
              <a:avLst>
                <a:gd name="adj" fmla="val 6972"/>
              </a:avLst>
            </a:prstGeom>
            <a:solidFill>
              <a:srgbClr val="FCFBF8"/>
            </a:solidFill>
            <a:ln/>
          </p:spPr>
          <p:txBody>
            <a:bodyPr/>
            <a:lstStyle/>
            <a:p>
              <a:endParaRPr lang="es-CO" noProof="0" dirty="0"/>
            </a:p>
          </p:txBody>
        </p:sp>
        <p:sp>
          <p:nvSpPr>
            <p:cNvPr id="40" name="Text 2">
              <a:extLst>
                <a:ext uri="{FF2B5EF4-FFF2-40B4-BE49-F238E27FC236}">
                  <a16:creationId xmlns:a16="http://schemas.microsoft.com/office/drawing/2014/main" id="{D8EAE1D3-7466-D974-B275-843E3C7D1092}"/>
                </a:ext>
              </a:extLst>
            </p:cNvPr>
            <p:cNvSpPr/>
            <p:nvPr/>
          </p:nvSpPr>
          <p:spPr>
            <a:xfrm>
              <a:off x="598042" y="4759338"/>
              <a:ext cx="3324573" cy="734719"/>
            </a:xfrm>
            <a:prstGeom prst="rect">
              <a:avLst/>
            </a:prstGeom>
            <a:noFill/>
            <a:ln/>
          </p:spPr>
          <p:txBody>
            <a:bodyPr wrap="square" lIns="0" tIns="0" rIns="0" bIns="0" rtlCol="0" anchor="t">
              <a:normAutofit/>
            </a:bodyPr>
            <a:lstStyle/>
            <a:p>
              <a:pPr marL="0" indent="0" algn="l">
                <a:lnSpc>
                  <a:spcPts val="2465"/>
                </a:lnSpc>
                <a:buNone/>
              </a:pPr>
              <a:r>
                <a:rPr lang="es-CO" dirty="0">
                  <a:solidFill>
                    <a:srgbClr val="1C2142"/>
                  </a:solidFill>
                  <a:latin typeface="Nunito Sans" pitchFamily="34" charset="0"/>
                </a:rPr>
                <a:t>El atacante no supo qué responder y </a:t>
              </a:r>
              <a:r>
                <a:rPr lang="es-CO" b="1" dirty="0">
                  <a:solidFill>
                    <a:srgbClr val="1C2142"/>
                  </a:solidFill>
                  <a:latin typeface="Nunito Sans" pitchFamily="34" charset="0"/>
                </a:rPr>
                <a:t>colgó</a:t>
              </a:r>
              <a:r>
                <a:rPr lang="es-CO" dirty="0">
                  <a:solidFill>
                    <a:srgbClr val="1C2142"/>
                  </a:solidFill>
                  <a:latin typeface="Nunito Sans" pitchFamily="34" charset="0"/>
                </a:rPr>
                <a:t> la llamada.</a:t>
              </a:r>
            </a:p>
          </p:txBody>
        </p:sp>
        <p:pic>
          <p:nvPicPr>
            <p:cNvPr id="41" name="Picture 40" descr="Hang up - Free interface icons">
              <a:extLst>
                <a:ext uri="{FF2B5EF4-FFF2-40B4-BE49-F238E27FC236}">
                  <a16:creationId xmlns:a16="http://schemas.microsoft.com/office/drawing/2014/main" id="{11AEEA78-2FC4-54EE-D2FF-C1502C4D0DCD}"/>
                </a:ext>
              </a:extLst>
            </p:cNvPr>
            <p:cNvPicPr>
              <a:picLocks noChangeAspect="1"/>
            </p:cNvPicPr>
            <p:nvPr/>
          </p:nvPicPr>
          <p:blipFill>
            <a:blip r:embed="rId6"/>
            <a:stretch>
              <a:fillRect/>
            </a:stretch>
          </p:blipFill>
          <p:spPr>
            <a:xfrm>
              <a:off x="3592301" y="4468844"/>
              <a:ext cx="537826" cy="571517"/>
            </a:xfrm>
            <a:prstGeom prst="rect">
              <a:avLst/>
            </a:prstGeom>
          </p:spPr>
        </p:pic>
      </p:grpSp>
      <p:grpSp>
        <p:nvGrpSpPr>
          <p:cNvPr id="50" name="Group 49">
            <a:extLst>
              <a:ext uri="{FF2B5EF4-FFF2-40B4-BE49-F238E27FC236}">
                <a16:creationId xmlns:a16="http://schemas.microsoft.com/office/drawing/2014/main" id="{947EA1DE-9F3D-6A1F-ADC1-C7FDEEA97E7F}"/>
              </a:ext>
            </a:extLst>
          </p:cNvPr>
          <p:cNvGrpSpPr/>
          <p:nvPr/>
        </p:nvGrpSpPr>
        <p:grpSpPr>
          <a:xfrm>
            <a:off x="812800" y="4024518"/>
            <a:ext cx="6268396" cy="1920218"/>
            <a:chOff x="5535168" y="3423612"/>
            <a:chExt cx="6268396" cy="1920218"/>
          </a:xfrm>
        </p:grpSpPr>
        <p:sp>
          <p:nvSpPr>
            <p:cNvPr id="29" name="Shape 4">
              <a:extLst>
                <a:ext uri="{FF2B5EF4-FFF2-40B4-BE49-F238E27FC236}">
                  <a16:creationId xmlns:a16="http://schemas.microsoft.com/office/drawing/2014/main" id="{C3A85E29-9DE8-CE6B-DD24-84D1E3A753F3}"/>
                </a:ext>
              </a:extLst>
            </p:cNvPr>
            <p:cNvSpPr/>
            <p:nvPr/>
          </p:nvSpPr>
          <p:spPr>
            <a:xfrm>
              <a:off x="5535168" y="3423612"/>
              <a:ext cx="5589867" cy="1920218"/>
            </a:xfrm>
            <a:prstGeom prst="roundRect">
              <a:avLst>
                <a:gd name="adj" fmla="val 6972"/>
              </a:avLst>
            </a:prstGeom>
            <a:solidFill>
              <a:srgbClr val="FCFBF8"/>
            </a:solidFill>
            <a:ln/>
          </p:spPr>
          <p:txBody>
            <a:bodyPr/>
            <a:lstStyle/>
            <a:p>
              <a:endParaRPr lang="es-CO" noProof="0" dirty="0"/>
            </a:p>
          </p:txBody>
        </p:sp>
        <p:sp>
          <p:nvSpPr>
            <p:cNvPr id="36" name="Text 2">
              <a:extLst>
                <a:ext uri="{FF2B5EF4-FFF2-40B4-BE49-F238E27FC236}">
                  <a16:creationId xmlns:a16="http://schemas.microsoft.com/office/drawing/2014/main" id="{8AEB1585-B324-6603-0FEE-493BE6CB4BDB}"/>
                </a:ext>
              </a:extLst>
            </p:cNvPr>
            <p:cNvSpPr/>
            <p:nvPr/>
          </p:nvSpPr>
          <p:spPr>
            <a:xfrm>
              <a:off x="5812485" y="3765735"/>
              <a:ext cx="4624089" cy="1277541"/>
            </a:xfrm>
            <a:prstGeom prst="rect">
              <a:avLst/>
            </a:prstGeom>
            <a:noFill/>
            <a:ln/>
          </p:spPr>
          <p:txBody>
            <a:bodyPr wrap="square" lIns="0" tIns="0" rIns="0" bIns="0" rtlCol="0" anchor="t">
              <a:normAutofit/>
            </a:bodyPr>
            <a:lstStyle/>
            <a:p>
              <a:pPr marL="0" indent="0" algn="l">
                <a:lnSpc>
                  <a:spcPts val="2465"/>
                </a:lnSpc>
                <a:buNone/>
              </a:pPr>
              <a:r>
                <a:rPr lang="es-CO" dirty="0">
                  <a:solidFill>
                    <a:srgbClr val="1C2142"/>
                  </a:solidFill>
                  <a:latin typeface="Nunito Sans" pitchFamily="34" charset="0"/>
                </a:rPr>
                <a:t>El ejecutivo </a:t>
              </a:r>
              <a:r>
                <a:rPr lang="es-CO" b="1" dirty="0">
                  <a:solidFill>
                    <a:srgbClr val="1C2142"/>
                  </a:solidFill>
                  <a:latin typeface="Nunito Sans" pitchFamily="34" charset="0"/>
                </a:rPr>
                <a:t>sospechó</a:t>
              </a:r>
              <a:r>
                <a:rPr lang="es-CO" dirty="0">
                  <a:solidFill>
                    <a:srgbClr val="1C2142"/>
                  </a:solidFill>
                  <a:latin typeface="Nunito Sans" pitchFamily="34" charset="0"/>
                </a:rPr>
                <a:t> de la llamada y de la petición inusual del “</a:t>
              </a:r>
              <a:r>
                <a:rPr lang="es-CO" b="1" dirty="0">
                  <a:solidFill>
                    <a:srgbClr val="1C2142"/>
                  </a:solidFill>
                  <a:latin typeface="Nunito Sans" pitchFamily="34" charset="0"/>
                </a:rPr>
                <a:t>CEO</a:t>
              </a:r>
              <a:r>
                <a:rPr lang="es-CO" dirty="0">
                  <a:solidFill>
                    <a:srgbClr val="1C2142"/>
                  </a:solidFill>
                  <a:latin typeface="Nunito Sans" pitchFamily="34" charset="0"/>
                </a:rPr>
                <a:t>”, lo que lo llevó a preguntarle por el </a:t>
              </a:r>
              <a:r>
                <a:rPr lang="es-CO" b="1" dirty="0">
                  <a:solidFill>
                    <a:srgbClr val="1C2142"/>
                  </a:solidFill>
                  <a:latin typeface="Nunito Sans" pitchFamily="34" charset="0"/>
                </a:rPr>
                <a:t>libro</a:t>
              </a:r>
              <a:r>
                <a:rPr lang="es-CO" dirty="0">
                  <a:solidFill>
                    <a:srgbClr val="1C2142"/>
                  </a:solidFill>
                  <a:latin typeface="Nunito Sans" pitchFamily="34" charset="0"/>
                </a:rPr>
                <a:t> que hace poco le había recomendado </a:t>
              </a:r>
              <a:r>
                <a:rPr lang="es-CO" b="1" dirty="0">
                  <a:solidFill>
                    <a:srgbClr val="1C2142"/>
                  </a:solidFill>
                  <a:latin typeface="Nunito Sans" pitchFamily="34" charset="0"/>
                </a:rPr>
                <a:t>personalmente</a:t>
              </a:r>
              <a:r>
                <a:rPr lang="es-CO" dirty="0">
                  <a:solidFill>
                    <a:srgbClr val="1C2142"/>
                  </a:solidFill>
                  <a:latin typeface="Nunito Sans" pitchFamily="34" charset="0"/>
                </a:rPr>
                <a:t>.</a:t>
              </a:r>
            </a:p>
          </p:txBody>
        </p:sp>
        <p:pic>
          <p:nvPicPr>
            <p:cNvPr id="44" name="Picture 43">
              <a:extLst>
                <a:ext uri="{FF2B5EF4-FFF2-40B4-BE49-F238E27FC236}">
                  <a16:creationId xmlns:a16="http://schemas.microsoft.com/office/drawing/2014/main" id="{F7C02683-1E0B-4D8B-3623-B131735AFB0E}"/>
                </a:ext>
              </a:extLst>
            </p:cNvPr>
            <p:cNvPicPr>
              <a:picLocks noChangeAspect="1"/>
            </p:cNvPicPr>
            <p:nvPr/>
          </p:nvPicPr>
          <p:blipFill>
            <a:blip r:embed="rId7"/>
            <a:stretch>
              <a:fillRect/>
            </a:stretch>
          </p:blipFill>
          <p:spPr>
            <a:xfrm>
              <a:off x="10526023" y="3812717"/>
              <a:ext cx="1277541" cy="1277541"/>
            </a:xfrm>
            <a:prstGeom prst="rect">
              <a:avLst/>
            </a:prstGeom>
          </p:spPr>
        </p:pic>
      </p:grpSp>
      <p:grpSp>
        <p:nvGrpSpPr>
          <p:cNvPr id="48" name="Group 47">
            <a:extLst>
              <a:ext uri="{FF2B5EF4-FFF2-40B4-BE49-F238E27FC236}">
                <a16:creationId xmlns:a16="http://schemas.microsoft.com/office/drawing/2014/main" id="{32F1F9CC-297E-7D7E-8D54-0FB852B972FE}"/>
              </a:ext>
            </a:extLst>
          </p:cNvPr>
          <p:cNvGrpSpPr/>
          <p:nvPr/>
        </p:nvGrpSpPr>
        <p:grpSpPr>
          <a:xfrm>
            <a:off x="5317733" y="1858067"/>
            <a:ext cx="6155949" cy="2023579"/>
            <a:chOff x="5942161" y="896001"/>
            <a:chExt cx="6155949" cy="2023579"/>
          </a:xfrm>
        </p:grpSpPr>
        <p:grpSp>
          <p:nvGrpSpPr>
            <p:cNvPr id="27" name="Group 26">
              <a:extLst>
                <a:ext uri="{FF2B5EF4-FFF2-40B4-BE49-F238E27FC236}">
                  <a16:creationId xmlns:a16="http://schemas.microsoft.com/office/drawing/2014/main" id="{F95DCA90-5A95-5BB2-831D-D132B5F562DA}"/>
                </a:ext>
              </a:extLst>
            </p:cNvPr>
            <p:cNvGrpSpPr/>
            <p:nvPr/>
          </p:nvGrpSpPr>
          <p:grpSpPr>
            <a:xfrm>
              <a:off x="5942161" y="896001"/>
              <a:ext cx="5991079" cy="2023579"/>
              <a:chOff x="6162040" y="2785739"/>
              <a:chExt cx="5991079" cy="2023579"/>
            </a:xfrm>
          </p:grpSpPr>
          <p:sp>
            <p:nvSpPr>
              <p:cNvPr id="6" name="Shape 4">
                <a:extLst>
                  <a:ext uri="{FF2B5EF4-FFF2-40B4-BE49-F238E27FC236}">
                    <a16:creationId xmlns:a16="http://schemas.microsoft.com/office/drawing/2014/main" id="{493858E8-E889-1CB4-3868-0468156B511E}"/>
                  </a:ext>
                </a:extLst>
              </p:cNvPr>
              <p:cNvSpPr/>
              <p:nvPr/>
            </p:nvSpPr>
            <p:spPr>
              <a:xfrm>
                <a:off x="6162040" y="2785739"/>
                <a:ext cx="5844032" cy="2023579"/>
              </a:xfrm>
              <a:prstGeom prst="roundRect">
                <a:avLst>
                  <a:gd name="adj" fmla="val 6972"/>
                </a:avLst>
              </a:prstGeom>
              <a:solidFill>
                <a:srgbClr val="FCFBF8"/>
              </a:solidFill>
              <a:ln/>
            </p:spPr>
            <p:txBody>
              <a:bodyPr/>
              <a:lstStyle/>
              <a:p>
                <a:endParaRPr lang="es-CO" noProof="0" dirty="0"/>
              </a:p>
            </p:txBody>
          </p:sp>
          <p:sp>
            <p:nvSpPr>
              <p:cNvPr id="4" name="Text 2">
                <a:extLst>
                  <a:ext uri="{FF2B5EF4-FFF2-40B4-BE49-F238E27FC236}">
                    <a16:creationId xmlns:a16="http://schemas.microsoft.com/office/drawing/2014/main" id="{81968C44-6E76-5753-832E-BFD0F9DB449F}"/>
                  </a:ext>
                </a:extLst>
              </p:cNvPr>
              <p:cNvSpPr/>
              <p:nvPr/>
            </p:nvSpPr>
            <p:spPr>
              <a:xfrm>
                <a:off x="6446012" y="3328388"/>
                <a:ext cx="4270756" cy="1277541"/>
              </a:xfrm>
              <a:prstGeom prst="rect">
                <a:avLst/>
              </a:prstGeom>
              <a:noFill/>
              <a:ln/>
            </p:spPr>
            <p:txBody>
              <a:bodyPr wrap="square" lIns="0" tIns="0" rIns="0" bIns="0" rtlCol="0" anchor="t">
                <a:normAutofit fontScale="85000" lnSpcReduction="10000"/>
              </a:bodyPr>
              <a:lstStyle/>
              <a:p>
                <a:pPr marL="0" indent="0" algn="l">
                  <a:lnSpc>
                    <a:spcPts val="2465"/>
                  </a:lnSpc>
                  <a:buNone/>
                </a:pPr>
                <a:r>
                  <a:rPr lang="es-CO" sz="2000" dirty="0">
                    <a:solidFill>
                      <a:srgbClr val="1C2142"/>
                    </a:solidFill>
                    <a:latin typeface="Nunito Sans" pitchFamily="34" charset="0"/>
                  </a:rPr>
                  <a:t>Un ejecutivo de </a:t>
                </a:r>
                <a:r>
                  <a:rPr lang="es-CO" sz="2000" b="1" dirty="0">
                    <a:solidFill>
                      <a:srgbClr val="1C2142"/>
                    </a:solidFill>
                    <a:latin typeface="Nunito Sans" pitchFamily="34" charset="0"/>
                  </a:rPr>
                  <a:t>Ferrari</a:t>
                </a:r>
                <a:r>
                  <a:rPr lang="es-CO" sz="2000" dirty="0">
                    <a:solidFill>
                      <a:srgbClr val="1C2142"/>
                    </a:solidFill>
                    <a:latin typeface="Nunito Sans" pitchFamily="34" charset="0"/>
                  </a:rPr>
                  <a:t> mensajea y luego recibe una llamada del </a:t>
                </a:r>
                <a:r>
                  <a:rPr lang="es-CO" sz="2000" b="1" dirty="0">
                    <a:solidFill>
                      <a:srgbClr val="1C2142"/>
                    </a:solidFill>
                    <a:latin typeface="Nunito Sans" pitchFamily="34" charset="0"/>
                  </a:rPr>
                  <a:t>“CEO” </a:t>
                </a:r>
                <a:r>
                  <a:rPr lang="es-CO" sz="2000" dirty="0">
                    <a:solidFill>
                      <a:srgbClr val="1C2142"/>
                    </a:solidFill>
                    <a:latin typeface="Nunito Sans" pitchFamily="34" charset="0"/>
                  </a:rPr>
                  <a:t>con el acento perfecto. Le pide apoyo </a:t>
                </a:r>
                <a:r>
                  <a:rPr lang="es-CO" sz="2000" b="1" dirty="0">
                    <a:solidFill>
                      <a:srgbClr val="1C2142"/>
                    </a:solidFill>
                    <a:latin typeface="Nunito Sans" pitchFamily="34" charset="0"/>
                  </a:rPr>
                  <a:t>urgente</a:t>
                </a:r>
                <a:r>
                  <a:rPr lang="es-CO" sz="2000" dirty="0">
                    <a:solidFill>
                      <a:srgbClr val="1C2142"/>
                    </a:solidFill>
                    <a:latin typeface="Nunito Sans" pitchFamily="34" charset="0"/>
                  </a:rPr>
                  <a:t> en una transacción confidencial.</a:t>
                </a:r>
              </a:p>
            </p:txBody>
          </p:sp>
          <p:pic>
            <p:nvPicPr>
              <p:cNvPr id="7" name="Image 0" descr="Chat">
                <a:extLst>
                  <a:ext uri="{FF2B5EF4-FFF2-40B4-BE49-F238E27FC236}">
                    <a16:creationId xmlns:a16="http://schemas.microsoft.com/office/drawing/2014/main" id="{B1BC419E-CFBC-8FE5-0243-43BE447F7B52}"/>
                  </a:ext>
                </a:extLst>
              </p:cNvPr>
              <p:cNvPicPr>
                <a:picLocks noChangeAspect="1"/>
              </p:cNvPicPr>
              <p:nvPr/>
            </p:nvPicPr>
            <p:blipFill>
              <a:blip r:embed="rId8"/>
              <a:srcRect/>
              <a:stretch/>
            </p:blipFill>
            <p:spPr>
              <a:xfrm>
                <a:off x="8880856" y="2840385"/>
                <a:ext cx="406400" cy="406400"/>
              </a:xfrm>
              <a:prstGeom prst="rect">
                <a:avLst/>
              </a:prstGeom>
            </p:spPr>
          </p:pic>
          <p:grpSp>
            <p:nvGrpSpPr>
              <p:cNvPr id="26" name="Group 25">
                <a:extLst>
                  <a:ext uri="{FF2B5EF4-FFF2-40B4-BE49-F238E27FC236}">
                    <a16:creationId xmlns:a16="http://schemas.microsoft.com/office/drawing/2014/main" id="{6EBEC4CC-388E-3A14-1EAF-DA97975800C4}"/>
                  </a:ext>
                </a:extLst>
              </p:cNvPr>
              <p:cNvGrpSpPr/>
              <p:nvPr/>
            </p:nvGrpSpPr>
            <p:grpSpPr>
              <a:xfrm>
                <a:off x="10786129" y="3071520"/>
                <a:ext cx="1366990" cy="1686997"/>
                <a:chOff x="6007620" y="4605929"/>
                <a:chExt cx="1366990" cy="1686997"/>
              </a:xfrm>
            </p:grpSpPr>
            <p:pic>
              <p:nvPicPr>
                <p:cNvPr id="23" name="Picture 22" descr="Benedetto Vigna, CEO Ferrari">
                  <a:extLst>
                    <a:ext uri="{FF2B5EF4-FFF2-40B4-BE49-F238E27FC236}">
                      <a16:creationId xmlns:a16="http://schemas.microsoft.com/office/drawing/2014/main" id="{DBF2C860-FADE-D255-F3CF-60BEB65764DE}"/>
                    </a:ext>
                  </a:extLst>
                </p:cNvPr>
                <p:cNvPicPr>
                  <a:picLocks noChangeAspect="1"/>
                </p:cNvPicPr>
                <p:nvPr/>
              </p:nvPicPr>
              <p:blipFill>
                <a:blip r:embed="rId9"/>
                <a:srcRect l="20342" r="18442"/>
                <a:stretch>
                  <a:fillRect/>
                </a:stretch>
              </p:blipFill>
              <p:spPr>
                <a:xfrm>
                  <a:off x="6007620" y="4605929"/>
                  <a:ext cx="1366990" cy="1256110"/>
                </a:xfrm>
                <a:prstGeom prst="rect">
                  <a:avLst/>
                </a:prstGeom>
              </p:spPr>
            </p:pic>
            <p:sp>
              <p:nvSpPr>
                <p:cNvPr id="25" name="TextBox 24">
                  <a:extLst>
                    <a:ext uri="{FF2B5EF4-FFF2-40B4-BE49-F238E27FC236}">
                      <a16:creationId xmlns:a16="http://schemas.microsoft.com/office/drawing/2014/main" id="{2F45667D-8BF4-EA97-4A7A-F16B9170E605}"/>
                    </a:ext>
                  </a:extLst>
                </p:cNvPr>
                <p:cNvSpPr txBox="1"/>
                <p:nvPr/>
              </p:nvSpPr>
              <p:spPr>
                <a:xfrm>
                  <a:off x="6007620" y="5862039"/>
                  <a:ext cx="1366990" cy="430887"/>
                </a:xfrm>
                <a:prstGeom prst="rect">
                  <a:avLst/>
                </a:prstGeom>
                <a:noFill/>
              </p:spPr>
              <p:txBody>
                <a:bodyPr wrap="square">
                  <a:spAutoFit/>
                </a:bodyPr>
                <a:lstStyle/>
                <a:p>
                  <a:pPr algn="ctr"/>
                  <a:r>
                    <a:rPr lang="en-US" sz="1100" dirty="0"/>
                    <a:t>Benedetto Vigna</a:t>
                  </a:r>
                </a:p>
                <a:p>
                  <a:pPr algn="ctr"/>
                  <a:r>
                    <a:rPr lang="en-US" sz="1100" dirty="0"/>
                    <a:t>CEO Ferrari</a:t>
                  </a:r>
                </a:p>
              </p:txBody>
            </p:sp>
          </p:grpSp>
        </p:grpSp>
        <p:pic>
          <p:nvPicPr>
            <p:cNvPr id="13" name="Picture 12">
              <a:extLst>
                <a:ext uri="{FF2B5EF4-FFF2-40B4-BE49-F238E27FC236}">
                  <a16:creationId xmlns:a16="http://schemas.microsoft.com/office/drawing/2014/main" id="{393B8717-E1DA-004D-7255-811840E401F0}"/>
                </a:ext>
              </a:extLst>
            </p:cNvPr>
            <p:cNvPicPr>
              <a:picLocks noChangeAspect="1"/>
            </p:cNvPicPr>
            <p:nvPr/>
          </p:nvPicPr>
          <p:blipFill>
            <a:blip r:embed="rId10"/>
            <a:srcRect/>
            <a:stretch>
              <a:fillRect/>
            </a:stretch>
          </p:blipFill>
          <p:spPr>
            <a:xfrm>
              <a:off x="11526678" y="1186103"/>
              <a:ext cx="571432" cy="683179"/>
            </a:xfrm>
            <a:prstGeom prst="rect">
              <a:avLst/>
            </a:prstGeom>
          </p:spPr>
        </p:pic>
      </p:grpSp>
      <p:sp>
        <p:nvSpPr>
          <p:cNvPr id="53" name="TextBox 52">
            <a:extLst>
              <a:ext uri="{FF2B5EF4-FFF2-40B4-BE49-F238E27FC236}">
                <a16:creationId xmlns:a16="http://schemas.microsoft.com/office/drawing/2014/main" id="{A362AEC1-7E8D-E361-3ACD-D87FDBDEBA75}"/>
              </a:ext>
            </a:extLst>
          </p:cNvPr>
          <p:cNvSpPr txBox="1"/>
          <p:nvPr/>
        </p:nvSpPr>
        <p:spPr>
          <a:xfrm>
            <a:off x="3444846" y="6066259"/>
            <a:ext cx="6093500" cy="261610"/>
          </a:xfrm>
          <a:prstGeom prst="rect">
            <a:avLst/>
          </a:prstGeom>
          <a:noFill/>
        </p:spPr>
        <p:txBody>
          <a:bodyPr wrap="square">
            <a:spAutoFit/>
          </a:bodyPr>
          <a:lstStyle/>
          <a:p>
            <a:r>
              <a:rPr lang="en-US" sz="1100" dirty="0">
                <a:solidFill>
                  <a:schemeClr val="accent5">
                    <a:lumMod val="60000"/>
                    <a:lumOff val="40000"/>
                  </a:schemeClr>
                </a:solidFill>
                <a:hlinkClick r:id="rId11">
                  <a:extLst>
                    <a:ext uri="{A12FA001-AC4F-418D-AE19-62706E023703}">
                      <ahyp:hlinkClr xmlns:ahyp="http://schemas.microsoft.com/office/drawing/2018/hyperlinkcolor" val="tx"/>
                    </a:ext>
                  </a:extLst>
                </a:hlinkClick>
              </a:rPr>
              <a:t>https://inspiredelearning.com/blog/ferrari-deepfake-attack-foiled-with-simple-question/</a:t>
            </a:r>
            <a:endParaRPr lang="en-US" sz="1100" dirty="0">
              <a:solidFill>
                <a:schemeClr val="accent5">
                  <a:lumMod val="60000"/>
                  <a:lumOff val="40000"/>
                </a:schemeClr>
              </a:solidFill>
            </a:endParaRPr>
          </a:p>
        </p:txBody>
      </p:sp>
    </p:spTree>
    <p:extLst>
      <p:ext uri="{BB962C8B-B14F-4D97-AF65-F5344CB8AC3E}">
        <p14:creationId xmlns:p14="http://schemas.microsoft.com/office/powerpoint/2010/main" val="30368571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2E3A9E"/>
        </a:solidFill>
        <a:effectLst/>
      </p:bgPr>
    </p:bg>
    <p:spTree>
      <p:nvGrpSpPr>
        <p:cNvPr id="1" name=""/>
        <p:cNvGrpSpPr/>
        <p:nvPr/>
      </p:nvGrpSpPr>
      <p:grpSpPr>
        <a:xfrm>
          <a:off x="0" y="0"/>
          <a:ext cx="0" cy="0"/>
          <a:chOff x="0" y="0"/>
          <a:chExt cx="0" cy="0"/>
        </a:xfrm>
      </p:grpSpPr>
      <p:sp>
        <p:nvSpPr>
          <p:cNvPr id="3" name="Text 1"/>
          <p:cNvSpPr>
            <a:spLocks noGrp="1"/>
          </p:cNvSpPr>
          <p:nvPr>
            <p:ph type="title"/>
          </p:nvPr>
        </p:nvSpPr>
        <p:spPr>
          <a:xfrm>
            <a:off x="812800" y="2192040"/>
            <a:ext cx="10137775" cy="2036961"/>
          </a:xfrm>
          <a:prstGeom prst="rect">
            <a:avLst/>
          </a:prstGeom>
          <a:noFill/>
          <a:ln/>
        </p:spPr>
        <p:txBody>
          <a:bodyPr wrap="square" lIns="0" tIns="0" rIns="0" bIns="0" rtlCol="0" anchor="t">
            <a:normAutofit/>
          </a:bodyPr>
          <a:lstStyle/>
          <a:p>
            <a:pPr marL="0" indent="0" algn="l">
              <a:lnSpc>
                <a:spcPts val="5280"/>
              </a:lnSpc>
              <a:buNone/>
            </a:pPr>
            <a:r>
              <a:rPr lang="es-CO" sz="4800" b="0" i="0" noProof="0" dirty="0">
                <a:solidFill>
                  <a:srgbClr val="F6F5F1"/>
                </a:solidFill>
                <a:latin typeface="Fraunces" pitchFamily="18" charset="0"/>
                <a:ea typeface="Fraunces" pitchFamily="18" charset="-122"/>
                <a:cs typeface="Fraunces" pitchFamily="18" charset="-120"/>
              </a:rPr>
              <a:t>Las estafas funcionan porque inducen pánico inmediato.</a:t>
            </a:r>
            <a:endParaRPr lang="es-CO" sz="4800" noProof="0" dirty="0"/>
          </a:p>
        </p:txBody>
      </p:sp>
      <p:sp>
        <p:nvSpPr>
          <p:cNvPr id="4" name="Text 2"/>
          <p:cNvSpPr/>
          <p:nvPr/>
        </p:nvSpPr>
        <p:spPr>
          <a:xfrm>
            <a:off x="812800" y="4559201"/>
            <a:ext cx="9156700" cy="736600"/>
          </a:xfrm>
          <a:prstGeom prst="rect">
            <a:avLst/>
          </a:prstGeom>
          <a:noFill/>
          <a:ln/>
        </p:spPr>
        <p:txBody>
          <a:bodyPr wrap="square" lIns="0" tIns="0" rIns="0" bIns="0" rtlCol="0" anchor="t">
            <a:normAutofit/>
          </a:bodyPr>
          <a:lstStyle/>
          <a:p>
            <a:pPr marL="0" indent="0" algn="l">
              <a:lnSpc>
                <a:spcPts val="2800"/>
              </a:lnSpc>
              <a:buNone/>
            </a:pPr>
            <a:r>
              <a:rPr lang="es-CO" sz="2000" dirty="0">
                <a:solidFill>
                  <a:srgbClr val="DCE0F5"/>
                </a:solidFill>
                <a:latin typeface="Nunito Sans" pitchFamily="34" charset="0"/>
                <a:ea typeface="Nunito Sans" pitchFamily="34" charset="-122"/>
                <a:cs typeface="Nunito Sans" pitchFamily="34" charset="-120"/>
              </a:rPr>
              <a:t>Toma un momento para pausar y juzgar la situación</a:t>
            </a:r>
            <a:r>
              <a:rPr lang="es-CO" sz="2000" noProof="0" dirty="0">
                <a:solidFill>
                  <a:srgbClr val="DCE0F5"/>
                </a:solidFill>
                <a:latin typeface="Nunito Sans" pitchFamily="34" charset="0"/>
                <a:ea typeface="Nunito Sans" pitchFamily="34" charset="-122"/>
                <a:cs typeface="Nunito Sans" pitchFamily="34" charset="-120"/>
              </a:rPr>
              <a:t>. </a:t>
            </a:r>
            <a:r>
              <a:rPr lang="es-CO" sz="2000" dirty="0">
                <a:solidFill>
                  <a:srgbClr val="DCE0F5"/>
                </a:solidFill>
                <a:latin typeface="Nunito Sans" pitchFamily="34" charset="0"/>
                <a:ea typeface="Nunito Sans" pitchFamily="34" charset="-122"/>
                <a:cs typeface="Nunito Sans" pitchFamily="34" charset="-120"/>
              </a:rPr>
              <a:t>Es mejor tardar un poco más pero estar seguro.</a:t>
            </a:r>
            <a:endParaRPr lang="es-CO" sz="200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5">
    <p:bg>
      <p:bgPr>
        <a:solidFill>
          <a:srgbClr val="1C2142"/>
        </a:solidFill>
        <a:effectLst/>
      </p:bgPr>
    </p:bg>
    <p:spTree>
      <p:nvGrpSpPr>
        <p:cNvPr id="1" name=""/>
        <p:cNvGrpSpPr/>
        <p:nvPr/>
      </p:nvGrpSpPr>
      <p:grpSpPr>
        <a:xfrm>
          <a:off x="0" y="0"/>
          <a:ext cx="0" cy="0"/>
          <a:chOff x="0" y="0"/>
          <a:chExt cx="0" cy="0"/>
        </a:xfrm>
      </p:grpSpPr>
      <p:sp>
        <p:nvSpPr>
          <p:cNvPr id="2" name="Shape 0"/>
          <p:cNvSpPr/>
          <p:nvPr/>
        </p:nvSpPr>
        <p:spPr>
          <a:xfrm>
            <a:off x="8255000" y="0"/>
            <a:ext cx="4572000" cy="4572000"/>
          </a:xfrm>
          <a:prstGeom prst="roundRect">
            <a:avLst>
              <a:gd name="adj" fmla="val 35556"/>
            </a:avLst>
          </a:prstGeom>
          <a:solidFill>
            <a:srgbClr val="252B55"/>
          </a:solidFill>
          <a:ln/>
        </p:spPr>
        <p:txBody>
          <a:bodyPr/>
          <a:lstStyle/>
          <a:p>
            <a:endParaRPr lang="es-CO" noProof="0" dirty="0"/>
          </a:p>
        </p:txBody>
      </p:sp>
      <p:sp>
        <p:nvSpPr>
          <p:cNvPr id="3" name="Text 1"/>
          <p:cNvSpPr/>
          <p:nvPr/>
        </p:nvSpPr>
        <p:spPr>
          <a:xfrm>
            <a:off x="812800" y="812800"/>
            <a:ext cx="10883392" cy="1168400"/>
          </a:xfrm>
          <a:prstGeom prst="rect">
            <a:avLst/>
          </a:prstGeom>
          <a:noFill/>
          <a:ln/>
        </p:spPr>
        <p:txBody>
          <a:bodyPr wrap="square" lIns="0" tIns="0" rIns="0" bIns="0" rtlCol="0" anchor="t">
            <a:normAutofit fontScale="92500"/>
          </a:bodyPr>
          <a:lstStyle/>
          <a:p>
            <a:pPr marL="0" indent="0" algn="l">
              <a:lnSpc>
                <a:spcPts val="9000"/>
              </a:lnSpc>
              <a:buNone/>
            </a:pPr>
            <a:r>
              <a:rPr lang="es-CO" sz="9000" noProof="0" dirty="0">
                <a:solidFill>
                  <a:srgbClr val="9DA8F2"/>
                </a:solidFill>
                <a:latin typeface="Fraunces" pitchFamily="18" charset="0"/>
                <a:ea typeface="Fraunces" pitchFamily="18" charset="-122"/>
                <a:cs typeface="Fraunces" pitchFamily="18" charset="-120"/>
              </a:rPr>
              <a:t>02</a:t>
            </a:r>
            <a:endParaRPr lang="es-CO" sz="9000" noProof="0" dirty="0"/>
          </a:p>
        </p:txBody>
      </p:sp>
      <p:sp>
        <p:nvSpPr>
          <p:cNvPr id="4" name="Text 2"/>
          <p:cNvSpPr>
            <a:spLocks noGrp="1"/>
          </p:cNvSpPr>
          <p:nvPr>
            <p:ph type="title"/>
          </p:nvPr>
        </p:nvSpPr>
        <p:spPr>
          <a:xfrm>
            <a:off x="812800" y="4876801"/>
            <a:ext cx="8502650" cy="777082"/>
          </a:xfrm>
          <a:prstGeom prst="rect">
            <a:avLst/>
          </a:prstGeom>
          <a:noFill/>
          <a:ln/>
        </p:spPr>
        <p:txBody>
          <a:bodyPr wrap="square" lIns="0" tIns="0" rIns="0" bIns="0" rtlCol="0" anchor="t">
            <a:normAutofit/>
          </a:bodyPr>
          <a:lstStyle/>
          <a:p>
            <a:pPr marL="0" indent="0" algn="l">
              <a:lnSpc>
                <a:spcPts val="5460"/>
              </a:lnSpc>
              <a:buNone/>
            </a:pPr>
            <a:r>
              <a:rPr lang="es-CO" sz="5200" b="0" i="0" noProof="0" dirty="0">
                <a:solidFill>
                  <a:srgbClr val="F6F5F1"/>
                </a:solidFill>
                <a:latin typeface="Fraunces" pitchFamily="18" charset="0"/>
                <a:ea typeface="Fraunces" pitchFamily="18" charset="-122"/>
                <a:cs typeface="Fraunces" pitchFamily="18" charset="-120"/>
              </a:rPr>
              <a:t>Tres hábitos útiles.</a:t>
            </a:r>
            <a:endParaRPr lang="es-CO" sz="5200" noProof="0" dirty="0"/>
          </a:p>
        </p:txBody>
      </p:sp>
      <p:sp>
        <p:nvSpPr>
          <p:cNvPr id="5" name="Text 3"/>
          <p:cNvSpPr/>
          <p:nvPr/>
        </p:nvSpPr>
        <p:spPr>
          <a:xfrm>
            <a:off x="812800" y="5689600"/>
            <a:ext cx="8502650" cy="381000"/>
          </a:xfrm>
          <a:prstGeom prst="rect">
            <a:avLst/>
          </a:prstGeom>
          <a:noFill/>
          <a:ln/>
        </p:spPr>
        <p:txBody>
          <a:bodyPr wrap="square" lIns="0" tIns="0" rIns="0" bIns="0" rtlCol="0" anchor="t">
            <a:normAutofit/>
          </a:bodyPr>
          <a:lstStyle/>
          <a:p>
            <a:pPr marL="0" indent="0" algn="l">
              <a:lnSpc>
                <a:spcPts val="2800"/>
              </a:lnSpc>
              <a:buNone/>
            </a:pPr>
            <a:r>
              <a:rPr lang="es-CO" sz="2000" noProof="0" dirty="0">
                <a:solidFill>
                  <a:srgbClr val="C7CCE8"/>
                </a:solidFill>
                <a:latin typeface="Nunito Sans" pitchFamily="34" charset="0"/>
                <a:ea typeface="Nunito Sans" pitchFamily="34" charset="-122"/>
                <a:cs typeface="Nunito Sans" pitchFamily="34" charset="-120"/>
              </a:rPr>
              <a:t>Rutinas simples que te ayudan a reducir la carga mental en tu día a día.</a:t>
            </a:r>
            <a:endParaRPr lang="es-CO" sz="200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7">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BLOQUE 02: TRES HÁBITOS ÚTILES.</a:t>
            </a:r>
            <a:endParaRPr lang="es-CO" sz="1400" noProof="0" dirty="0"/>
          </a:p>
        </p:txBody>
      </p:sp>
      <p:sp>
        <p:nvSpPr>
          <p:cNvPr id="3" name="Text 1"/>
          <p:cNvSpPr>
            <a:spLocks noGrp="1"/>
          </p:cNvSpPr>
          <p:nvPr>
            <p:ph type="title"/>
          </p:nvPr>
        </p:nvSpPr>
        <p:spPr>
          <a:xfrm>
            <a:off x="812800" y="134104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Un gestor de contraseñas recuerda por ti.</a:t>
            </a:r>
            <a:endParaRPr lang="es-CO" sz="3600" noProof="0" dirty="0"/>
          </a:p>
        </p:txBody>
      </p:sp>
      <p:sp>
        <p:nvSpPr>
          <p:cNvPr id="6" name="Text 4"/>
          <p:cNvSpPr/>
          <p:nvPr/>
        </p:nvSpPr>
        <p:spPr>
          <a:xfrm>
            <a:off x="980821" y="2137869"/>
            <a:ext cx="4851401" cy="2458938"/>
          </a:xfrm>
          <a:prstGeom prst="rect">
            <a:avLst/>
          </a:prstGeom>
          <a:noFill/>
          <a:ln/>
        </p:spPr>
        <p:txBody>
          <a:bodyPr wrap="square" lIns="0" tIns="0" rIns="0" bIns="0" rtlCol="0" anchor="t">
            <a:normAutofit/>
          </a:bodyPr>
          <a:lstStyle/>
          <a:p>
            <a:pPr>
              <a:lnSpc>
                <a:spcPts val="2320"/>
              </a:lnSpc>
            </a:pPr>
            <a:r>
              <a:rPr lang="es-CO" sz="1600" dirty="0">
                <a:solidFill>
                  <a:srgbClr val="1C2142"/>
                </a:solidFill>
                <a:latin typeface="Nunito Sans" pitchFamily="34" charset="0"/>
              </a:rPr>
              <a:t>Recordar muchas contraseñas es tedioso y para evitarlo recurrimos a prácticas poco recomendables como: </a:t>
            </a:r>
          </a:p>
          <a:p>
            <a:pPr marL="285750" indent="-285750">
              <a:lnSpc>
                <a:spcPts val="2320"/>
              </a:lnSpc>
              <a:buFont typeface="Wingdings" panose="05000000000000000000" pitchFamily="2" charset="2"/>
              <a:buChar char="§"/>
            </a:pPr>
            <a:r>
              <a:rPr lang="es-CO" sz="1600" dirty="0">
                <a:solidFill>
                  <a:srgbClr val="1C2142"/>
                </a:solidFill>
                <a:latin typeface="Nunito Sans" pitchFamily="34" charset="0"/>
              </a:rPr>
              <a:t>Utilizar la misma contraseña para todo.</a:t>
            </a:r>
          </a:p>
          <a:p>
            <a:pPr marL="285750" indent="-285750">
              <a:lnSpc>
                <a:spcPts val="2320"/>
              </a:lnSpc>
              <a:buFont typeface="Wingdings" panose="05000000000000000000" pitchFamily="2" charset="2"/>
              <a:buChar char="§"/>
            </a:pPr>
            <a:r>
              <a:rPr lang="es-CO" sz="1600" dirty="0">
                <a:solidFill>
                  <a:srgbClr val="1C2142"/>
                </a:solidFill>
                <a:latin typeface="Nunito Sans" pitchFamily="34" charset="0"/>
              </a:rPr>
              <a:t>Construir contraseñas con fechas, nombres u otros datos personales.</a:t>
            </a:r>
          </a:p>
          <a:p>
            <a:pPr marL="285750" indent="-285750">
              <a:lnSpc>
                <a:spcPts val="2320"/>
              </a:lnSpc>
              <a:buFont typeface="Wingdings" panose="05000000000000000000" pitchFamily="2" charset="2"/>
              <a:buChar char="§"/>
            </a:pPr>
            <a:r>
              <a:rPr lang="es-CO" sz="1600" dirty="0">
                <a:solidFill>
                  <a:srgbClr val="1C2142"/>
                </a:solidFill>
                <a:latin typeface="Nunito Sans" pitchFamily="34" charset="0"/>
              </a:rPr>
              <a:t>Hacer contraseñas cortas.</a:t>
            </a:r>
          </a:p>
          <a:p>
            <a:pPr marL="285750" indent="-285750" algn="l">
              <a:lnSpc>
                <a:spcPts val="2320"/>
              </a:lnSpc>
              <a:buFont typeface="Wingdings" panose="05000000000000000000" pitchFamily="2" charset="2"/>
              <a:buChar char="§"/>
            </a:pPr>
            <a:endParaRPr lang="es-CO" sz="1600" dirty="0">
              <a:solidFill>
                <a:srgbClr val="4A5070"/>
              </a:solidFill>
              <a:latin typeface="Nunito Sans" pitchFamily="34" charset="0"/>
            </a:endParaRPr>
          </a:p>
          <a:p>
            <a:pPr marL="285750" indent="-285750" algn="l">
              <a:lnSpc>
                <a:spcPts val="2320"/>
              </a:lnSpc>
              <a:buFont typeface="Wingdings" panose="05000000000000000000" pitchFamily="2" charset="2"/>
              <a:buChar char="§"/>
            </a:pPr>
            <a:endParaRPr lang="es-CO" sz="1600" noProof="0" dirty="0"/>
          </a:p>
        </p:txBody>
      </p:sp>
      <p:sp>
        <p:nvSpPr>
          <p:cNvPr id="7" name="Shape 5"/>
          <p:cNvSpPr/>
          <p:nvPr/>
        </p:nvSpPr>
        <p:spPr>
          <a:xfrm>
            <a:off x="6359780" y="2137869"/>
            <a:ext cx="5485892" cy="2808886"/>
          </a:xfrm>
          <a:prstGeom prst="roundRect">
            <a:avLst>
              <a:gd name="adj" fmla="val 4862"/>
            </a:avLst>
          </a:prstGeom>
          <a:solidFill>
            <a:srgbClr val="E9ECF4"/>
          </a:solidFill>
          <a:ln/>
        </p:spPr>
        <p:txBody>
          <a:bodyPr/>
          <a:lstStyle/>
          <a:p>
            <a:endParaRPr lang="es-CO" noProof="0" dirty="0"/>
          </a:p>
        </p:txBody>
      </p:sp>
      <p:sp>
        <p:nvSpPr>
          <p:cNvPr id="9" name="Text 7"/>
          <p:cNvSpPr/>
          <p:nvPr/>
        </p:nvSpPr>
        <p:spPr>
          <a:xfrm>
            <a:off x="6515100" y="2521140"/>
            <a:ext cx="5330572" cy="2425615"/>
          </a:xfrm>
          <a:prstGeom prst="rect">
            <a:avLst/>
          </a:prstGeom>
          <a:noFill/>
          <a:ln/>
        </p:spPr>
        <p:txBody>
          <a:bodyPr wrap="square" lIns="0" tIns="0" rIns="0" bIns="0" rtlCol="0" anchor="t">
            <a:normAutofit/>
          </a:bodyPr>
          <a:lstStyle/>
          <a:p>
            <a:pPr marL="0" indent="0" algn="l">
              <a:lnSpc>
                <a:spcPts val="2320"/>
              </a:lnSpc>
              <a:buNone/>
            </a:pPr>
            <a:r>
              <a:rPr lang="es-CO" sz="1600" b="1" noProof="0" dirty="0">
                <a:solidFill>
                  <a:srgbClr val="1C2142"/>
                </a:solidFill>
                <a:latin typeface="Nunito Sans" pitchFamily="34" charset="0"/>
              </a:rPr>
              <a:t>Gestor de contraseñas: </a:t>
            </a:r>
            <a:r>
              <a:rPr lang="es-CO" sz="1600" noProof="0" dirty="0">
                <a:solidFill>
                  <a:srgbClr val="1C2142"/>
                </a:solidFill>
                <a:latin typeface="Nunito Sans" pitchFamily="34" charset="0"/>
              </a:rPr>
              <a:t>Sistema que guarda y administra contraseñas.</a:t>
            </a:r>
          </a:p>
          <a:p>
            <a:pPr marL="0" indent="0" algn="l">
              <a:lnSpc>
                <a:spcPts val="2320"/>
              </a:lnSpc>
              <a:buNone/>
            </a:pPr>
            <a:endParaRPr lang="es-CO" sz="1600" dirty="0">
              <a:solidFill>
                <a:srgbClr val="1C2142"/>
              </a:solidFill>
              <a:latin typeface="Nunito Sans" pitchFamily="34" charset="0"/>
            </a:endParaRPr>
          </a:p>
          <a:p>
            <a:pPr marL="0" indent="0" algn="l">
              <a:lnSpc>
                <a:spcPts val="2320"/>
              </a:lnSpc>
              <a:buNone/>
            </a:pPr>
            <a:r>
              <a:rPr lang="es-CO" sz="1600" noProof="0" dirty="0">
                <a:solidFill>
                  <a:srgbClr val="1C2142"/>
                </a:solidFill>
                <a:latin typeface="Nunito Sans" pitchFamily="34" charset="0"/>
              </a:rPr>
              <a:t>Funcionalidades:</a:t>
            </a:r>
          </a:p>
          <a:p>
            <a:pPr marL="285750" indent="-285750" algn="l">
              <a:lnSpc>
                <a:spcPts val="2320"/>
              </a:lnSpc>
              <a:buFont typeface="Wingdings" panose="05000000000000000000" pitchFamily="2" charset="2"/>
              <a:buChar char="§"/>
            </a:pPr>
            <a:r>
              <a:rPr lang="es-CO" sz="1600" dirty="0">
                <a:solidFill>
                  <a:srgbClr val="1C2142"/>
                </a:solidFill>
                <a:latin typeface="Nunito Sans" pitchFamily="34" charset="0"/>
              </a:rPr>
              <a:t>Generar contraseñas aleatorias de cualquier tamaño.</a:t>
            </a:r>
          </a:p>
          <a:p>
            <a:pPr marL="285750" indent="-285750" algn="l">
              <a:lnSpc>
                <a:spcPts val="2320"/>
              </a:lnSpc>
              <a:buFont typeface="Wingdings" panose="05000000000000000000" pitchFamily="2" charset="2"/>
              <a:buChar char="§"/>
            </a:pPr>
            <a:r>
              <a:rPr lang="es-CO" sz="1600" dirty="0">
                <a:solidFill>
                  <a:srgbClr val="1C2142"/>
                </a:solidFill>
                <a:latin typeface="Nunito Sans" pitchFamily="34" charset="0"/>
              </a:rPr>
              <a:t>Rellenar los espacios en las páginas web donde requerimos usar una contraseña.</a:t>
            </a:r>
          </a:p>
          <a:p>
            <a:pPr marL="285750" indent="-285750" algn="l">
              <a:lnSpc>
                <a:spcPts val="2320"/>
              </a:lnSpc>
              <a:buFont typeface="Wingdings" panose="05000000000000000000" pitchFamily="2" charset="2"/>
              <a:buChar char="§"/>
            </a:pPr>
            <a:r>
              <a:rPr lang="es-CO" sz="1600" dirty="0">
                <a:solidFill>
                  <a:srgbClr val="1C2142"/>
                </a:solidFill>
                <a:latin typeface="Nunito Sans" pitchFamily="34" charset="0"/>
              </a:rPr>
              <a:t>Se accede al gestor una contraseña maestra.</a:t>
            </a:r>
          </a:p>
          <a:p>
            <a:pPr marL="285750" indent="-285750" algn="l">
              <a:lnSpc>
                <a:spcPts val="2320"/>
              </a:lnSpc>
              <a:buFont typeface="Wingdings" panose="05000000000000000000" pitchFamily="2" charset="2"/>
              <a:buChar char="§"/>
            </a:pPr>
            <a:endParaRPr lang="es-CO" sz="1600" noProof="0" dirty="0">
              <a:solidFill>
                <a:srgbClr val="1C2142"/>
              </a:solidFill>
              <a:latin typeface="Nunito Sans" pitchFamily="34" charset="0"/>
            </a:endParaRPr>
          </a:p>
          <a:p>
            <a:pPr marL="0" indent="0" algn="l">
              <a:lnSpc>
                <a:spcPts val="2320"/>
              </a:lnSpc>
              <a:buNone/>
            </a:pPr>
            <a:endParaRPr lang="es-CO" sz="1600" noProof="0" dirty="0">
              <a:solidFill>
                <a:srgbClr val="1C2142"/>
              </a:solidFill>
              <a:latin typeface="Nunito Sans" pitchFamily="34" charset="0"/>
            </a:endParaRPr>
          </a:p>
        </p:txBody>
      </p:sp>
      <p:sp>
        <p:nvSpPr>
          <p:cNvPr id="10" name="Text 8"/>
          <p:cNvSpPr/>
          <p:nvPr/>
        </p:nvSpPr>
        <p:spPr>
          <a:xfrm>
            <a:off x="6515100" y="3412383"/>
            <a:ext cx="4696079" cy="614561"/>
          </a:xfrm>
          <a:prstGeom prst="rect">
            <a:avLst/>
          </a:prstGeom>
          <a:noFill/>
          <a:ln/>
        </p:spPr>
        <p:txBody>
          <a:bodyPr wrap="square" lIns="0" tIns="0" rIns="0" bIns="0" rtlCol="0" anchor="t">
            <a:normAutofit/>
          </a:bodyPr>
          <a:lstStyle/>
          <a:p>
            <a:pPr marL="0" indent="0" algn="l">
              <a:lnSpc>
                <a:spcPts val="2320"/>
              </a:lnSpc>
              <a:buNone/>
            </a:pPr>
            <a:endParaRPr lang="es-CO" sz="1600" noProof="0" dirty="0"/>
          </a:p>
        </p:txBody>
      </p:sp>
      <p:pic>
        <p:nvPicPr>
          <p:cNvPr id="11" name="Image 0" descr="Key"/>
          <p:cNvPicPr>
            <a:picLocks noChangeAspect="1"/>
          </p:cNvPicPr>
          <p:nvPr/>
        </p:nvPicPr>
        <p:blipFill>
          <a:blip r:embed="rId3"/>
          <a:srcRect/>
          <a:stretch/>
        </p:blipFill>
        <p:spPr>
          <a:xfrm>
            <a:off x="8950326" y="2216340"/>
            <a:ext cx="304800" cy="304800"/>
          </a:xfrm>
          <a:prstGeom prst="rect">
            <a:avLst/>
          </a:prstGeom>
        </p:spPr>
      </p:pic>
      <p:pic>
        <p:nvPicPr>
          <p:cNvPr id="13" name="Image 1" descr="Pralogy"/>
          <p:cNvPicPr>
            <a:picLocks noChangeAspect="1"/>
          </p:cNvPicPr>
          <p:nvPr/>
        </p:nvPicPr>
        <p:blipFill>
          <a:blip r:embed="rId4"/>
          <a:srcRect l="-62" r="-62"/>
          <a:stretch/>
        </p:blipFill>
        <p:spPr>
          <a:xfrm>
            <a:off x="812800" y="6273800"/>
            <a:ext cx="1111250" cy="228600"/>
          </a:xfrm>
          <a:prstGeom prst="rect">
            <a:avLst/>
          </a:prstGeom>
        </p:spPr>
      </p:pic>
      <p:sp>
        <p:nvSpPr>
          <p:cNvPr id="14" name="Text 10"/>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12</a:t>
            </a:r>
            <a:endParaRPr lang="es-CO" sz="1200" noProof="0" dirty="0"/>
          </a:p>
        </p:txBody>
      </p:sp>
      <p:pic>
        <p:nvPicPr>
          <p:cNvPr id="4" name="Picture 3" descr="Google Password Manager Icon &amp; Logo - SVG, PNG, WebP | Dashboard Icons &amp;  Logos">
            <a:extLst>
              <a:ext uri="{FF2B5EF4-FFF2-40B4-BE49-F238E27FC236}">
                <a16:creationId xmlns:a16="http://schemas.microsoft.com/office/drawing/2014/main" id="{A892F638-E474-49CC-8A60-3C68D9D52C66}"/>
              </a:ext>
            </a:extLst>
          </p:cNvPr>
          <p:cNvPicPr>
            <a:picLocks noChangeAspect="1"/>
          </p:cNvPicPr>
          <p:nvPr/>
        </p:nvPicPr>
        <p:blipFill>
          <a:blip r:embed="rId5"/>
          <a:stretch>
            <a:fillRect/>
          </a:stretch>
        </p:blipFill>
        <p:spPr>
          <a:xfrm>
            <a:off x="509402" y="4667645"/>
            <a:ext cx="1309802" cy="667947"/>
          </a:xfrm>
          <a:prstGeom prst="rect">
            <a:avLst/>
          </a:prstGeom>
        </p:spPr>
      </p:pic>
      <p:sp>
        <p:nvSpPr>
          <p:cNvPr id="8" name="TextBox 7">
            <a:extLst>
              <a:ext uri="{FF2B5EF4-FFF2-40B4-BE49-F238E27FC236}">
                <a16:creationId xmlns:a16="http://schemas.microsoft.com/office/drawing/2014/main" id="{CCAE20BD-A17B-7308-24AD-84F55A66221D}"/>
              </a:ext>
            </a:extLst>
          </p:cNvPr>
          <p:cNvSpPr txBox="1"/>
          <p:nvPr/>
        </p:nvSpPr>
        <p:spPr>
          <a:xfrm>
            <a:off x="713524" y="5854066"/>
            <a:ext cx="6771806" cy="253916"/>
          </a:xfrm>
          <a:prstGeom prst="rect">
            <a:avLst/>
          </a:prstGeom>
          <a:noFill/>
        </p:spPr>
        <p:txBody>
          <a:bodyPr wrap="square">
            <a:spAutoFit/>
          </a:bodyPr>
          <a:lstStyle/>
          <a:p>
            <a:r>
              <a:rPr lang="en-US" sz="1050" dirty="0">
                <a:solidFill>
                  <a:schemeClr val="bg2">
                    <a:lumMod val="75000"/>
                  </a:schemeClr>
                </a:solidFill>
              </a:rPr>
              <a:t>https://www.xataka.com/basics/16-mejores-gestores-contrasenas-para-proteger-recordar-todas-que-tengas</a:t>
            </a:r>
          </a:p>
        </p:txBody>
      </p:sp>
      <p:pic>
        <p:nvPicPr>
          <p:cNvPr id="15" name="Picture 14">
            <a:extLst>
              <a:ext uri="{FF2B5EF4-FFF2-40B4-BE49-F238E27FC236}">
                <a16:creationId xmlns:a16="http://schemas.microsoft.com/office/drawing/2014/main" id="{B9A45D70-209B-DA1B-2988-5004D2F2586A}"/>
              </a:ext>
            </a:extLst>
          </p:cNvPr>
          <p:cNvPicPr>
            <a:picLocks noChangeAspect="1"/>
          </p:cNvPicPr>
          <p:nvPr/>
        </p:nvPicPr>
        <p:blipFill>
          <a:blip r:embed="rId6"/>
          <a:stretch>
            <a:fillRect/>
          </a:stretch>
        </p:blipFill>
        <p:spPr>
          <a:xfrm>
            <a:off x="2108652" y="4493780"/>
            <a:ext cx="1043940" cy="1043940"/>
          </a:xfrm>
          <a:prstGeom prst="rect">
            <a:avLst/>
          </a:prstGeom>
        </p:spPr>
      </p:pic>
      <p:pic>
        <p:nvPicPr>
          <p:cNvPr id="17" name="Picture 16">
            <a:extLst>
              <a:ext uri="{FF2B5EF4-FFF2-40B4-BE49-F238E27FC236}">
                <a16:creationId xmlns:a16="http://schemas.microsoft.com/office/drawing/2014/main" id="{05237CFD-C430-F746-2503-650E419C48C6}"/>
              </a:ext>
            </a:extLst>
          </p:cNvPr>
          <p:cNvPicPr>
            <a:picLocks noChangeAspect="1"/>
          </p:cNvPicPr>
          <p:nvPr/>
        </p:nvPicPr>
        <p:blipFill>
          <a:blip r:embed="rId7"/>
          <a:stretch>
            <a:fillRect/>
          </a:stretch>
        </p:blipFill>
        <p:spPr>
          <a:xfrm>
            <a:off x="3442041" y="4436124"/>
            <a:ext cx="1178528" cy="1178528"/>
          </a:xfrm>
          <a:prstGeom prst="rect">
            <a:avLst/>
          </a:prstGeom>
        </p:spPr>
      </p:pic>
      <p:pic>
        <p:nvPicPr>
          <p:cNvPr id="19" name="Picture 18">
            <a:extLst>
              <a:ext uri="{FF2B5EF4-FFF2-40B4-BE49-F238E27FC236}">
                <a16:creationId xmlns:a16="http://schemas.microsoft.com/office/drawing/2014/main" id="{14244F60-A28C-CC74-FE00-D8E51F105A86}"/>
              </a:ext>
            </a:extLst>
          </p:cNvPr>
          <p:cNvPicPr>
            <a:picLocks noChangeAspect="1"/>
          </p:cNvPicPr>
          <p:nvPr/>
        </p:nvPicPr>
        <p:blipFill>
          <a:blip r:embed="rId8"/>
          <a:stretch>
            <a:fillRect/>
          </a:stretch>
        </p:blipFill>
        <p:spPr>
          <a:xfrm>
            <a:off x="4910273" y="4472513"/>
            <a:ext cx="1142139" cy="114213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8">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995680"/>
            <a:ext cx="10883392" cy="274241"/>
          </a:xfrm>
          <a:prstGeom prst="rect">
            <a:avLst/>
          </a:prstGeom>
          <a:noFill/>
          <a:ln/>
        </p:spPr>
        <p:txBody>
          <a:bodyPr wrap="square" lIns="0" tIns="0" rIns="0" bIns="0" rtlCol="0" anchor="t">
            <a:normAutofit/>
          </a:bodyPr>
          <a:lstStyle/>
          <a:p>
            <a:pPr>
              <a:lnSpc>
                <a:spcPts val="1960"/>
              </a:lnSpc>
            </a:pPr>
            <a:r>
              <a:rPr lang="es-CO" sz="1400" b="1" kern="0" spc="150" dirty="0">
                <a:solidFill>
                  <a:srgbClr val="2F3EBF"/>
                </a:solidFill>
                <a:latin typeface="Nunito Sans" pitchFamily="34" charset="0"/>
                <a:ea typeface="Nunito Sans" pitchFamily="34" charset="-122"/>
                <a:cs typeface="Nunito Sans" pitchFamily="34" charset="-120"/>
              </a:rPr>
              <a:t>BLOQUE 02: TRES HÁBITOS ÚTILES.</a:t>
            </a:r>
            <a:endParaRPr lang="es-CO" sz="1400" dirty="0"/>
          </a:p>
        </p:txBody>
      </p:sp>
      <p:sp>
        <p:nvSpPr>
          <p:cNvPr id="3" name="Text 1"/>
          <p:cNvSpPr>
            <a:spLocks noGrp="1"/>
          </p:cNvSpPr>
          <p:nvPr>
            <p:ph type="title"/>
          </p:nvPr>
        </p:nvSpPr>
        <p:spPr>
          <a:xfrm>
            <a:off x="812800" y="152392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Pausa y verifica por otro canal</a:t>
            </a:r>
            <a:endParaRPr lang="es-CO" sz="3600" noProof="0" dirty="0"/>
          </a:p>
        </p:txBody>
      </p:sp>
      <p:grpSp>
        <p:nvGrpSpPr>
          <p:cNvPr id="16" name="Group 15">
            <a:extLst>
              <a:ext uri="{FF2B5EF4-FFF2-40B4-BE49-F238E27FC236}">
                <a16:creationId xmlns:a16="http://schemas.microsoft.com/office/drawing/2014/main" id="{D06B2760-82B9-DC8D-B902-A4D1C372F99D}"/>
              </a:ext>
            </a:extLst>
          </p:cNvPr>
          <p:cNvGrpSpPr/>
          <p:nvPr/>
        </p:nvGrpSpPr>
        <p:grpSpPr>
          <a:xfrm>
            <a:off x="755078" y="2301486"/>
            <a:ext cx="5181600" cy="2608760"/>
            <a:chOff x="887539" y="2255731"/>
            <a:chExt cx="5181600" cy="2299594"/>
          </a:xfrm>
        </p:grpSpPr>
        <p:sp>
          <p:nvSpPr>
            <p:cNvPr id="4" name="Shape 2"/>
            <p:cNvSpPr/>
            <p:nvPr/>
          </p:nvSpPr>
          <p:spPr>
            <a:xfrm>
              <a:off x="887539" y="2255731"/>
              <a:ext cx="5181600" cy="2299594"/>
            </a:xfrm>
            <a:prstGeom prst="roundRect">
              <a:avLst>
                <a:gd name="adj" fmla="val 4678"/>
              </a:avLst>
            </a:prstGeom>
            <a:solidFill>
              <a:srgbClr val="FCFBF8"/>
            </a:solidFill>
            <a:ln w="12700">
              <a:solidFill>
                <a:srgbClr val="DDE0EA"/>
              </a:solidFill>
              <a:prstDash val="solid"/>
            </a:ln>
          </p:spPr>
          <p:txBody>
            <a:bodyPr/>
            <a:lstStyle/>
            <a:p>
              <a:endParaRPr lang="es-CO" noProof="0" dirty="0"/>
            </a:p>
          </p:txBody>
        </p:sp>
        <p:sp>
          <p:nvSpPr>
            <p:cNvPr id="5" name="Text 3"/>
            <p:cNvSpPr/>
            <p:nvPr/>
          </p:nvSpPr>
          <p:spPr>
            <a:xfrm>
              <a:off x="1130300" y="2440781"/>
              <a:ext cx="4696079" cy="256480"/>
            </a:xfrm>
            <a:prstGeom prst="rect">
              <a:avLst/>
            </a:prstGeom>
            <a:noFill/>
            <a:ln/>
          </p:spPr>
          <p:txBody>
            <a:bodyPr wrap="square" lIns="0" tIns="0" rIns="0" bIns="0" rtlCol="0" anchor="t">
              <a:normAutofit/>
            </a:bodyPr>
            <a:lstStyle/>
            <a:p>
              <a:pPr marL="0" indent="0" algn="l">
                <a:lnSpc>
                  <a:spcPts val="1820"/>
                </a:lnSpc>
                <a:buNone/>
              </a:pPr>
              <a:endParaRPr lang="es-CO" sz="1300" noProof="0" dirty="0"/>
            </a:p>
          </p:txBody>
        </p:sp>
        <p:sp>
          <p:nvSpPr>
            <p:cNvPr id="6" name="Text 4"/>
            <p:cNvSpPr/>
            <p:nvPr/>
          </p:nvSpPr>
          <p:spPr>
            <a:xfrm>
              <a:off x="1130300" y="2598946"/>
              <a:ext cx="4696079" cy="1233739"/>
            </a:xfrm>
            <a:prstGeom prst="rect">
              <a:avLst/>
            </a:prstGeom>
            <a:noFill/>
            <a:ln/>
          </p:spPr>
          <p:txBody>
            <a:bodyPr wrap="square" lIns="0" tIns="0" rIns="0" bIns="0" rtlCol="0" anchor="t">
              <a:normAutofit fontScale="92500"/>
            </a:bodyPr>
            <a:lstStyle/>
            <a:p>
              <a:pPr algn="just">
                <a:lnSpc>
                  <a:spcPts val="2560"/>
                </a:lnSpc>
                <a:buSzPct val="100000"/>
              </a:pPr>
              <a:r>
                <a:rPr lang="es-CO" noProof="0" dirty="0">
                  <a:solidFill>
                    <a:schemeClr val="bg2">
                      <a:lumMod val="10000"/>
                    </a:schemeClr>
                  </a:solidFill>
                  <a:latin typeface="Nunito Sans" pitchFamily="34" charset="0"/>
                  <a:ea typeface="Nunito Sans" pitchFamily="34" charset="-122"/>
                  <a:cs typeface="Nunito Sans" pitchFamily="34" charset="-120"/>
                </a:rPr>
                <a:t>Si la petición involucra una transferencia de dinero, enviar archivos de empleados o clientes o divulgar información que consideras valiosa, pausa y verifica con la persona.</a:t>
              </a:r>
              <a:endParaRPr lang="es-CO" noProof="0" dirty="0">
                <a:solidFill>
                  <a:schemeClr val="bg2">
                    <a:lumMod val="10000"/>
                  </a:schemeClr>
                </a:solidFill>
              </a:endParaRPr>
            </a:p>
          </p:txBody>
        </p:sp>
        <p:sp>
          <p:nvSpPr>
            <p:cNvPr id="7" name="Text 5"/>
            <p:cNvSpPr/>
            <p:nvPr/>
          </p:nvSpPr>
          <p:spPr>
            <a:xfrm>
              <a:off x="1258316" y="4096702"/>
              <a:ext cx="4696079" cy="283170"/>
            </a:xfrm>
            <a:prstGeom prst="rect">
              <a:avLst/>
            </a:prstGeom>
            <a:noFill/>
            <a:ln/>
          </p:spPr>
          <p:txBody>
            <a:bodyPr wrap="square" lIns="0" tIns="0" rIns="0" bIns="0" rtlCol="0" anchor="t">
              <a:normAutofit/>
            </a:bodyPr>
            <a:lstStyle/>
            <a:p>
              <a:pPr marL="0" indent="0" algn="l">
                <a:lnSpc>
                  <a:spcPts val="2030"/>
                </a:lnSpc>
                <a:buNone/>
              </a:pPr>
              <a:r>
                <a:rPr lang="es-CO" sz="1400" noProof="0" dirty="0">
                  <a:solidFill>
                    <a:srgbClr val="6B7085"/>
                  </a:solidFill>
                  <a:latin typeface="Nunito Sans" pitchFamily="34" charset="0"/>
                  <a:ea typeface="Nunito Sans" pitchFamily="34" charset="-122"/>
                  <a:cs typeface="Nunito Sans" pitchFamily="34" charset="-120"/>
                </a:rPr>
                <a:t>Aunque parezca venir del jefe o de un cliente conocido.</a:t>
              </a:r>
              <a:endParaRPr lang="es-CO" sz="1400" noProof="0" dirty="0"/>
            </a:p>
          </p:txBody>
        </p:sp>
      </p:grpSp>
      <p:grpSp>
        <p:nvGrpSpPr>
          <p:cNvPr id="17" name="Group 16">
            <a:extLst>
              <a:ext uri="{FF2B5EF4-FFF2-40B4-BE49-F238E27FC236}">
                <a16:creationId xmlns:a16="http://schemas.microsoft.com/office/drawing/2014/main" id="{EE783F28-D70E-C5AF-4FA1-99E17C27172C}"/>
              </a:ext>
            </a:extLst>
          </p:cNvPr>
          <p:cNvGrpSpPr/>
          <p:nvPr/>
        </p:nvGrpSpPr>
        <p:grpSpPr>
          <a:xfrm>
            <a:off x="6228461" y="2301486"/>
            <a:ext cx="5168900" cy="2608760"/>
            <a:chOff x="6210300" y="2123282"/>
            <a:chExt cx="5168900" cy="2608760"/>
          </a:xfrm>
        </p:grpSpPr>
        <p:sp>
          <p:nvSpPr>
            <p:cNvPr id="8" name="Shape 6"/>
            <p:cNvSpPr/>
            <p:nvPr/>
          </p:nvSpPr>
          <p:spPr>
            <a:xfrm>
              <a:off x="6210300" y="2123282"/>
              <a:ext cx="5168900" cy="2608760"/>
            </a:xfrm>
            <a:prstGeom prst="roundRect">
              <a:avLst>
                <a:gd name="adj" fmla="val 4862"/>
              </a:avLst>
            </a:prstGeom>
            <a:solidFill>
              <a:srgbClr val="E9ECF4"/>
            </a:solidFill>
            <a:ln/>
          </p:spPr>
          <p:txBody>
            <a:bodyPr/>
            <a:lstStyle/>
            <a:p>
              <a:endParaRPr lang="es-CO" noProof="0" dirty="0"/>
            </a:p>
          </p:txBody>
        </p:sp>
        <p:sp>
          <p:nvSpPr>
            <p:cNvPr id="9" name="Text 7"/>
            <p:cNvSpPr/>
            <p:nvPr/>
          </p:nvSpPr>
          <p:spPr>
            <a:xfrm>
              <a:off x="6515100" y="2428081"/>
              <a:ext cx="4696079" cy="256480"/>
            </a:xfrm>
            <a:prstGeom prst="rect">
              <a:avLst/>
            </a:prstGeom>
            <a:noFill/>
            <a:ln/>
          </p:spPr>
          <p:txBody>
            <a:bodyPr wrap="square" lIns="0" tIns="0" rIns="0" bIns="0" rtlCol="0" anchor="t">
              <a:normAutofit/>
            </a:bodyPr>
            <a:lstStyle/>
            <a:p>
              <a:pPr marL="0" indent="0" algn="l">
                <a:lnSpc>
                  <a:spcPts val="1820"/>
                </a:lnSpc>
                <a:buNone/>
              </a:pPr>
              <a:r>
                <a:rPr lang="es-CO" sz="1300" b="1" kern="0" spc="100" noProof="0" dirty="0">
                  <a:solidFill>
                    <a:srgbClr val="2F3EBF"/>
                  </a:solidFill>
                  <a:latin typeface="Nunito Sans" pitchFamily="34" charset="0"/>
                  <a:ea typeface="Nunito Sans" pitchFamily="34" charset="-122"/>
                  <a:cs typeface="Nunito Sans" pitchFamily="34" charset="-120"/>
                </a:rPr>
                <a:t>PARA VERIFICAR:</a:t>
              </a:r>
              <a:endParaRPr lang="es-CO" sz="1300" noProof="0" dirty="0"/>
            </a:p>
          </p:txBody>
        </p:sp>
        <p:sp>
          <p:nvSpPr>
            <p:cNvPr id="10" name="Text 8"/>
            <p:cNvSpPr/>
            <p:nvPr/>
          </p:nvSpPr>
          <p:spPr>
            <a:xfrm>
              <a:off x="6553708" y="2786162"/>
              <a:ext cx="4650613" cy="1000522"/>
            </a:xfrm>
            <a:prstGeom prst="rect">
              <a:avLst/>
            </a:prstGeom>
            <a:noFill/>
            <a:ln/>
          </p:spPr>
          <p:txBody>
            <a:bodyPr wrap="square" lIns="0" tIns="0" rIns="0" bIns="0" rtlCol="0" anchor="t">
              <a:normAutofit/>
            </a:bodyPr>
            <a:lstStyle/>
            <a:p>
              <a:pPr marL="189992" indent="-189992" algn="l">
                <a:lnSpc>
                  <a:spcPts val="2560"/>
                </a:lnSpc>
                <a:buSzPct val="100000"/>
                <a:buChar char="•"/>
              </a:pPr>
              <a:r>
                <a:rPr lang="es-CO" noProof="0" dirty="0">
                  <a:solidFill>
                    <a:srgbClr val="1C2142"/>
                  </a:solidFill>
                  <a:latin typeface="Nunito Sans" pitchFamily="34" charset="0"/>
                  <a:ea typeface="Nunito Sans" pitchFamily="34" charset="-122"/>
                  <a:cs typeface="Nunito Sans" pitchFamily="34" charset="-120"/>
                </a:rPr>
                <a:t>Camina hasta su escritorio.</a:t>
              </a:r>
              <a:endParaRPr lang="es-CO" noProof="0" dirty="0"/>
            </a:p>
            <a:p>
              <a:pPr marL="189992" indent="-189992" algn="l">
                <a:lnSpc>
                  <a:spcPts val="2560"/>
                </a:lnSpc>
                <a:buSzPct val="100000"/>
                <a:buChar char="•"/>
              </a:pPr>
              <a:r>
                <a:rPr lang="es-CO" noProof="0" dirty="0">
                  <a:solidFill>
                    <a:srgbClr val="1C2142"/>
                  </a:solidFill>
                  <a:latin typeface="Nunito Sans" pitchFamily="34" charset="0"/>
                  <a:ea typeface="Nunito Sans" pitchFamily="34" charset="-122"/>
                  <a:cs typeface="Nunito Sans" pitchFamily="34" charset="-120"/>
                </a:rPr>
                <a:t>Llámalo su número personal.</a:t>
              </a:r>
              <a:endParaRPr lang="es-CO" noProof="0" dirty="0"/>
            </a:p>
            <a:p>
              <a:pPr marL="189992" indent="-189992" algn="l">
                <a:lnSpc>
                  <a:spcPts val="2560"/>
                </a:lnSpc>
                <a:buSzPct val="100000"/>
                <a:buChar char="•"/>
              </a:pPr>
              <a:r>
                <a:rPr lang="es-CO" noProof="0" dirty="0">
                  <a:solidFill>
                    <a:srgbClr val="1C2142"/>
                  </a:solidFill>
                  <a:latin typeface="Nunito Sans" pitchFamily="34" charset="0"/>
                  <a:ea typeface="Nunito Sans" pitchFamily="34" charset="-122"/>
                  <a:cs typeface="Nunito Sans" pitchFamily="34" charset="-120"/>
                </a:rPr>
                <a:t>Escríbele al número comprobado.</a:t>
              </a:r>
              <a:endParaRPr lang="es-CO" noProof="0" dirty="0"/>
            </a:p>
          </p:txBody>
        </p:sp>
        <p:sp>
          <p:nvSpPr>
            <p:cNvPr id="11" name="Text 9"/>
            <p:cNvSpPr/>
            <p:nvPr/>
          </p:nvSpPr>
          <p:spPr>
            <a:xfrm>
              <a:off x="6515100" y="3888284"/>
              <a:ext cx="4696079" cy="540941"/>
            </a:xfrm>
            <a:prstGeom prst="rect">
              <a:avLst/>
            </a:prstGeom>
            <a:noFill/>
            <a:ln/>
          </p:spPr>
          <p:txBody>
            <a:bodyPr wrap="square" lIns="0" tIns="0" rIns="0" bIns="0" rtlCol="0" anchor="t">
              <a:normAutofit/>
            </a:bodyPr>
            <a:lstStyle/>
            <a:p>
              <a:pPr marL="0" indent="0" algn="l">
                <a:lnSpc>
                  <a:spcPts val="2030"/>
                </a:lnSpc>
                <a:buNone/>
              </a:pPr>
              <a:r>
                <a:rPr lang="es-CO" sz="1400" noProof="0" dirty="0">
                  <a:solidFill>
                    <a:srgbClr val="4A5070"/>
                  </a:solidFill>
                  <a:latin typeface="Nunito Sans" pitchFamily="34" charset="0"/>
                  <a:ea typeface="Nunito Sans" pitchFamily="34" charset="-122"/>
                  <a:cs typeface="Nunito Sans" pitchFamily="34" charset="-120"/>
                </a:rPr>
                <a:t>Nunca respondas por el mismo canal por el que llegó la solicitud.</a:t>
              </a:r>
              <a:endParaRPr lang="es-CO" sz="1400" noProof="0" dirty="0"/>
            </a:p>
          </p:txBody>
        </p:sp>
      </p:grpSp>
      <p:pic>
        <p:nvPicPr>
          <p:cNvPr id="12" name="Image 0" descr="Trust"/>
          <p:cNvPicPr>
            <a:picLocks noChangeAspect="1"/>
          </p:cNvPicPr>
          <p:nvPr/>
        </p:nvPicPr>
        <p:blipFill>
          <a:blip r:embed="rId3"/>
          <a:srcRect/>
          <a:stretch/>
        </p:blipFill>
        <p:spPr>
          <a:xfrm>
            <a:off x="499150" y="5288955"/>
            <a:ext cx="304800" cy="304800"/>
          </a:xfrm>
          <a:prstGeom prst="rect">
            <a:avLst/>
          </a:prstGeom>
        </p:spPr>
      </p:pic>
      <p:sp>
        <p:nvSpPr>
          <p:cNvPr id="13" name="Text 10"/>
          <p:cNvSpPr/>
          <p:nvPr/>
        </p:nvSpPr>
        <p:spPr>
          <a:xfrm>
            <a:off x="847511" y="5299075"/>
            <a:ext cx="5452705" cy="309860"/>
          </a:xfrm>
          <a:prstGeom prst="rect">
            <a:avLst/>
          </a:prstGeom>
          <a:noFill/>
          <a:ln/>
        </p:spPr>
        <p:txBody>
          <a:bodyPr wrap="square" lIns="0" tIns="0" rIns="0" bIns="0" rtlCol="0" anchor="t">
            <a:normAutofit/>
          </a:bodyPr>
          <a:lstStyle/>
          <a:p>
            <a:pPr marL="0" indent="0" algn="l">
              <a:lnSpc>
                <a:spcPts val="2240"/>
              </a:lnSpc>
              <a:buNone/>
            </a:pPr>
            <a:r>
              <a:rPr lang="es-CO" sz="1600" noProof="0" dirty="0">
                <a:solidFill>
                  <a:srgbClr val="1C2142"/>
                </a:solidFill>
                <a:latin typeface="Nunito Sans" pitchFamily="34" charset="0"/>
                <a:ea typeface="Nunito Sans" pitchFamily="34" charset="-122"/>
                <a:cs typeface="Nunito Sans" pitchFamily="34" charset="-120"/>
              </a:rPr>
              <a:t>No adivines si el mensaje es real, mejor sigue el proceso.</a:t>
            </a:r>
            <a:endParaRPr lang="es-CO" sz="1600" noProof="0" dirty="0"/>
          </a:p>
        </p:txBody>
      </p:sp>
      <p:pic>
        <p:nvPicPr>
          <p:cNvPr id="14" name="Image 1" descr="Pralogy"/>
          <p:cNvPicPr>
            <a:picLocks noChangeAspect="1"/>
          </p:cNvPicPr>
          <p:nvPr/>
        </p:nvPicPr>
        <p:blipFill>
          <a:blip r:embed="rId4"/>
          <a:srcRect l="-62" r="-62"/>
          <a:stretch/>
        </p:blipFill>
        <p:spPr>
          <a:xfrm>
            <a:off x="812800" y="6273800"/>
            <a:ext cx="1111250" cy="228600"/>
          </a:xfrm>
          <a:prstGeom prst="rect">
            <a:avLst/>
          </a:prstGeom>
        </p:spPr>
      </p:pic>
      <p:sp>
        <p:nvSpPr>
          <p:cNvPr id="15" name="Text 11"/>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13</a:t>
            </a:r>
            <a:endParaRPr lang="es-CO" sz="1200" noProof="0" dirty="0"/>
          </a:p>
        </p:txBody>
      </p:sp>
      <p:pic>
        <p:nvPicPr>
          <p:cNvPr id="19" name="Picture 18">
            <a:extLst>
              <a:ext uri="{FF2B5EF4-FFF2-40B4-BE49-F238E27FC236}">
                <a16:creationId xmlns:a16="http://schemas.microsoft.com/office/drawing/2014/main" id="{73021D24-6B6D-09A5-F0BE-D9C80AF619D8}"/>
              </a:ext>
            </a:extLst>
          </p:cNvPr>
          <p:cNvPicPr>
            <a:picLocks noChangeAspect="1"/>
          </p:cNvPicPr>
          <p:nvPr/>
        </p:nvPicPr>
        <p:blipFill>
          <a:blip r:embed="rId5"/>
          <a:stretch>
            <a:fillRect/>
          </a:stretch>
        </p:blipFill>
        <p:spPr>
          <a:xfrm>
            <a:off x="10269728" y="2473644"/>
            <a:ext cx="1426464" cy="1426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9">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nSpc>
                <a:spcPts val="1960"/>
              </a:lnSpc>
            </a:pPr>
            <a:r>
              <a:rPr lang="es-CO" sz="1400" b="1" kern="0" spc="150" dirty="0">
                <a:solidFill>
                  <a:srgbClr val="2F3EBF"/>
                </a:solidFill>
                <a:latin typeface="Nunito Sans" pitchFamily="34" charset="0"/>
                <a:ea typeface="Nunito Sans" pitchFamily="34" charset="-122"/>
                <a:cs typeface="Nunito Sans" pitchFamily="34" charset="-120"/>
              </a:rPr>
              <a:t>BLOQUE 02: TRES HÁBITOS ÚTILES.</a:t>
            </a:r>
            <a:endParaRPr lang="es-CO" sz="1400" dirty="0"/>
          </a:p>
        </p:txBody>
      </p:sp>
      <p:sp>
        <p:nvSpPr>
          <p:cNvPr id="3" name="Text 1"/>
          <p:cNvSpPr>
            <a:spLocks noGrp="1"/>
          </p:cNvSpPr>
          <p:nvPr>
            <p:ph type="title"/>
          </p:nvPr>
        </p:nvSpPr>
        <p:spPr>
          <a:xfrm>
            <a:off x="812800" y="134104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Activa la verificación en dos pasos.</a:t>
            </a:r>
            <a:endParaRPr lang="es-CO" sz="3600" noProof="0" dirty="0"/>
          </a:p>
        </p:txBody>
      </p:sp>
      <p:sp>
        <p:nvSpPr>
          <p:cNvPr id="4" name="Shape 2"/>
          <p:cNvSpPr/>
          <p:nvPr/>
        </p:nvSpPr>
        <p:spPr>
          <a:xfrm>
            <a:off x="819150" y="2129631"/>
            <a:ext cx="3399334" cy="3124398"/>
          </a:xfrm>
          <a:prstGeom prst="roundRect">
            <a:avLst>
              <a:gd name="adj" fmla="val 4675"/>
            </a:avLst>
          </a:prstGeom>
          <a:solidFill>
            <a:srgbClr val="FCFBF8"/>
          </a:solidFill>
          <a:ln w="12700">
            <a:solidFill>
              <a:srgbClr val="DDE0EA"/>
            </a:solidFill>
            <a:prstDash val="solid"/>
          </a:ln>
        </p:spPr>
        <p:txBody>
          <a:bodyPr/>
          <a:lstStyle/>
          <a:p>
            <a:endParaRPr lang="es-CO" noProof="0" dirty="0"/>
          </a:p>
        </p:txBody>
      </p:sp>
      <p:pic>
        <p:nvPicPr>
          <p:cNvPr id="5" name="Image 0" descr="Celular"/>
          <p:cNvPicPr>
            <a:picLocks noChangeAspect="1"/>
          </p:cNvPicPr>
          <p:nvPr/>
        </p:nvPicPr>
        <p:blipFill>
          <a:blip r:embed="rId3"/>
          <a:srcRect/>
          <a:stretch/>
        </p:blipFill>
        <p:spPr>
          <a:xfrm>
            <a:off x="1130300" y="2440781"/>
            <a:ext cx="406400" cy="406400"/>
          </a:xfrm>
          <a:prstGeom prst="rect">
            <a:avLst/>
          </a:prstGeom>
        </p:spPr>
      </p:pic>
      <p:sp>
        <p:nvSpPr>
          <p:cNvPr id="6" name="Text 3"/>
          <p:cNvSpPr/>
          <p:nvPr/>
        </p:nvSpPr>
        <p:spPr>
          <a:xfrm>
            <a:off x="1130300" y="2999581"/>
            <a:ext cx="2860345" cy="6350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¿Qué es?</a:t>
            </a:r>
            <a:endParaRPr lang="es-CO" sz="2000" noProof="0" dirty="0"/>
          </a:p>
        </p:txBody>
      </p:sp>
      <p:sp>
        <p:nvSpPr>
          <p:cNvPr id="7" name="Text 4"/>
          <p:cNvSpPr/>
          <p:nvPr/>
        </p:nvSpPr>
        <p:spPr>
          <a:xfrm>
            <a:off x="1130301" y="3761581"/>
            <a:ext cx="2755900" cy="1130300"/>
          </a:xfrm>
          <a:prstGeom prst="rect">
            <a:avLst/>
          </a:prstGeom>
          <a:noFill/>
          <a:ln/>
        </p:spPr>
        <p:txBody>
          <a:bodyPr wrap="square" lIns="0" tIns="0" rIns="0" bIns="0" rtlCol="0" anchor="t">
            <a:noAutofit/>
          </a:bodyPr>
          <a:lstStyle/>
          <a:p>
            <a:pPr marL="0" indent="0" algn="l">
              <a:lnSpc>
                <a:spcPts val="2175"/>
              </a:lnSpc>
              <a:buNone/>
            </a:pPr>
            <a:r>
              <a:rPr lang="es-CO" noProof="0" dirty="0">
                <a:solidFill>
                  <a:schemeClr val="bg2">
                    <a:lumMod val="10000"/>
                  </a:schemeClr>
                </a:solidFill>
                <a:latin typeface="Nunito Sans" pitchFamily="34" charset="0"/>
                <a:ea typeface="Nunito Sans" pitchFamily="34" charset="-122"/>
                <a:cs typeface="Nunito Sans" pitchFamily="34" charset="-120"/>
              </a:rPr>
              <a:t>Además de la contraseña, la cuenta te pide un código o una confirmación en tu celular.</a:t>
            </a:r>
            <a:endParaRPr lang="es-CO" noProof="0" dirty="0">
              <a:solidFill>
                <a:schemeClr val="bg2">
                  <a:lumMod val="10000"/>
                </a:schemeClr>
              </a:solidFill>
            </a:endParaRPr>
          </a:p>
        </p:txBody>
      </p:sp>
      <p:sp>
        <p:nvSpPr>
          <p:cNvPr id="8" name="Shape 5"/>
          <p:cNvSpPr/>
          <p:nvPr/>
        </p:nvSpPr>
        <p:spPr>
          <a:xfrm>
            <a:off x="4408984" y="2129631"/>
            <a:ext cx="3399433" cy="3124398"/>
          </a:xfrm>
          <a:prstGeom prst="roundRect">
            <a:avLst>
              <a:gd name="adj" fmla="val 4675"/>
            </a:avLst>
          </a:prstGeom>
          <a:solidFill>
            <a:srgbClr val="FCFBF8"/>
          </a:solidFill>
          <a:ln w="12700">
            <a:solidFill>
              <a:srgbClr val="DDE0EA"/>
            </a:solidFill>
            <a:prstDash val="solid"/>
          </a:ln>
        </p:spPr>
        <p:txBody>
          <a:bodyPr/>
          <a:lstStyle/>
          <a:p>
            <a:endParaRPr lang="es-CO" noProof="0" dirty="0"/>
          </a:p>
        </p:txBody>
      </p:sp>
      <p:pic>
        <p:nvPicPr>
          <p:cNvPr id="9" name="Image 1" descr="Escudo"/>
          <p:cNvPicPr>
            <a:picLocks noChangeAspect="1"/>
          </p:cNvPicPr>
          <p:nvPr/>
        </p:nvPicPr>
        <p:blipFill>
          <a:blip r:embed="rId4"/>
          <a:srcRect/>
          <a:stretch/>
        </p:blipFill>
        <p:spPr>
          <a:xfrm>
            <a:off x="4720134" y="2440781"/>
            <a:ext cx="406400" cy="406400"/>
          </a:xfrm>
          <a:prstGeom prst="rect">
            <a:avLst/>
          </a:prstGeom>
        </p:spPr>
      </p:pic>
      <p:sp>
        <p:nvSpPr>
          <p:cNvPr id="10" name="Text 6"/>
          <p:cNvSpPr/>
          <p:nvPr/>
        </p:nvSpPr>
        <p:spPr>
          <a:xfrm>
            <a:off x="4720134" y="2999581"/>
            <a:ext cx="2860447" cy="6350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¿Por qué es útil?</a:t>
            </a:r>
            <a:endParaRPr lang="es-CO" sz="2000" noProof="0" dirty="0"/>
          </a:p>
        </p:txBody>
      </p:sp>
      <p:sp>
        <p:nvSpPr>
          <p:cNvPr id="11" name="Text 7"/>
          <p:cNvSpPr/>
          <p:nvPr/>
        </p:nvSpPr>
        <p:spPr>
          <a:xfrm>
            <a:off x="4720134" y="3761581"/>
            <a:ext cx="2860447" cy="1130300"/>
          </a:xfrm>
          <a:prstGeom prst="rect">
            <a:avLst/>
          </a:prstGeom>
          <a:noFill/>
          <a:ln/>
        </p:spPr>
        <p:txBody>
          <a:bodyPr wrap="square" lIns="0" tIns="0" rIns="0" bIns="0" rtlCol="0" anchor="t">
            <a:noAutofit/>
          </a:bodyPr>
          <a:lstStyle/>
          <a:p>
            <a:pPr marL="0" indent="0">
              <a:lnSpc>
                <a:spcPts val="2175"/>
              </a:lnSpc>
              <a:buNone/>
            </a:pPr>
            <a:r>
              <a:rPr lang="es-CO" noProof="0" dirty="0">
                <a:solidFill>
                  <a:schemeClr val="bg2">
                    <a:lumMod val="10000"/>
                  </a:schemeClr>
                </a:solidFill>
                <a:latin typeface="Nunito Sans" pitchFamily="34" charset="0"/>
                <a:ea typeface="Nunito Sans" pitchFamily="34" charset="-122"/>
                <a:cs typeface="Nunito Sans" pitchFamily="34" charset="-120"/>
              </a:rPr>
              <a:t>Si un día entregas tu contraseña por error, el atacante igual no puede entrar.</a:t>
            </a:r>
            <a:endParaRPr lang="es-CO" noProof="0" dirty="0">
              <a:solidFill>
                <a:schemeClr val="bg2">
                  <a:lumMod val="10000"/>
                </a:schemeClr>
              </a:solidFill>
            </a:endParaRPr>
          </a:p>
        </p:txBody>
      </p:sp>
      <p:sp>
        <p:nvSpPr>
          <p:cNvPr id="12" name="Shape 8"/>
          <p:cNvSpPr/>
          <p:nvPr/>
        </p:nvSpPr>
        <p:spPr>
          <a:xfrm>
            <a:off x="7992566" y="2129631"/>
            <a:ext cx="3386634" cy="3124398"/>
          </a:xfrm>
          <a:prstGeom prst="roundRect">
            <a:avLst>
              <a:gd name="adj" fmla="val 4858"/>
            </a:avLst>
          </a:prstGeom>
          <a:solidFill>
            <a:srgbClr val="E9ECF4"/>
          </a:solidFill>
          <a:ln/>
        </p:spPr>
        <p:txBody>
          <a:bodyPr/>
          <a:lstStyle/>
          <a:p>
            <a:endParaRPr lang="es-CO" noProof="0" dirty="0"/>
          </a:p>
        </p:txBody>
      </p:sp>
      <p:pic>
        <p:nvPicPr>
          <p:cNvPr id="13" name="Image 2" descr="Reloj"/>
          <p:cNvPicPr>
            <a:picLocks noChangeAspect="1"/>
          </p:cNvPicPr>
          <p:nvPr/>
        </p:nvPicPr>
        <p:blipFill>
          <a:blip r:embed="rId5"/>
          <a:srcRect/>
          <a:stretch/>
        </p:blipFill>
        <p:spPr>
          <a:xfrm>
            <a:off x="8297366" y="2440781"/>
            <a:ext cx="406400" cy="406400"/>
          </a:xfrm>
          <a:prstGeom prst="rect">
            <a:avLst/>
          </a:prstGeom>
        </p:spPr>
      </p:pic>
      <p:sp>
        <p:nvSpPr>
          <p:cNvPr id="14" name="Text 9"/>
          <p:cNvSpPr/>
          <p:nvPr/>
        </p:nvSpPr>
        <p:spPr>
          <a:xfrm>
            <a:off x="8297366" y="2999581"/>
            <a:ext cx="2860345" cy="6350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¿Cómo activarla?</a:t>
            </a:r>
            <a:endParaRPr lang="es-CO" sz="2000" noProof="0" dirty="0"/>
          </a:p>
        </p:txBody>
      </p:sp>
      <p:sp>
        <p:nvSpPr>
          <p:cNvPr id="15" name="Text 10"/>
          <p:cNvSpPr/>
          <p:nvPr/>
        </p:nvSpPr>
        <p:spPr>
          <a:xfrm>
            <a:off x="8297366" y="3761581"/>
            <a:ext cx="2860345" cy="1130300"/>
          </a:xfrm>
          <a:prstGeom prst="rect">
            <a:avLst/>
          </a:prstGeom>
          <a:noFill/>
          <a:ln/>
        </p:spPr>
        <p:txBody>
          <a:bodyPr wrap="square" lIns="0" tIns="0" rIns="0" bIns="0" rtlCol="0" anchor="t">
            <a:noAutofit/>
          </a:bodyPr>
          <a:lstStyle/>
          <a:p>
            <a:pPr marL="0" indent="0">
              <a:lnSpc>
                <a:spcPts val="2175"/>
              </a:lnSpc>
              <a:buNone/>
            </a:pPr>
            <a:r>
              <a:rPr lang="es-CO" noProof="0" dirty="0">
                <a:solidFill>
                  <a:schemeClr val="bg2">
                    <a:lumMod val="10000"/>
                  </a:schemeClr>
                </a:solidFill>
                <a:latin typeface="Nunito Sans" pitchFamily="34" charset="0"/>
                <a:ea typeface="Nunito Sans" pitchFamily="34" charset="-122"/>
                <a:cs typeface="Nunito Sans" pitchFamily="34" charset="-120"/>
              </a:rPr>
              <a:t>Búscala en la configuración de seguridad de tu correo, tus apps del banco y tus apps de mensajería.</a:t>
            </a:r>
            <a:endParaRPr lang="es-CO" noProof="0" dirty="0">
              <a:solidFill>
                <a:schemeClr val="bg2">
                  <a:lumMod val="10000"/>
                </a:schemeClr>
              </a:solidFill>
            </a:endParaRPr>
          </a:p>
        </p:txBody>
      </p:sp>
      <p:sp>
        <p:nvSpPr>
          <p:cNvPr id="16" name="Text 11"/>
          <p:cNvSpPr/>
          <p:nvPr/>
        </p:nvSpPr>
        <p:spPr>
          <a:xfrm>
            <a:off x="812800" y="5539780"/>
            <a:ext cx="10883392" cy="327620"/>
          </a:xfrm>
          <a:prstGeom prst="rect">
            <a:avLst/>
          </a:prstGeom>
          <a:noFill/>
          <a:ln/>
        </p:spPr>
        <p:txBody>
          <a:bodyPr wrap="square" lIns="0" tIns="0" rIns="0" bIns="0" rtlCol="0" anchor="t">
            <a:noAutofit/>
          </a:bodyPr>
          <a:lstStyle/>
          <a:p>
            <a:pPr marL="0" indent="0" algn="l">
              <a:lnSpc>
                <a:spcPts val="2380"/>
              </a:lnSpc>
              <a:buNone/>
            </a:pPr>
            <a:r>
              <a:rPr lang="es-CO" sz="1600" noProof="0" dirty="0">
                <a:solidFill>
                  <a:srgbClr val="1C2142"/>
                </a:solidFill>
                <a:latin typeface="Nunito Sans" pitchFamily="34" charset="0"/>
                <a:ea typeface="Nunito Sans" pitchFamily="34" charset="-122"/>
                <a:cs typeface="Nunito Sans" pitchFamily="34" charset="-120"/>
              </a:rPr>
              <a:t>¡Nunca compartas el código!</a:t>
            </a:r>
            <a:endParaRPr lang="es-CO" sz="1700" noProof="0" dirty="0"/>
          </a:p>
        </p:txBody>
      </p:sp>
      <p:pic>
        <p:nvPicPr>
          <p:cNvPr id="17" name="Image 3" descr="Pralogy"/>
          <p:cNvPicPr>
            <a:picLocks noChangeAspect="1"/>
          </p:cNvPicPr>
          <p:nvPr/>
        </p:nvPicPr>
        <p:blipFill>
          <a:blip r:embed="rId6"/>
          <a:srcRect l="-62" r="-62"/>
          <a:stretch/>
        </p:blipFill>
        <p:spPr>
          <a:xfrm>
            <a:off x="812800" y="6273800"/>
            <a:ext cx="1111250" cy="228600"/>
          </a:xfrm>
          <a:prstGeom prst="rect">
            <a:avLst/>
          </a:prstGeom>
        </p:spPr>
      </p:pic>
      <p:sp>
        <p:nvSpPr>
          <p:cNvPr id="18" name="Text 12"/>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14</a:t>
            </a:r>
            <a:endParaRPr lang="es-CO" sz="1200"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4">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EXTRA · </a:t>
            </a:r>
            <a:r>
              <a:rPr lang="es-CO" sz="1400" b="1" kern="0" spc="150" dirty="0">
                <a:solidFill>
                  <a:srgbClr val="2F3EBF"/>
                </a:solidFill>
                <a:latin typeface="Nunito Sans" pitchFamily="34" charset="0"/>
                <a:ea typeface="Nunito Sans" pitchFamily="34" charset="-122"/>
                <a:cs typeface="Nunito Sans" pitchFamily="34" charset="-120"/>
              </a:rPr>
              <a:t>A DÓNDE VAN LOS DATOS CON </a:t>
            </a:r>
            <a:r>
              <a:rPr lang="es-CO" sz="1400" b="1" kern="0" spc="150" noProof="0" dirty="0">
                <a:solidFill>
                  <a:srgbClr val="2F3EBF"/>
                </a:solidFill>
                <a:latin typeface="Nunito Sans" pitchFamily="34" charset="0"/>
                <a:ea typeface="Nunito Sans" pitchFamily="34" charset="-122"/>
                <a:cs typeface="Nunito Sans" pitchFamily="34" charset="-120"/>
              </a:rPr>
              <a:t>LA IA</a:t>
            </a:r>
            <a:endParaRPr lang="es-CO" sz="1400" noProof="0" dirty="0"/>
          </a:p>
        </p:txBody>
      </p:sp>
      <p:sp>
        <p:nvSpPr>
          <p:cNvPr id="3" name="Text 1"/>
          <p:cNvSpPr>
            <a:spLocks noGrp="1"/>
          </p:cNvSpPr>
          <p:nvPr>
            <p:ph type="title"/>
          </p:nvPr>
        </p:nvSpPr>
        <p:spPr>
          <a:xfrm>
            <a:off x="812800" y="134104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¿A dónde van las conversaciones con la IA?</a:t>
            </a:r>
            <a:endParaRPr lang="es-CO" sz="3600" noProof="0" dirty="0"/>
          </a:p>
        </p:txBody>
      </p:sp>
      <p:pic>
        <p:nvPicPr>
          <p:cNvPr id="19" name="Image 2" descr="Pralogy"/>
          <p:cNvPicPr>
            <a:picLocks noChangeAspect="1"/>
          </p:cNvPicPr>
          <p:nvPr/>
        </p:nvPicPr>
        <p:blipFill>
          <a:blip r:embed="rId3"/>
          <a:srcRect l="-62" r="-62"/>
          <a:stretch/>
        </p:blipFill>
        <p:spPr>
          <a:xfrm>
            <a:off x="812800" y="6273800"/>
            <a:ext cx="1111250" cy="228600"/>
          </a:xfrm>
          <a:prstGeom prst="rect">
            <a:avLst/>
          </a:prstGeom>
        </p:spPr>
      </p:pic>
      <p:sp>
        <p:nvSpPr>
          <p:cNvPr id="20" name="Text 15"/>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15</a:t>
            </a:r>
            <a:endParaRPr lang="es-CO" sz="1200" noProof="0" dirty="0"/>
          </a:p>
        </p:txBody>
      </p:sp>
      <p:pic>
        <p:nvPicPr>
          <p:cNvPr id="26" name="Picture 25">
            <a:extLst>
              <a:ext uri="{FF2B5EF4-FFF2-40B4-BE49-F238E27FC236}">
                <a16:creationId xmlns:a16="http://schemas.microsoft.com/office/drawing/2014/main" id="{DAC38338-BFF1-F010-F09D-CD21C32C5A76}"/>
              </a:ext>
            </a:extLst>
          </p:cNvPr>
          <p:cNvPicPr>
            <a:picLocks noChangeAspect="1"/>
          </p:cNvPicPr>
          <p:nvPr/>
        </p:nvPicPr>
        <p:blipFill>
          <a:blip r:embed="rId4"/>
          <a:srcRect l="14753" r="14791"/>
          <a:stretch>
            <a:fillRect/>
          </a:stretch>
        </p:blipFill>
        <p:spPr>
          <a:xfrm>
            <a:off x="7400685" y="2423919"/>
            <a:ext cx="1823245" cy="2587752"/>
          </a:xfrm>
          <a:prstGeom prst="rect">
            <a:avLst/>
          </a:prstGeom>
        </p:spPr>
      </p:pic>
      <p:cxnSp>
        <p:nvCxnSpPr>
          <p:cNvPr id="28" name="Straight Arrow Connector 27">
            <a:extLst>
              <a:ext uri="{FF2B5EF4-FFF2-40B4-BE49-F238E27FC236}">
                <a16:creationId xmlns:a16="http://schemas.microsoft.com/office/drawing/2014/main" id="{F3290B9C-2DBC-9231-D176-BDAB77CC98AB}"/>
              </a:ext>
            </a:extLst>
          </p:cNvPr>
          <p:cNvCxnSpPr>
            <a:cxnSpLocks/>
            <a:stCxn id="22" idx="1"/>
            <a:endCxn id="24" idx="1"/>
          </p:cNvCxnSpPr>
          <p:nvPr/>
        </p:nvCxnSpPr>
        <p:spPr>
          <a:xfrm flipV="1">
            <a:off x="2968069" y="3643642"/>
            <a:ext cx="1545725" cy="451667"/>
          </a:xfrm>
          <a:prstGeom prst="straightConnector1">
            <a:avLst/>
          </a:prstGeom>
          <a:ln w="28575">
            <a:solidFill>
              <a:schemeClr val="bg2">
                <a:lumMod val="1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0430247D-1882-0061-4640-8CE20D72D58C}"/>
              </a:ext>
            </a:extLst>
          </p:cNvPr>
          <p:cNvGrpSpPr/>
          <p:nvPr/>
        </p:nvGrpSpPr>
        <p:grpSpPr>
          <a:xfrm>
            <a:off x="550878" y="3178947"/>
            <a:ext cx="2417191" cy="2479055"/>
            <a:chOff x="1560448" y="2892850"/>
            <a:chExt cx="2417191" cy="2479055"/>
          </a:xfrm>
        </p:grpSpPr>
        <p:pic>
          <p:nvPicPr>
            <p:cNvPr id="22" name="Picture 21">
              <a:extLst>
                <a:ext uri="{FF2B5EF4-FFF2-40B4-BE49-F238E27FC236}">
                  <a16:creationId xmlns:a16="http://schemas.microsoft.com/office/drawing/2014/main" id="{C44D13A9-098A-E323-24E7-68E882C5F975}"/>
                </a:ext>
              </a:extLst>
            </p:cNvPr>
            <p:cNvPicPr>
              <a:picLocks noChangeAspect="1"/>
            </p:cNvPicPr>
            <p:nvPr/>
          </p:nvPicPr>
          <p:blipFill>
            <a:blip r:embed="rId5"/>
            <a:srcRect l="11244" t="20800" r="11556" b="20667"/>
            <a:stretch>
              <a:fillRect/>
            </a:stretch>
          </p:blipFill>
          <p:spPr>
            <a:xfrm flipH="1">
              <a:off x="1560448" y="2892850"/>
              <a:ext cx="2417191" cy="1832724"/>
            </a:xfrm>
            <a:prstGeom prst="rect">
              <a:avLst/>
            </a:prstGeom>
          </p:spPr>
        </p:pic>
        <p:sp>
          <p:nvSpPr>
            <p:cNvPr id="32" name="TextBox 31">
              <a:extLst>
                <a:ext uri="{FF2B5EF4-FFF2-40B4-BE49-F238E27FC236}">
                  <a16:creationId xmlns:a16="http://schemas.microsoft.com/office/drawing/2014/main" id="{4FD9C339-7386-8AD5-69F7-63F6ED716787}"/>
                </a:ext>
              </a:extLst>
            </p:cNvPr>
            <p:cNvSpPr txBox="1"/>
            <p:nvPr/>
          </p:nvSpPr>
          <p:spPr>
            <a:xfrm>
              <a:off x="1764792" y="4725574"/>
              <a:ext cx="1783080" cy="646331"/>
            </a:xfrm>
            <a:prstGeom prst="rect">
              <a:avLst/>
            </a:prstGeom>
            <a:noFill/>
          </p:spPr>
          <p:txBody>
            <a:bodyPr wrap="square" rtlCol="0">
              <a:spAutoFit/>
            </a:bodyPr>
            <a:lstStyle/>
            <a:p>
              <a:r>
                <a:rPr lang="en-US" dirty="0"/>
                <a:t>Charlas </a:t>
              </a:r>
              <a:r>
                <a:rPr lang="en-US" dirty="0" err="1"/>
                <a:t>por</a:t>
              </a:r>
              <a:r>
                <a:rPr lang="en-US" dirty="0"/>
                <a:t> chat con </a:t>
              </a:r>
              <a:r>
                <a:rPr lang="en-US" dirty="0" err="1"/>
                <a:t>una</a:t>
              </a:r>
              <a:r>
                <a:rPr lang="en-US" dirty="0"/>
                <a:t> IA</a:t>
              </a:r>
            </a:p>
          </p:txBody>
        </p:sp>
      </p:grpSp>
      <p:grpSp>
        <p:nvGrpSpPr>
          <p:cNvPr id="58" name="Group 57">
            <a:extLst>
              <a:ext uri="{FF2B5EF4-FFF2-40B4-BE49-F238E27FC236}">
                <a16:creationId xmlns:a16="http://schemas.microsoft.com/office/drawing/2014/main" id="{D0BE1F0C-2F57-C27E-5E06-99771BCC431D}"/>
              </a:ext>
            </a:extLst>
          </p:cNvPr>
          <p:cNvGrpSpPr/>
          <p:nvPr/>
        </p:nvGrpSpPr>
        <p:grpSpPr>
          <a:xfrm>
            <a:off x="4513794" y="3149413"/>
            <a:ext cx="1177534" cy="1357790"/>
            <a:chOff x="5112286" y="2971800"/>
            <a:chExt cx="1177534" cy="1357790"/>
          </a:xfrm>
        </p:grpSpPr>
        <p:pic>
          <p:nvPicPr>
            <p:cNvPr id="24" name="Picture 23">
              <a:extLst>
                <a:ext uri="{FF2B5EF4-FFF2-40B4-BE49-F238E27FC236}">
                  <a16:creationId xmlns:a16="http://schemas.microsoft.com/office/drawing/2014/main" id="{F4C9B853-F92E-594C-B42A-DECA7BBF44D3}"/>
                </a:ext>
              </a:extLst>
            </p:cNvPr>
            <p:cNvPicPr>
              <a:picLocks noChangeAspect="1"/>
            </p:cNvPicPr>
            <p:nvPr/>
          </p:nvPicPr>
          <p:blipFill>
            <a:blip r:embed="rId6"/>
            <a:srcRect l="20317" t="25140" r="21696" b="26185"/>
            <a:stretch>
              <a:fillRect/>
            </a:stretch>
          </p:blipFill>
          <p:spPr>
            <a:xfrm>
              <a:off x="5112286" y="2971800"/>
              <a:ext cx="1177533" cy="988458"/>
            </a:xfrm>
            <a:prstGeom prst="rect">
              <a:avLst/>
            </a:prstGeom>
          </p:spPr>
        </p:pic>
        <p:sp>
          <p:nvSpPr>
            <p:cNvPr id="35" name="TextBox 34">
              <a:extLst>
                <a:ext uri="{FF2B5EF4-FFF2-40B4-BE49-F238E27FC236}">
                  <a16:creationId xmlns:a16="http://schemas.microsoft.com/office/drawing/2014/main" id="{75497DDF-E4F4-36E3-609B-FB82081526D3}"/>
                </a:ext>
              </a:extLst>
            </p:cNvPr>
            <p:cNvSpPr txBox="1"/>
            <p:nvPr/>
          </p:nvSpPr>
          <p:spPr>
            <a:xfrm>
              <a:off x="5205113" y="3960258"/>
              <a:ext cx="1084707" cy="369332"/>
            </a:xfrm>
            <a:prstGeom prst="rect">
              <a:avLst/>
            </a:prstGeom>
            <a:noFill/>
          </p:spPr>
          <p:txBody>
            <a:bodyPr wrap="square" rtlCol="0">
              <a:spAutoFit/>
            </a:bodyPr>
            <a:lstStyle/>
            <a:p>
              <a:r>
                <a:rPr lang="en-US" dirty="0"/>
                <a:t>Internet</a:t>
              </a:r>
            </a:p>
          </p:txBody>
        </p:sp>
      </p:grpSp>
      <p:cxnSp>
        <p:nvCxnSpPr>
          <p:cNvPr id="39" name="Straight Arrow Connector 38">
            <a:extLst>
              <a:ext uri="{FF2B5EF4-FFF2-40B4-BE49-F238E27FC236}">
                <a16:creationId xmlns:a16="http://schemas.microsoft.com/office/drawing/2014/main" id="{4F6510A8-3959-5933-BEFC-FD52A46D9F8E}"/>
              </a:ext>
            </a:extLst>
          </p:cNvPr>
          <p:cNvCxnSpPr>
            <a:cxnSpLocks/>
            <a:stCxn id="24" idx="3"/>
            <a:endCxn id="26" idx="1"/>
          </p:cNvCxnSpPr>
          <p:nvPr/>
        </p:nvCxnSpPr>
        <p:spPr>
          <a:xfrm>
            <a:off x="5691327" y="3643642"/>
            <a:ext cx="1709358" cy="74153"/>
          </a:xfrm>
          <a:prstGeom prst="straightConnector1">
            <a:avLst/>
          </a:prstGeom>
          <a:ln w="28575">
            <a:solidFill>
              <a:schemeClr val="bg2">
                <a:lumMod val="1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51" name="Graphic 50" descr="Chat outline">
            <a:extLst>
              <a:ext uri="{FF2B5EF4-FFF2-40B4-BE49-F238E27FC236}">
                <a16:creationId xmlns:a16="http://schemas.microsoft.com/office/drawing/2014/main" id="{0ADC5FBB-BCAC-5A7B-82A6-70C2BFD7E0F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607985" y="4095309"/>
            <a:ext cx="744159" cy="744159"/>
          </a:xfrm>
          <a:prstGeom prst="rect">
            <a:avLst/>
          </a:prstGeom>
        </p:spPr>
      </p:pic>
      <p:sp>
        <p:nvSpPr>
          <p:cNvPr id="60" name="TextBox 59">
            <a:extLst>
              <a:ext uri="{FF2B5EF4-FFF2-40B4-BE49-F238E27FC236}">
                <a16:creationId xmlns:a16="http://schemas.microsoft.com/office/drawing/2014/main" id="{8044C558-C481-773A-5426-14FEB0489560}"/>
              </a:ext>
            </a:extLst>
          </p:cNvPr>
          <p:cNvSpPr txBox="1"/>
          <p:nvPr/>
        </p:nvSpPr>
        <p:spPr>
          <a:xfrm>
            <a:off x="7440850" y="5054117"/>
            <a:ext cx="1783080" cy="646331"/>
          </a:xfrm>
          <a:prstGeom prst="rect">
            <a:avLst/>
          </a:prstGeom>
          <a:noFill/>
        </p:spPr>
        <p:txBody>
          <a:bodyPr wrap="square" rtlCol="0">
            <a:spAutoFit/>
          </a:bodyPr>
          <a:lstStyle/>
          <a:p>
            <a:pPr algn="ctr"/>
            <a:r>
              <a:rPr lang="en-US" dirty="0" err="1"/>
              <a:t>Servidor</a:t>
            </a:r>
            <a:r>
              <a:rPr lang="en-US" dirty="0"/>
              <a:t> de la </a:t>
            </a:r>
            <a:r>
              <a:rPr lang="en-US" dirty="0" err="1"/>
              <a:t>empresa</a:t>
            </a:r>
            <a:r>
              <a:rPr lang="en-US" dirty="0"/>
              <a:t> IA</a:t>
            </a:r>
          </a:p>
        </p:txBody>
      </p:sp>
      <p:pic>
        <p:nvPicPr>
          <p:cNvPr id="63" name="Picture 62">
            <a:extLst>
              <a:ext uri="{FF2B5EF4-FFF2-40B4-BE49-F238E27FC236}">
                <a16:creationId xmlns:a16="http://schemas.microsoft.com/office/drawing/2014/main" id="{1F7EA8D7-9C22-AE31-FFE1-73850F66DC12}"/>
              </a:ext>
            </a:extLst>
          </p:cNvPr>
          <p:cNvPicPr>
            <a:picLocks noChangeAspect="1"/>
          </p:cNvPicPr>
          <p:nvPr/>
        </p:nvPicPr>
        <p:blipFill>
          <a:blip r:embed="rId8"/>
          <a:stretch>
            <a:fillRect/>
          </a:stretch>
        </p:blipFill>
        <p:spPr>
          <a:xfrm>
            <a:off x="10562130" y="3424334"/>
            <a:ext cx="905256" cy="905256"/>
          </a:xfrm>
          <a:prstGeom prst="rect">
            <a:avLst/>
          </a:prstGeom>
        </p:spPr>
      </p:pic>
      <p:cxnSp>
        <p:nvCxnSpPr>
          <p:cNvPr id="64" name="Straight Arrow Connector 63">
            <a:extLst>
              <a:ext uri="{FF2B5EF4-FFF2-40B4-BE49-F238E27FC236}">
                <a16:creationId xmlns:a16="http://schemas.microsoft.com/office/drawing/2014/main" id="{90CF6907-6C73-58F0-DAD3-AA8FDA89E016}"/>
              </a:ext>
            </a:extLst>
          </p:cNvPr>
          <p:cNvCxnSpPr>
            <a:cxnSpLocks/>
            <a:stCxn id="26" idx="3"/>
          </p:cNvCxnSpPr>
          <p:nvPr/>
        </p:nvCxnSpPr>
        <p:spPr>
          <a:xfrm>
            <a:off x="9223930" y="3717795"/>
            <a:ext cx="1338200" cy="48530"/>
          </a:xfrm>
          <a:prstGeom prst="straightConnector1">
            <a:avLst/>
          </a:prstGeom>
          <a:ln w="28575">
            <a:solidFill>
              <a:schemeClr val="bg2">
                <a:lumMod val="1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0" name="TextBox 69">
            <a:extLst>
              <a:ext uri="{FF2B5EF4-FFF2-40B4-BE49-F238E27FC236}">
                <a16:creationId xmlns:a16="http://schemas.microsoft.com/office/drawing/2014/main" id="{C325089C-619B-4155-98A7-05F48A1E565A}"/>
              </a:ext>
            </a:extLst>
          </p:cNvPr>
          <p:cNvSpPr txBox="1"/>
          <p:nvPr/>
        </p:nvSpPr>
        <p:spPr>
          <a:xfrm>
            <a:off x="10103136" y="4322537"/>
            <a:ext cx="1823244" cy="369332"/>
          </a:xfrm>
          <a:prstGeom prst="rect">
            <a:avLst/>
          </a:prstGeom>
          <a:noFill/>
        </p:spPr>
        <p:txBody>
          <a:bodyPr wrap="square">
            <a:spAutoFit/>
          </a:bodyPr>
          <a:lstStyle/>
          <a:p>
            <a:pPr algn="ctr"/>
            <a:r>
              <a:rPr lang="en-US" sz="1800" dirty="0"/>
              <a:t>Base de </a:t>
            </a:r>
            <a:r>
              <a:rPr lang="en-US" sz="1800" dirty="0" err="1"/>
              <a:t>datos</a:t>
            </a:r>
            <a:endParaRPr lang="en-US" dirty="0"/>
          </a:p>
        </p:txBody>
      </p:sp>
      <p:pic>
        <p:nvPicPr>
          <p:cNvPr id="77" name="Graphic 76" descr="Postit Notes 3 with solid fill">
            <a:extLst>
              <a:ext uri="{FF2B5EF4-FFF2-40B4-BE49-F238E27FC236}">
                <a16:creationId xmlns:a16="http://schemas.microsoft.com/office/drawing/2014/main" id="{6601D943-D031-C7DF-7319-79A7BAA39E0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700434" y="3226897"/>
            <a:ext cx="442563" cy="442563"/>
          </a:xfrm>
          <a:prstGeom prst="rect">
            <a:avLst/>
          </a:prstGeom>
        </p:spPr>
      </p:pic>
      <p:pic>
        <p:nvPicPr>
          <p:cNvPr id="84" name="Graphic 83" descr="Chat outline">
            <a:extLst>
              <a:ext uri="{FF2B5EF4-FFF2-40B4-BE49-F238E27FC236}">
                <a16:creationId xmlns:a16="http://schemas.microsoft.com/office/drawing/2014/main" id="{8C02D7BC-C8AF-D406-554B-9FA8117C9BA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119592" y="3876962"/>
            <a:ext cx="680445" cy="680445"/>
          </a:xfrm>
          <a:prstGeom prst="rect">
            <a:avLst/>
          </a:prstGeom>
        </p:spPr>
      </p:pic>
      <p:cxnSp>
        <p:nvCxnSpPr>
          <p:cNvPr id="85" name="Straight Arrow Connector 84">
            <a:extLst>
              <a:ext uri="{FF2B5EF4-FFF2-40B4-BE49-F238E27FC236}">
                <a16:creationId xmlns:a16="http://schemas.microsoft.com/office/drawing/2014/main" id="{32D2D01B-AD92-9619-BF82-C0DA32E524D4}"/>
              </a:ext>
            </a:extLst>
          </p:cNvPr>
          <p:cNvCxnSpPr>
            <a:cxnSpLocks/>
          </p:cNvCxnSpPr>
          <p:nvPr/>
        </p:nvCxnSpPr>
        <p:spPr>
          <a:xfrm flipH="1" flipV="1">
            <a:off x="9223930" y="3908749"/>
            <a:ext cx="1338200" cy="35439"/>
          </a:xfrm>
          <a:prstGeom prst="straightConnector1">
            <a:avLst/>
          </a:prstGeom>
          <a:ln w="28575">
            <a:solidFill>
              <a:schemeClr val="bg2">
                <a:lumMod val="1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E81D8624-0852-C42C-5ADF-E24CCB78DB0B}"/>
              </a:ext>
            </a:extLst>
          </p:cNvPr>
          <p:cNvCxnSpPr>
            <a:cxnSpLocks/>
          </p:cNvCxnSpPr>
          <p:nvPr/>
        </p:nvCxnSpPr>
        <p:spPr>
          <a:xfrm flipH="1" flipV="1">
            <a:off x="5605272" y="3828818"/>
            <a:ext cx="1724607" cy="90590"/>
          </a:xfrm>
          <a:prstGeom prst="straightConnector1">
            <a:avLst/>
          </a:prstGeom>
          <a:ln w="28575">
            <a:solidFill>
              <a:schemeClr val="bg2">
                <a:lumMod val="1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47BEC714-6AE8-6591-6F60-3D3F28D0DA48}"/>
              </a:ext>
            </a:extLst>
          </p:cNvPr>
          <p:cNvCxnSpPr>
            <a:cxnSpLocks/>
          </p:cNvCxnSpPr>
          <p:nvPr/>
        </p:nvCxnSpPr>
        <p:spPr>
          <a:xfrm flipH="1">
            <a:off x="2960445" y="3876962"/>
            <a:ext cx="1646176" cy="441041"/>
          </a:xfrm>
          <a:prstGeom prst="straightConnector1">
            <a:avLst/>
          </a:prstGeom>
          <a:ln w="28575">
            <a:solidFill>
              <a:schemeClr val="bg2">
                <a:lumMod val="1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97" name="Graphic 96" descr="Questions outline">
            <a:extLst>
              <a:ext uri="{FF2B5EF4-FFF2-40B4-BE49-F238E27FC236}">
                <a16:creationId xmlns:a16="http://schemas.microsoft.com/office/drawing/2014/main" id="{7E5924C0-1724-3DED-56D1-33ABFF448EB9}"/>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203287" y="2851925"/>
            <a:ext cx="914400" cy="914400"/>
          </a:xfrm>
          <a:prstGeom prst="rect">
            <a:avLst/>
          </a:prstGeom>
        </p:spPr>
      </p:pic>
      <p:pic>
        <p:nvPicPr>
          <p:cNvPr id="99" name="Graphic 98" descr="Questions outline">
            <a:extLst>
              <a:ext uri="{FF2B5EF4-FFF2-40B4-BE49-F238E27FC236}">
                <a16:creationId xmlns:a16="http://schemas.microsoft.com/office/drawing/2014/main" id="{26892C66-2168-0CA6-AB45-22A49D51E47D}"/>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096000" y="2638709"/>
            <a:ext cx="914400" cy="9144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8">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nSpc>
                <a:spcPts val="1960"/>
              </a:lnSpc>
            </a:pPr>
            <a:r>
              <a:rPr lang="es-CO" sz="1400" b="1" kern="0" spc="150" dirty="0">
                <a:solidFill>
                  <a:srgbClr val="2F3EBF"/>
                </a:solidFill>
                <a:latin typeface="Nunito Sans" pitchFamily="34" charset="0"/>
                <a:ea typeface="Nunito Sans" pitchFamily="34" charset="-122"/>
                <a:cs typeface="Nunito Sans" pitchFamily="34" charset="-120"/>
              </a:rPr>
              <a:t>EXTRA · A DÓNDE VAN LOS DATOS CON LA IA</a:t>
            </a:r>
            <a:endParaRPr lang="es-CO" sz="1400" dirty="0"/>
          </a:p>
        </p:txBody>
      </p:sp>
      <p:sp>
        <p:nvSpPr>
          <p:cNvPr id="3" name="Text 1"/>
          <p:cNvSpPr>
            <a:spLocks noGrp="1"/>
          </p:cNvSpPr>
          <p:nvPr>
            <p:ph type="title"/>
          </p:nvPr>
        </p:nvSpPr>
        <p:spPr>
          <a:xfrm>
            <a:off x="812800" y="134104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Gratis vs empresarial</a:t>
            </a:r>
            <a:endParaRPr lang="es-CO" sz="3600" noProof="0" dirty="0"/>
          </a:p>
        </p:txBody>
      </p:sp>
      <p:sp>
        <p:nvSpPr>
          <p:cNvPr id="4" name="Shape 2"/>
          <p:cNvSpPr/>
          <p:nvPr/>
        </p:nvSpPr>
        <p:spPr>
          <a:xfrm>
            <a:off x="819150" y="2129631"/>
            <a:ext cx="5181600" cy="3121819"/>
          </a:xfrm>
          <a:prstGeom prst="roundRect">
            <a:avLst>
              <a:gd name="adj" fmla="val 4678"/>
            </a:avLst>
          </a:prstGeom>
          <a:solidFill>
            <a:srgbClr val="FCFBF8"/>
          </a:solidFill>
          <a:ln w="12700">
            <a:solidFill>
              <a:srgbClr val="DDE0EA"/>
            </a:solidFill>
            <a:prstDash val="solid"/>
          </a:ln>
        </p:spPr>
        <p:txBody>
          <a:bodyPr/>
          <a:lstStyle/>
          <a:p>
            <a:endParaRPr lang="es-CO" noProof="0" dirty="0"/>
          </a:p>
        </p:txBody>
      </p:sp>
      <p:sp>
        <p:nvSpPr>
          <p:cNvPr id="5" name="Text 3"/>
          <p:cNvSpPr/>
          <p:nvPr/>
        </p:nvSpPr>
        <p:spPr>
          <a:xfrm>
            <a:off x="1130300" y="2440781"/>
            <a:ext cx="4696079" cy="256480"/>
          </a:xfrm>
          <a:prstGeom prst="rect">
            <a:avLst/>
          </a:prstGeom>
          <a:noFill/>
          <a:ln/>
        </p:spPr>
        <p:txBody>
          <a:bodyPr wrap="square" lIns="0" tIns="0" rIns="0" bIns="0" rtlCol="0" anchor="t">
            <a:normAutofit/>
          </a:bodyPr>
          <a:lstStyle/>
          <a:p>
            <a:pPr marL="0" indent="0" algn="l">
              <a:lnSpc>
                <a:spcPts val="1820"/>
              </a:lnSpc>
              <a:buNone/>
            </a:pPr>
            <a:r>
              <a:rPr lang="es-CO" sz="1300" b="1" kern="0" spc="100" noProof="0" dirty="0">
                <a:solidFill>
                  <a:srgbClr val="6B7085"/>
                </a:solidFill>
                <a:latin typeface="Nunito Sans" pitchFamily="34" charset="0"/>
                <a:ea typeface="Nunito Sans" pitchFamily="34" charset="-122"/>
                <a:cs typeface="Nunito Sans" pitchFamily="34" charset="-120"/>
              </a:rPr>
              <a:t>CUENTA GRATIS O PERSONAL</a:t>
            </a:r>
            <a:endParaRPr lang="es-CO" sz="1300" noProof="0" dirty="0"/>
          </a:p>
        </p:txBody>
      </p:sp>
      <p:sp>
        <p:nvSpPr>
          <p:cNvPr id="6" name="Text 4"/>
          <p:cNvSpPr/>
          <p:nvPr/>
        </p:nvSpPr>
        <p:spPr>
          <a:xfrm>
            <a:off x="1168909" y="2798862"/>
            <a:ext cx="4582668" cy="2074890"/>
          </a:xfrm>
          <a:prstGeom prst="rect">
            <a:avLst/>
          </a:prstGeom>
          <a:noFill/>
          <a:ln/>
        </p:spPr>
        <p:txBody>
          <a:bodyPr wrap="square" lIns="0" tIns="0" rIns="0" bIns="0" rtlCol="0" anchor="t">
            <a:normAutofit/>
          </a:bodyPr>
          <a:lstStyle/>
          <a:p>
            <a:pPr marL="342900" indent="-342900" algn="l">
              <a:lnSpc>
                <a:spcPts val="2560"/>
              </a:lnSpc>
              <a:buSzPct val="100000"/>
              <a:buFont typeface="Wingdings" panose="05000000000000000000" pitchFamily="2" charset="2"/>
              <a:buChar char="§"/>
            </a:pPr>
            <a:r>
              <a:rPr lang="es-CO" noProof="0" dirty="0">
                <a:solidFill>
                  <a:schemeClr val="bg2">
                    <a:lumMod val="10000"/>
                  </a:schemeClr>
                </a:solidFill>
                <a:latin typeface="Nunito Sans" pitchFamily="34" charset="0"/>
                <a:ea typeface="Nunito Sans" pitchFamily="34" charset="-122"/>
                <a:cs typeface="Nunito Sans" pitchFamily="34" charset="-120"/>
              </a:rPr>
              <a:t>Tus chats pueden usarse para entrenar la IA, por lo que puede responder a preguntas de otras personas con información que tu le diste.</a:t>
            </a:r>
            <a:endParaRPr lang="es-CO" noProof="0" dirty="0">
              <a:solidFill>
                <a:schemeClr val="bg2">
                  <a:lumMod val="10000"/>
                </a:schemeClr>
              </a:solidFill>
            </a:endParaRPr>
          </a:p>
        </p:txBody>
      </p:sp>
      <p:sp>
        <p:nvSpPr>
          <p:cNvPr id="8" name="Shape 6"/>
          <p:cNvSpPr/>
          <p:nvPr/>
        </p:nvSpPr>
        <p:spPr>
          <a:xfrm>
            <a:off x="6210300" y="2123281"/>
            <a:ext cx="5168900" cy="3134519"/>
          </a:xfrm>
          <a:prstGeom prst="roundRect">
            <a:avLst>
              <a:gd name="adj" fmla="val 4862"/>
            </a:avLst>
          </a:prstGeom>
          <a:solidFill>
            <a:srgbClr val="E9ECF4"/>
          </a:solidFill>
          <a:ln/>
        </p:spPr>
        <p:txBody>
          <a:bodyPr/>
          <a:lstStyle/>
          <a:p>
            <a:endParaRPr lang="es-CO" noProof="0" dirty="0"/>
          </a:p>
        </p:txBody>
      </p:sp>
      <p:sp>
        <p:nvSpPr>
          <p:cNvPr id="9" name="Text 7"/>
          <p:cNvSpPr/>
          <p:nvPr/>
        </p:nvSpPr>
        <p:spPr>
          <a:xfrm>
            <a:off x="6515100" y="2428081"/>
            <a:ext cx="4696079" cy="256480"/>
          </a:xfrm>
          <a:prstGeom prst="rect">
            <a:avLst/>
          </a:prstGeom>
          <a:noFill/>
          <a:ln/>
        </p:spPr>
        <p:txBody>
          <a:bodyPr wrap="square" lIns="0" tIns="0" rIns="0" bIns="0" rtlCol="0" anchor="t">
            <a:normAutofit/>
          </a:bodyPr>
          <a:lstStyle/>
          <a:p>
            <a:pPr marL="0" indent="0" algn="l">
              <a:lnSpc>
                <a:spcPts val="1820"/>
              </a:lnSpc>
              <a:buNone/>
            </a:pPr>
            <a:r>
              <a:rPr lang="es-CO" sz="1300" b="1" kern="0" spc="100" noProof="0" dirty="0">
                <a:solidFill>
                  <a:srgbClr val="2F3EBF"/>
                </a:solidFill>
                <a:latin typeface="Nunito Sans" pitchFamily="34" charset="0"/>
                <a:ea typeface="Nunito Sans" pitchFamily="34" charset="-122"/>
                <a:cs typeface="Nunito Sans" pitchFamily="34" charset="-120"/>
              </a:rPr>
              <a:t>PLAN EMPRESARIAL</a:t>
            </a:r>
            <a:endParaRPr lang="es-CO" sz="1300" noProof="0" dirty="0"/>
          </a:p>
        </p:txBody>
      </p:sp>
      <p:sp>
        <p:nvSpPr>
          <p:cNvPr id="10" name="Text 8"/>
          <p:cNvSpPr/>
          <p:nvPr/>
        </p:nvSpPr>
        <p:spPr>
          <a:xfrm>
            <a:off x="6553709" y="2786162"/>
            <a:ext cx="4373372" cy="1246342"/>
          </a:xfrm>
          <a:prstGeom prst="rect">
            <a:avLst/>
          </a:prstGeom>
          <a:noFill/>
          <a:ln/>
        </p:spPr>
        <p:txBody>
          <a:bodyPr wrap="square" lIns="0" tIns="0" rIns="0" bIns="0" rtlCol="0" anchor="t">
            <a:noAutofit/>
          </a:bodyPr>
          <a:lstStyle/>
          <a:p>
            <a:pPr marL="285750" indent="-285750" algn="l">
              <a:lnSpc>
                <a:spcPts val="2560"/>
              </a:lnSpc>
              <a:buSzPct val="100000"/>
              <a:buFont typeface="Wingdings" panose="05000000000000000000" pitchFamily="2" charset="2"/>
              <a:buChar char="§"/>
            </a:pPr>
            <a:r>
              <a:rPr lang="es-CO" noProof="0" dirty="0">
                <a:solidFill>
                  <a:srgbClr val="1C2142"/>
                </a:solidFill>
                <a:latin typeface="Nunito Sans" pitchFamily="34" charset="0"/>
                <a:ea typeface="Nunito Sans" pitchFamily="34" charset="-122"/>
                <a:cs typeface="Nunito Sans" pitchFamily="34" charset="-120"/>
              </a:rPr>
              <a:t>No se usa para entrenar la IA</a:t>
            </a:r>
            <a:endParaRPr lang="es-CO" noProof="0" dirty="0"/>
          </a:p>
          <a:p>
            <a:pPr marL="285750" indent="-285750" algn="l">
              <a:lnSpc>
                <a:spcPts val="2560"/>
              </a:lnSpc>
              <a:buSzPct val="100000"/>
              <a:buFont typeface="Wingdings" panose="05000000000000000000" pitchFamily="2" charset="2"/>
              <a:buChar char="§"/>
            </a:pPr>
            <a:r>
              <a:rPr lang="es-CO" noProof="0" dirty="0">
                <a:solidFill>
                  <a:srgbClr val="1C2142"/>
                </a:solidFill>
                <a:latin typeface="Nunito Sans" pitchFamily="34" charset="0"/>
                <a:ea typeface="Nunito Sans" pitchFamily="34" charset="-122"/>
                <a:cs typeface="Nunito Sans" pitchFamily="34" charset="-120"/>
              </a:rPr>
              <a:t>La empresa decide cuánto tiempo se guarda la información</a:t>
            </a:r>
            <a:endParaRPr lang="es-CO" noProof="0" dirty="0"/>
          </a:p>
          <a:p>
            <a:pPr marL="285750" indent="-285750" algn="l">
              <a:lnSpc>
                <a:spcPts val="2560"/>
              </a:lnSpc>
              <a:buSzPct val="100000"/>
              <a:buFont typeface="Wingdings" panose="05000000000000000000" pitchFamily="2" charset="2"/>
              <a:buChar char="§"/>
            </a:pPr>
            <a:r>
              <a:rPr lang="es-CO" noProof="0" dirty="0">
                <a:solidFill>
                  <a:srgbClr val="1C2142"/>
                </a:solidFill>
                <a:latin typeface="Nunito Sans" pitchFamily="34" charset="0"/>
                <a:ea typeface="Nunito Sans" pitchFamily="34" charset="-122"/>
                <a:cs typeface="Nunito Sans" pitchFamily="34" charset="-120"/>
              </a:rPr>
              <a:t>Hay contrato y responsables</a:t>
            </a:r>
            <a:endParaRPr lang="es-CO" noProof="0" dirty="0"/>
          </a:p>
        </p:txBody>
      </p:sp>
      <p:sp>
        <p:nvSpPr>
          <p:cNvPr id="11" name="Text 9"/>
          <p:cNvSpPr/>
          <p:nvPr/>
        </p:nvSpPr>
        <p:spPr>
          <a:xfrm>
            <a:off x="6515100" y="4603281"/>
            <a:ext cx="4696079" cy="540941"/>
          </a:xfrm>
          <a:prstGeom prst="rect">
            <a:avLst/>
          </a:prstGeom>
          <a:noFill/>
          <a:ln/>
        </p:spPr>
        <p:txBody>
          <a:bodyPr wrap="square" lIns="0" tIns="0" rIns="0" bIns="0" rtlCol="0" anchor="t">
            <a:noAutofit/>
          </a:bodyPr>
          <a:lstStyle/>
          <a:p>
            <a:pPr marL="0" indent="0" algn="l">
              <a:lnSpc>
                <a:spcPct val="120000"/>
              </a:lnSpc>
              <a:buNone/>
            </a:pPr>
            <a:r>
              <a:rPr lang="es-CO" sz="1400" noProof="0" dirty="0">
                <a:solidFill>
                  <a:srgbClr val="4A5070"/>
                </a:solidFill>
                <a:latin typeface="Nunito Sans" pitchFamily="34" charset="0"/>
                <a:ea typeface="Nunito Sans" pitchFamily="34" charset="-122"/>
                <a:cs typeface="Nunito Sans" pitchFamily="34" charset="-120"/>
              </a:rPr>
              <a:t>Cada proveedor tiene sus reglas y cambian con el tiempo.</a:t>
            </a:r>
            <a:endParaRPr lang="es-CO" sz="1400" noProof="0" dirty="0"/>
          </a:p>
        </p:txBody>
      </p:sp>
      <p:pic>
        <p:nvPicPr>
          <p:cNvPr id="12" name="Image 0" descr="Trust"/>
          <p:cNvPicPr>
            <a:picLocks noChangeAspect="1"/>
          </p:cNvPicPr>
          <p:nvPr/>
        </p:nvPicPr>
        <p:blipFill>
          <a:blip r:embed="rId3"/>
          <a:srcRect/>
          <a:stretch/>
        </p:blipFill>
        <p:spPr>
          <a:xfrm>
            <a:off x="812800" y="5537200"/>
            <a:ext cx="304800" cy="304800"/>
          </a:xfrm>
          <a:prstGeom prst="rect">
            <a:avLst/>
          </a:prstGeom>
        </p:spPr>
      </p:pic>
      <p:sp>
        <p:nvSpPr>
          <p:cNvPr id="13" name="Text 10"/>
          <p:cNvSpPr/>
          <p:nvPr/>
        </p:nvSpPr>
        <p:spPr>
          <a:xfrm>
            <a:off x="1244600" y="5547320"/>
            <a:ext cx="7965400" cy="309860"/>
          </a:xfrm>
          <a:prstGeom prst="rect">
            <a:avLst/>
          </a:prstGeom>
          <a:noFill/>
          <a:ln/>
        </p:spPr>
        <p:txBody>
          <a:bodyPr wrap="square" lIns="0" tIns="0" rIns="0" bIns="0" rtlCol="0" anchor="t">
            <a:normAutofit/>
          </a:bodyPr>
          <a:lstStyle/>
          <a:p>
            <a:pPr marL="0" indent="0" algn="l">
              <a:lnSpc>
                <a:spcPts val="2240"/>
              </a:lnSpc>
              <a:buNone/>
            </a:pPr>
            <a:r>
              <a:rPr lang="es-CO" sz="1600" noProof="0" dirty="0">
                <a:solidFill>
                  <a:srgbClr val="1C2142"/>
                </a:solidFill>
                <a:latin typeface="Nunito Sans" pitchFamily="34" charset="0"/>
                <a:ea typeface="Nunito Sans" pitchFamily="34" charset="-122"/>
                <a:cs typeface="Nunito Sans" pitchFamily="34" charset="-120"/>
              </a:rPr>
              <a:t>Para </a:t>
            </a:r>
            <a:r>
              <a:rPr lang="es-CO" sz="1600" dirty="0">
                <a:solidFill>
                  <a:srgbClr val="1C2142"/>
                </a:solidFill>
                <a:latin typeface="Nunito Sans" pitchFamily="34" charset="0"/>
                <a:ea typeface="Nunito Sans" pitchFamily="34" charset="-122"/>
                <a:cs typeface="Nunito Sans" pitchFamily="34" charset="-120"/>
              </a:rPr>
              <a:t>información delicada, anonimízala y realiza preguntas genéricas.</a:t>
            </a:r>
            <a:endParaRPr lang="es-CO" sz="1600" noProof="0" dirty="0"/>
          </a:p>
        </p:txBody>
      </p:sp>
      <p:pic>
        <p:nvPicPr>
          <p:cNvPr id="14" name="Image 1" descr="Pralogy"/>
          <p:cNvPicPr>
            <a:picLocks noChangeAspect="1"/>
          </p:cNvPicPr>
          <p:nvPr/>
        </p:nvPicPr>
        <p:blipFill>
          <a:blip r:embed="rId4"/>
          <a:srcRect l="-62" r="-62"/>
          <a:stretch/>
        </p:blipFill>
        <p:spPr>
          <a:xfrm>
            <a:off x="812800" y="6273800"/>
            <a:ext cx="1111250" cy="228600"/>
          </a:xfrm>
          <a:prstGeom prst="rect">
            <a:avLst/>
          </a:prstGeom>
        </p:spPr>
      </p:pic>
      <p:sp>
        <p:nvSpPr>
          <p:cNvPr id="15" name="Text 11"/>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16</a:t>
            </a:r>
            <a:endParaRPr lang="es-CO" sz="1200" noProof="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1">
    <p:bg>
      <p:bgPr>
        <a:solidFill>
          <a:srgbClr val="1C2142"/>
        </a:solidFill>
        <a:effectLst/>
      </p:bgPr>
    </p:bg>
    <p:spTree>
      <p:nvGrpSpPr>
        <p:cNvPr id="1" name=""/>
        <p:cNvGrpSpPr/>
        <p:nvPr/>
      </p:nvGrpSpPr>
      <p:grpSpPr>
        <a:xfrm>
          <a:off x="0" y="0"/>
          <a:ext cx="0" cy="0"/>
          <a:chOff x="0" y="0"/>
          <a:chExt cx="0" cy="0"/>
        </a:xfrm>
      </p:grpSpPr>
      <p:sp>
        <p:nvSpPr>
          <p:cNvPr id="2" name="Shape 0"/>
          <p:cNvSpPr/>
          <p:nvPr/>
        </p:nvSpPr>
        <p:spPr>
          <a:xfrm>
            <a:off x="8255000" y="0"/>
            <a:ext cx="4572000" cy="4572000"/>
          </a:xfrm>
          <a:prstGeom prst="roundRect">
            <a:avLst>
              <a:gd name="adj" fmla="val 35556"/>
            </a:avLst>
          </a:prstGeom>
          <a:solidFill>
            <a:srgbClr val="252B55"/>
          </a:solidFill>
          <a:ln/>
        </p:spPr>
        <p:txBody>
          <a:bodyPr/>
          <a:lstStyle/>
          <a:p>
            <a:endParaRPr lang="es-CO" noProof="0" dirty="0"/>
          </a:p>
        </p:txBody>
      </p:sp>
      <p:sp>
        <p:nvSpPr>
          <p:cNvPr id="3" name="Text 1"/>
          <p:cNvSpPr/>
          <p:nvPr/>
        </p:nvSpPr>
        <p:spPr>
          <a:xfrm>
            <a:off x="812800" y="812800"/>
            <a:ext cx="10883392" cy="1168400"/>
          </a:xfrm>
          <a:prstGeom prst="rect">
            <a:avLst/>
          </a:prstGeom>
          <a:noFill/>
          <a:ln/>
        </p:spPr>
        <p:txBody>
          <a:bodyPr wrap="square" lIns="0" tIns="0" rIns="0" bIns="0" rtlCol="0" anchor="t">
            <a:normAutofit fontScale="92500"/>
          </a:bodyPr>
          <a:lstStyle/>
          <a:p>
            <a:pPr marL="0" indent="0" algn="l">
              <a:lnSpc>
                <a:spcPts val="9000"/>
              </a:lnSpc>
              <a:buNone/>
            </a:pPr>
            <a:r>
              <a:rPr lang="es-CO" sz="9000" noProof="0" dirty="0">
                <a:solidFill>
                  <a:srgbClr val="9DA8F2"/>
                </a:solidFill>
                <a:latin typeface="Fraunces" pitchFamily="18" charset="0"/>
                <a:ea typeface="Fraunces" pitchFamily="18" charset="-122"/>
                <a:cs typeface="Fraunces" pitchFamily="18" charset="-120"/>
              </a:rPr>
              <a:t>03</a:t>
            </a:r>
            <a:endParaRPr lang="es-CO" sz="9000" noProof="0" dirty="0"/>
          </a:p>
        </p:txBody>
      </p:sp>
      <p:sp>
        <p:nvSpPr>
          <p:cNvPr id="4" name="Text 2"/>
          <p:cNvSpPr>
            <a:spLocks noGrp="1"/>
          </p:cNvSpPr>
          <p:nvPr>
            <p:ph type="title"/>
          </p:nvPr>
        </p:nvSpPr>
        <p:spPr>
          <a:xfrm>
            <a:off x="812800" y="4099719"/>
            <a:ext cx="8502650" cy="1412081"/>
          </a:xfrm>
          <a:prstGeom prst="rect">
            <a:avLst/>
          </a:prstGeom>
          <a:noFill/>
          <a:ln/>
        </p:spPr>
        <p:txBody>
          <a:bodyPr wrap="square" lIns="0" tIns="0" rIns="0" bIns="0" rtlCol="0" anchor="t">
            <a:normAutofit/>
          </a:bodyPr>
          <a:lstStyle/>
          <a:p>
            <a:pPr marL="0" indent="0" algn="l">
              <a:lnSpc>
                <a:spcPts val="5460"/>
              </a:lnSpc>
              <a:buNone/>
            </a:pPr>
            <a:r>
              <a:rPr lang="es-CO" sz="5200" b="0" i="0" noProof="0" dirty="0">
                <a:solidFill>
                  <a:srgbClr val="F6F5F1"/>
                </a:solidFill>
                <a:latin typeface="Fraunces" pitchFamily="18" charset="0"/>
                <a:ea typeface="Fraunces" pitchFamily="18" charset="-122"/>
                <a:cs typeface="Fraunces" pitchFamily="18" charset="-120"/>
              </a:rPr>
              <a:t>Si pasa algo, repórtalo.</a:t>
            </a:r>
            <a:endParaRPr lang="es-CO" sz="5200" noProof="0" dirty="0"/>
          </a:p>
        </p:txBody>
      </p:sp>
      <p:sp>
        <p:nvSpPr>
          <p:cNvPr id="5" name="Text 3"/>
          <p:cNvSpPr/>
          <p:nvPr/>
        </p:nvSpPr>
        <p:spPr>
          <a:xfrm>
            <a:off x="812800" y="5011928"/>
            <a:ext cx="8502650" cy="381000"/>
          </a:xfrm>
          <a:prstGeom prst="rect">
            <a:avLst/>
          </a:prstGeom>
          <a:noFill/>
          <a:ln/>
        </p:spPr>
        <p:txBody>
          <a:bodyPr wrap="square" lIns="0" tIns="0" rIns="0" bIns="0" rtlCol="0" anchor="t">
            <a:normAutofit/>
          </a:bodyPr>
          <a:lstStyle/>
          <a:p>
            <a:pPr marL="0" indent="0" algn="l">
              <a:lnSpc>
                <a:spcPts val="2800"/>
              </a:lnSpc>
              <a:buNone/>
            </a:pPr>
            <a:r>
              <a:rPr lang="es-CO" sz="2000" noProof="0" dirty="0">
                <a:solidFill>
                  <a:srgbClr val="C7CCE8"/>
                </a:solidFill>
                <a:latin typeface="Nunito Sans" pitchFamily="34" charset="0"/>
                <a:ea typeface="Nunito Sans" pitchFamily="34" charset="-122"/>
                <a:cs typeface="Nunito Sans" pitchFamily="34" charset="-120"/>
              </a:rPr>
              <a:t>Un plan de acción en esos momentos de indecisión.</a:t>
            </a:r>
            <a:endParaRPr lang="es-CO" sz="2000" noProof="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3">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nSpc>
                <a:spcPts val="1960"/>
              </a:lnSpc>
            </a:pPr>
            <a:r>
              <a:rPr lang="es-CO" sz="1400" b="1" kern="0" spc="150" dirty="0">
                <a:solidFill>
                  <a:srgbClr val="2F3EBF"/>
                </a:solidFill>
                <a:latin typeface="Nunito Sans" pitchFamily="34" charset="0"/>
                <a:ea typeface="Nunito Sans" pitchFamily="34" charset="-122"/>
                <a:cs typeface="Nunito Sans" pitchFamily="34" charset="-120"/>
              </a:rPr>
              <a:t>BLOQUE 3 </a:t>
            </a:r>
            <a:r>
              <a:rPr lang="es-CO" sz="1400" b="1" kern="0" spc="150" dirty="0">
                <a:solidFill>
                  <a:srgbClr val="2F3EBF"/>
                </a:solidFill>
                <a:latin typeface="Nunito Sans" pitchFamily="34" charset="0"/>
              </a:rPr>
              <a:t>· SI PASA ALGO, REPÓRTALO.</a:t>
            </a:r>
          </a:p>
        </p:txBody>
      </p:sp>
      <p:sp>
        <p:nvSpPr>
          <p:cNvPr id="3" name="Text 1"/>
          <p:cNvSpPr>
            <a:spLocks noGrp="1"/>
          </p:cNvSpPr>
          <p:nvPr>
            <p:ph type="title"/>
          </p:nvPr>
        </p:nvSpPr>
        <p:spPr>
          <a:xfrm>
            <a:off x="812800" y="1341041"/>
            <a:ext cx="10883392" cy="1031081"/>
          </a:xfrm>
          <a:prstGeom prst="rect">
            <a:avLst/>
          </a:prstGeom>
          <a:noFill/>
          <a:ln/>
        </p:spPr>
        <p:txBody>
          <a:bodyPr wrap="square" lIns="0" tIns="0" rIns="0" bIns="0" rtlCol="0" anchor="t">
            <a:normAutofit/>
          </a:bodyPr>
          <a:lstStyle/>
          <a:p>
            <a:pPr marL="0" indent="0" algn="l">
              <a:lnSpc>
                <a:spcPts val="3960"/>
              </a:lnSpc>
              <a:buNone/>
            </a:pPr>
            <a:r>
              <a:rPr lang="es-CO" dirty="0">
                <a:latin typeface="Fraunces" pitchFamily="18" charset="0"/>
                <a:ea typeface="Fraunces" pitchFamily="18" charset="-122"/>
                <a:cs typeface="Fraunces" pitchFamily="18" charset="-120"/>
              </a:rPr>
              <a:t>Caer no es el problema. No avisar, sí.</a:t>
            </a:r>
            <a:endParaRPr lang="es-CO" sz="3600" noProof="0" dirty="0"/>
          </a:p>
        </p:txBody>
      </p:sp>
      <p:grpSp>
        <p:nvGrpSpPr>
          <p:cNvPr id="15" name="Group 14">
            <a:extLst>
              <a:ext uri="{FF2B5EF4-FFF2-40B4-BE49-F238E27FC236}">
                <a16:creationId xmlns:a16="http://schemas.microsoft.com/office/drawing/2014/main" id="{B337E316-C446-B170-E789-058F1FD42420}"/>
              </a:ext>
            </a:extLst>
          </p:cNvPr>
          <p:cNvGrpSpPr/>
          <p:nvPr/>
        </p:nvGrpSpPr>
        <p:grpSpPr>
          <a:xfrm>
            <a:off x="1190500" y="2272015"/>
            <a:ext cx="4502658" cy="2560638"/>
            <a:chOff x="887858" y="2647458"/>
            <a:chExt cx="4502658" cy="2560638"/>
          </a:xfrm>
        </p:grpSpPr>
        <p:sp>
          <p:nvSpPr>
            <p:cNvPr id="4" name="Shape 2"/>
            <p:cNvSpPr/>
            <p:nvPr/>
          </p:nvSpPr>
          <p:spPr>
            <a:xfrm>
              <a:off x="887858" y="2647458"/>
              <a:ext cx="4502658" cy="2560638"/>
            </a:xfrm>
            <a:prstGeom prst="roundRect">
              <a:avLst>
                <a:gd name="adj" fmla="val 5704"/>
              </a:avLst>
            </a:prstGeom>
            <a:solidFill>
              <a:srgbClr val="FCFBF8"/>
            </a:solidFill>
            <a:ln w="12700">
              <a:solidFill>
                <a:srgbClr val="DDE0EA"/>
              </a:solidFill>
              <a:prstDash val="solid"/>
            </a:ln>
          </p:spPr>
          <p:txBody>
            <a:bodyPr/>
            <a:lstStyle/>
            <a:p>
              <a:endParaRPr lang="es-CO" noProof="0" dirty="0"/>
            </a:p>
          </p:txBody>
        </p:sp>
        <p:pic>
          <p:nvPicPr>
            <p:cNvPr id="5" name="Image 0" descr="Lightning"/>
            <p:cNvPicPr>
              <a:picLocks noChangeAspect="1"/>
            </p:cNvPicPr>
            <p:nvPr/>
          </p:nvPicPr>
          <p:blipFill>
            <a:blip r:embed="rId3"/>
            <a:srcRect/>
            <a:stretch/>
          </p:blipFill>
          <p:spPr>
            <a:xfrm>
              <a:off x="1130301" y="2842022"/>
              <a:ext cx="355600" cy="355600"/>
            </a:xfrm>
            <a:prstGeom prst="rect">
              <a:avLst/>
            </a:prstGeom>
          </p:spPr>
        </p:pic>
        <p:sp>
          <p:nvSpPr>
            <p:cNvPr id="7" name="Text 4"/>
            <p:cNvSpPr/>
            <p:nvPr/>
          </p:nvSpPr>
          <p:spPr>
            <a:xfrm>
              <a:off x="1130301" y="3858022"/>
              <a:ext cx="4017772" cy="909141"/>
            </a:xfrm>
            <a:prstGeom prst="rect">
              <a:avLst/>
            </a:prstGeom>
            <a:noFill/>
            <a:ln/>
          </p:spPr>
          <p:txBody>
            <a:bodyPr wrap="square" lIns="0" tIns="0" rIns="0" bIns="0" rtlCol="0" anchor="t">
              <a:normAutofit/>
            </a:bodyPr>
            <a:lstStyle/>
            <a:p>
              <a:pPr marL="0" indent="0" algn="l">
                <a:lnSpc>
                  <a:spcPts val="2320"/>
                </a:lnSpc>
                <a:buNone/>
              </a:pPr>
              <a:r>
                <a:rPr lang="es-CO" sz="1600" dirty="0">
                  <a:solidFill>
                    <a:srgbClr val="4A5070"/>
                  </a:solidFill>
                  <a:latin typeface="Nunito Sans" pitchFamily="34" charset="0"/>
                </a:rPr>
                <a:t>Lo más valioso en una situación de riesgo es poder actuar sobre los incidentes lo más rápido posible.</a:t>
              </a:r>
              <a:endParaRPr lang="es-CO" sz="1600" noProof="0" dirty="0"/>
            </a:p>
          </p:txBody>
        </p:sp>
      </p:grpSp>
      <p:grpSp>
        <p:nvGrpSpPr>
          <p:cNvPr id="16" name="Group 15">
            <a:extLst>
              <a:ext uri="{FF2B5EF4-FFF2-40B4-BE49-F238E27FC236}">
                <a16:creationId xmlns:a16="http://schemas.microsoft.com/office/drawing/2014/main" id="{3E1E7095-6992-6893-8C72-60039EFDFC5B}"/>
              </a:ext>
            </a:extLst>
          </p:cNvPr>
          <p:cNvGrpSpPr/>
          <p:nvPr/>
        </p:nvGrpSpPr>
        <p:grpSpPr>
          <a:xfrm>
            <a:off x="6144562" y="2241153"/>
            <a:ext cx="5000879" cy="2573338"/>
            <a:chOff x="6210300" y="2626122"/>
            <a:chExt cx="5000879" cy="2573338"/>
          </a:xfrm>
        </p:grpSpPr>
        <p:sp>
          <p:nvSpPr>
            <p:cNvPr id="8" name="Shape 5"/>
            <p:cNvSpPr/>
            <p:nvPr/>
          </p:nvSpPr>
          <p:spPr>
            <a:xfrm>
              <a:off x="6210300" y="2626122"/>
              <a:ext cx="4415029" cy="2573338"/>
            </a:xfrm>
            <a:prstGeom prst="roundRect">
              <a:avLst>
                <a:gd name="adj" fmla="val 5922"/>
              </a:avLst>
            </a:prstGeom>
            <a:solidFill>
              <a:srgbClr val="E9ECF4"/>
            </a:solidFill>
            <a:ln/>
          </p:spPr>
          <p:txBody>
            <a:bodyPr/>
            <a:lstStyle/>
            <a:p>
              <a:endParaRPr lang="es-CO" noProof="0" dirty="0"/>
            </a:p>
          </p:txBody>
        </p:sp>
        <p:pic>
          <p:nvPicPr>
            <p:cNvPr id="9" name="Image 1" descr="Home"/>
            <p:cNvPicPr>
              <a:picLocks noChangeAspect="1"/>
            </p:cNvPicPr>
            <p:nvPr/>
          </p:nvPicPr>
          <p:blipFill>
            <a:blip r:embed="rId4"/>
            <a:srcRect/>
            <a:stretch/>
          </p:blipFill>
          <p:spPr>
            <a:xfrm>
              <a:off x="6515100" y="2930922"/>
              <a:ext cx="355600" cy="355600"/>
            </a:xfrm>
            <a:prstGeom prst="rect">
              <a:avLst/>
            </a:prstGeom>
          </p:spPr>
        </p:pic>
        <p:sp>
          <p:nvSpPr>
            <p:cNvPr id="10" name="Text 6"/>
            <p:cNvSpPr/>
            <p:nvPr/>
          </p:nvSpPr>
          <p:spPr>
            <a:xfrm>
              <a:off x="6515100" y="3372248"/>
              <a:ext cx="4696079" cy="3302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Para ti</a:t>
              </a:r>
              <a:endParaRPr lang="es-CO" sz="2000" noProof="0" dirty="0"/>
            </a:p>
          </p:txBody>
        </p:sp>
        <p:sp>
          <p:nvSpPr>
            <p:cNvPr id="11" name="Text 7"/>
            <p:cNvSpPr/>
            <p:nvPr/>
          </p:nvSpPr>
          <p:spPr>
            <a:xfrm>
              <a:off x="6515101" y="3845322"/>
              <a:ext cx="4110228" cy="909141"/>
            </a:xfrm>
            <a:prstGeom prst="rect">
              <a:avLst/>
            </a:prstGeom>
            <a:noFill/>
            <a:ln/>
          </p:spPr>
          <p:txBody>
            <a:bodyPr wrap="square" lIns="0" tIns="0" rIns="0" bIns="0" rtlCol="0" anchor="t">
              <a:normAutofit/>
            </a:bodyPr>
            <a:lstStyle/>
            <a:p>
              <a:pPr marL="0" indent="0" algn="l">
                <a:lnSpc>
                  <a:spcPts val="2320"/>
                </a:lnSpc>
                <a:buNone/>
              </a:pPr>
              <a:r>
                <a:rPr lang="es-CO" sz="1600" noProof="0" dirty="0">
                  <a:solidFill>
                    <a:srgbClr val="1C2142"/>
                  </a:solidFill>
                  <a:latin typeface="Nunito Sans" pitchFamily="34" charset="0"/>
                  <a:ea typeface="Nunito Sans" pitchFamily="34" charset="-122"/>
                  <a:cs typeface="Nunito Sans" pitchFamily="34" charset="-120"/>
                </a:rPr>
                <a:t>Reportar lo saca de tu cabeza y lo pone en manos del equipo que está entrenado para afrontar estas situaciones.</a:t>
              </a:r>
              <a:endParaRPr lang="es-CO" sz="1600" noProof="0" dirty="0"/>
            </a:p>
          </p:txBody>
        </p:sp>
      </p:grpSp>
      <p:sp>
        <p:nvSpPr>
          <p:cNvPr id="12" name="Text 8"/>
          <p:cNvSpPr/>
          <p:nvPr/>
        </p:nvSpPr>
        <p:spPr>
          <a:xfrm>
            <a:off x="1121792" y="5348287"/>
            <a:ext cx="10883392" cy="388541"/>
          </a:xfrm>
          <a:prstGeom prst="rect">
            <a:avLst/>
          </a:prstGeom>
          <a:noFill/>
          <a:ln/>
        </p:spPr>
        <p:txBody>
          <a:bodyPr wrap="square" lIns="0" tIns="0" rIns="0" bIns="0" rtlCol="0" anchor="t">
            <a:noAutofit/>
          </a:bodyPr>
          <a:lstStyle/>
          <a:p>
            <a:pPr marL="0" indent="0" algn="l">
              <a:lnSpc>
                <a:spcPts val="2860"/>
              </a:lnSpc>
              <a:buNone/>
            </a:pPr>
            <a:r>
              <a:rPr lang="es-CO" sz="2200" noProof="0" dirty="0">
                <a:solidFill>
                  <a:srgbClr val="1C2142"/>
                </a:solidFill>
                <a:latin typeface="Fraunces" pitchFamily="18" charset="0"/>
                <a:ea typeface="Fraunces" pitchFamily="18" charset="-122"/>
                <a:cs typeface="Fraunces" pitchFamily="18" charset="-120"/>
              </a:rPr>
              <a:t>A cualquiera lo pueden engañar. Lo que empeora las cosas es callarlo.</a:t>
            </a:r>
            <a:endParaRPr lang="es-CO" sz="2200" noProof="0" dirty="0"/>
          </a:p>
        </p:txBody>
      </p:sp>
      <p:pic>
        <p:nvPicPr>
          <p:cNvPr id="13" name="Image 2" descr="Pralogy"/>
          <p:cNvPicPr>
            <a:picLocks noChangeAspect="1"/>
          </p:cNvPicPr>
          <p:nvPr/>
        </p:nvPicPr>
        <p:blipFill>
          <a:blip r:embed="rId5"/>
          <a:srcRect l="-62" r="-62"/>
          <a:stretch/>
        </p:blipFill>
        <p:spPr>
          <a:xfrm>
            <a:off x="812800" y="6273800"/>
            <a:ext cx="1111250" cy="228600"/>
          </a:xfrm>
          <a:prstGeom prst="rect">
            <a:avLst/>
          </a:prstGeom>
        </p:spPr>
      </p:pic>
      <p:sp>
        <p:nvSpPr>
          <p:cNvPr id="14" name="Text 9"/>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18</a:t>
            </a:r>
            <a:endParaRPr lang="es-CO" sz="1200" noProof="0" dirty="0"/>
          </a:p>
        </p:txBody>
      </p:sp>
      <p:sp>
        <p:nvSpPr>
          <p:cNvPr id="6" name="Text 3"/>
          <p:cNvSpPr/>
          <p:nvPr/>
        </p:nvSpPr>
        <p:spPr>
          <a:xfrm>
            <a:off x="1399921" y="3067248"/>
            <a:ext cx="4696079" cy="3302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Para la empresa</a:t>
            </a:r>
            <a:endParaRPr lang="es-CO" sz="2000" noProof="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4">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nSpc>
                <a:spcPts val="1960"/>
              </a:lnSpc>
            </a:pPr>
            <a:r>
              <a:rPr lang="es-CO" sz="1400" b="1" kern="0" spc="150" dirty="0">
                <a:solidFill>
                  <a:srgbClr val="2F3EBF"/>
                </a:solidFill>
                <a:latin typeface="Nunito Sans" pitchFamily="34" charset="0"/>
                <a:ea typeface="Nunito Sans" pitchFamily="34" charset="-122"/>
                <a:cs typeface="Nunito Sans" pitchFamily="34" charset="-120"/>
              </a:rPr>
              <a:t>BLOQUE 3 · LAS 4 FASES DE UN INCIDENTE SEGÚN NIST</a:t>
            </a:r>
          </a:p>
        </p:txBody>
      </p:sp>
      <p:sp>
        <p:nvSpPr>
          <p:cNvPr id="3" name="Text 1"/>
          <p:cNvSpPr>
            <a:spLocks noGrp="1"/>
          </p:cNvSpPr>
          <p:nvPr>
            <p:ph type="title"/>
          </p:nvPr>
        </p:nvSpPr>
        <p:spPr>
          <a:xfrm>
            <a:off x="812800" y="134104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Qué pasa cuando reportas</a:t>
            </a:r>
            <a:endParaRPr lang="es-CO" sz="3600" noProof="0" dirty="0"/>
          </a:p>
        </p:txBody>
      </p:sp>
      <p:pic>
        <p:nvPicPr>
          <p:cNvPr id="19" name="Image 2" descr="Pralogy"/>
          <p:cNvPicPr>
            <a:picLocks noChangeAspect="1"/>
          </p:cNvPicPr>
          <p:nvPr/>
        </p:nvPicPr>
        <p:blipFill>
          <a:blip r:embed="rId3"/>
          <a:srcRect l="-62" r="-62"/>
          <a:stretch/>
        </p:blipFill>
        <p:spPr>
          <a:xfrm>
            <a:off x="812800" y="6273800"/>
            <a:ext cx="1111250" cy="228600"/>
          </a:xfrm>
          <a:prstGeom prst="rect">
            <a:avLst/>
          </a:prstGeom>
        </p:spPr>
      </p:pic>
      <p:sp>
        <p:nvSpPr>
          <p:cNvPr id="20" name="Text 15"/>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19</a:t>
            </a:r>
            <a:endParaRPr lang="es-CO" sz="1200" noProof="0" dirty="0"/>
          </a:p>
        </p:txBody>
      </p:sp>
      <p:sp>
        <p:nvSpPr>
          <p:cNvPr id="21" name="Fase 1"/>
          <p:cNvSpPr/>
          <p:nvPr/>
        </p:nvSpPr>
        <p:spPr>
          <a:xfrm>
            <a:off x="812800" y="2150000"/>
            <a:ext cx="2498725" cy="2900000"/>
          </a:xfrm>
          <a:prstGeom prst="roundRect">
            <a:avLst>
              <a:gd name="adj" fmla="val 6000"/>
            </a:avLst>
          </a:prstGeom>
          <a:solidFill>
            <a:srgbClr val="FCFBF8"/>
          </a:solidFill>
          <a:ln w="12700">
            <a:solidFill>
              <a:srgbClr val="DD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ase 1 número"/>
          <p:cNvSpPr txBox="1"/>
          <p:nvPr/>
        </p:nvSpPr>
        <p:spPr>
          <a:xfrm>
            <a:off x="1041400" y="2378600"/>
            <a:ext cx="2041525" cy="431800"/>
          </a:xfrm>
          <a:prstGeom prst="rect">
            <a:avLst/>
          </a:prstGeom>
          <a:noFill/>
        </p:spPr>
        <p:txBody>
          <a:bodyPr wrap="square" lIns="0" rIns="0" tIns="0" bIns="0" anchor="t">
            <a:noAutofit/>
          </a:bodyPr>
          <a:lstStyle/>
          <a:p>
            <a:pPr algn="l"/>
            <a:r>
              <a:rPr sz="3200" b="0" i="0">
                <a:solidFill>
                  <a:srgbClr val="2F3EBF"/>
                </a:solidFill>
                <a:latin typeface="Fraunces"/>
              </a:rPr>
              <a:t>1</a:t>
            </a:r>
          </a:p>
        </p:txBody>
      </p:sp>
      <p:sp>
        <p:nvSpPr>
          <p:cNvPr id="23" name="Fase 1 título"/>
          <p:cNvSpPr txBox="1"/>
          <p:nvPr/>
        </p:nvSpPr>
        <p:spPr>
          <a:xfrm>
            <a:off x="1041400" y="2861200"/>
            <a:ext cx="2041525" cy="330200"/>
          </a:xfrm>
          <a:prstGeom prst="rect">
            <a:avLst/>
          </a:prstGeom>
          <a:noFill/>
        </p:spPr>
        <p:txBody>
          <a:bodyPr wrap="square" lIns="0" rIns="0" tIns="0" bIns="0" anchor="t">
            <a:noAutofit/>
          </a:bodyPr>
          <a:lstStyle/>
          <a:p>
            <a:pPr algn="l"/>
            <a:r>
              <a:rPr sz="1800" b="1" i="0">
                <a:solidFill>
                  <a:srgbClr val="1C2142"/>
                </a:solidFill>
                <a:latin typeface="Nunito Sans"/>
              </a:rPr>
              <a:t>Prepararnos</a:t>
            </a:r>
          </a:p>
        </p:txBody>
      </p:sp>
      <p:sp>
        <p:nvSpPr>
          <p:cNvPr id="24" name="Fase 1 nombre NIST"/>
          <p:cNvSpPr txBox="1"/>
          <p:nvPr/>
        </p:nvSpPr>
        <p:spPr>
          <a:xfrm>
            <a:off x="1041400" y="3242200"/>
            <a:ext cx="2041525" cy="400000"/>
          </a:xfrm>
          <a:prstGeom prst="rect">
            <a:avLst/>
          </a:prstGeom>
          <a:noFill/>
        </p:spPr>
        <p:txBody>
          <a:bodyPr wrap="square" lIns="0" rIns="0" tIns="0" bIns="0" anchor="t">
            <a:noAutofit/>
          </a:bodyPr>
          <a:lstStyle/>
          <a:p>
            <a:pPr algn="l"/>
            <a:r>
              <a:rPr sz="1200" b="0" i="1">
                <a:solidFill>
                  <a:srgbClr val="6B7085"/>
                </a:solidFill>
                <a:latin typeface="Nunito Sans"/>
              </a:rPr>
              <a:t>Preparación</a:t>
            </a:r>
          </a:p>
        </p:txBody>
      </p:sp>
      <p:sp>
        <p:nvSpPr>
          <p:cNvPr id="25" name="Fase 1 texto"/>
          <p:cNvSpPr txBox="1"/>
          <p:nvPr/>
        </p:nvSpPr>
        <p:spPr>
          <a:xfrm>
            <a:off x="1041400" y="3699400"/>
            <a:ext cx="2041525" cy="1450000"/>
          </a:xfrm>
          <a:prstGeom prst="rect">
            <a:avLst/>
          </a:prstGeom>
          <a:noFill/>
        </p:spPr>
        <p:txBody>
          <a:bodyPr wrap="square" lIns="0" rIns="0" tIns="0" bIns="0" anchor="t">
            <a:noAutofit/>
          </a:bodyPr>
          <a:lstStyle/>
          <a:p>
            <a:pPr algn="l">
              <a:lnSpc>
                <a:spcPct val="125000"/>
              </a:lnSpc>
            </a:pPr>
            <a:r>
              <a:rPr sz="1400" b="0" i="0">
                <a:solidFill>
                  <a:srgbClr val="4A5070"/>
                </a:solidFill>
                <a:latin typeface="Nunito Sans"/>
              </a:rPr>
              <a:t>Estar listos antes de que pase: contraseñas seguras, dos pasos y saber a quién avisar.</a:t>
            </a:r>
          </a:p>
        </p:txBody>
      </p:sp>
      <p:sp>
        <p:nvSpPr>
          <p:cNvPr id="26" name="Fase 2"/>
          <p:cNvSpPr/>
          <p:nvPr/>
        </p:nvSpPr>
        <p:spPr>
          <a:xfrm>
            <a:off x="3502025" y="2150000"/>
            <a:ext cx="2498725" cy="2900000"/>
          </a:xfrm>
          <a:prstGeom prst="roundRect">
            <a:avLst>
              <a:gd name="adj" fmla="val 6000"/>
            </a:avLst>
          </a:prstGeom>
          <a:solidFill>
            <a:srgbClr val="E9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ase 2 número"/>
          <p:cNvSpPr txBox="1"/>
          <p:nvPr/>
        </p:nvSpPr>
        <p:spPr>
          <a:xfrm>
            <a:off x="3730625" y="2378600"/>
            <a:ext cx="2041525" cy="431800"/>
          </a:xfrm>
          <a:prstGeom prst="rect">
            <a:avLst/>
          </a:prstGeom>
          <a:noFill/>
        </p:spPr>
        <p:txBody>
          <a:bodyPr wrap="square" lIns="0" rIns="0" tIns="0" bIns="0" anchor="t">
            <a:noAutofit/>
          </a:bodyPr>
          <a:lstStyle/>
          <a:p>
            <a:pPr algn="l"/>
            <a:r>
              <a:rPr sz="3200" b="0" i="0">
                <a:solidFill>
                  <a:srgbClr val="2F3EBF"/>
                </a:solidFill>
                <a:latin typeface="Fraunces"/>
              </a:rPr>
              <a:t>2</a:t>
            </a:r>
          </a:p>
        </p:txBody>
      </p:sp>
      <p:sp>
        <p:nvSpPr>
          <p:cNvPr id="28" name="Fase 2 título"/>
          <p:cNvSpPr txBox="1"/>
          <p:nvPr/>
        </p:nvSpPr>
        <p:spPr>
          <a:xfrm>
            <a:off x="3730625" y="2861200"/>
            <a:ext cx="2041525" cy="330200"/>
          </a:xfrm>
          <a:prstGeom prst="rect">
            <a:avLst/>
          </a:prstGeom>
          <a:noFill/>
        </p:spPr>
        <p:txBody>
          <a:bodyPr wrap="square" lIns="0" rIns="0" tIns="0" bIns="0" anchor="t">
            <a:noAutofit/>
          </a:bodyPr>
          <a:lstStyle/>
          <a:p>
            <a:pPr algn="l"/>
            <a:r>
              <a:rPr sz="1800" b="1" i="0">
                <a:solidFill>
                  <a:srgbClr val="1C2142"/>
                </a:solidFill>
                <a:latin typeface="Nunito Sans"/>
              </a:rPr>
              <a:t>Darnos cuenta</a:t>
            </a:r>
          </a:p>
        </p:txBody>
      </p:sp>
      <p:sp>
        <p:nvSpPr>
          <p:cNvPr id="29" name="Fase 2 nombre NIST"/>
          <p:cNvSpPr txBox="1"/>
          <p:nvPr/>
        </p:nvSpPr>
        <p:spPr>
          <a:xfrm>
            <a:off x="3730625" y="3242200"/>
            <a:ext cx="2041525" cy="400000"/>
          </a:xfrm>
          <a:prstGeom prst="rect">
            <a:avLst/>
          </a:prstGeom>
          <a:noFill/>
        </p:spPr>
        <p:txBody>
          <a:bodyPr wrap="square" lIns="0" rIns="0" tIns="0" bIns="0" anchor="t">
            <a:noAutofit/>
          </a:bodyPr>
          <a:lstStyle/>
          <a:p>
            <a:pPr algn="l"/>
            <a:r>
              <a:rPr sz="1200" b="0" i="1">
                <a:solidFill>
                  <a:srgbClr val="6B7085"/>
                </a:solidFill>
                <a:latin typeface="Nunito Sans"/>
              </a:rPr>
              <a:t>Detección y análisis</a:t>
            </a:r>
          </a:p>
        </p:txBody>
      </p:sp>
      <p:sp>
        <p:nvSpPr>
          <p:cNvPr id="30" name="Fase 2 texto"/>
          <p:cNvSpPr txBox="1"/>
          <p:nvPr/>
        </p:nvSpPr>
        <p:spPr>
          <a:xfrm>
            <a:off x="3730625" y="3699400"/>
            <a:ext cx="2041525" cy="1450000"/>
          </a:xfrm>
          <a:prstGeom prst="rect">
            <a:avLst/>
          </a:prstGeom>
          <a:noFill/>
        </p:spPr>
        <p:txBody>
          <a:bodyPr wrap="square" lIns="0" rIns="0" tIns="0" bIns="0" anchor="t">
            <a:noAutofit/>
          </a:bodyPr>
          <a:lstStyle/>
          <a:p>
            <a:pPr algn="l">
              <a:lnSpc>
                <a:spcPct val="125000"/>
              </a:lnSpc>
            </a:pPr>
            <a:r>
              <a:rPr sz="1400" b="0" i="0">
                <a:solidFill>
                  <a:srgbClr val="1C2142"/>
                </a:solidFill>
                <a:latin typeface="Nunito Sans"/>
              </a:rPr>
              <a:t>Alguien nota algo raro y avisa. El equipo revisa qué pasó. Aquí entras tú.</a:t>
            </a:r>
          </a:p>
        </p:txBody>
      </p:sp>
      <p:sp>
        <p:nvSpPr>
          <p:cNvPr id="31" name="Fase 3"/>
          <p:cNvSpPr/>
          <p:nvPr/>
        </p:nvSpPr>
        <p:spPr>
          <a:xfrm>
            <a:off x="6191250" y="2150000"/>
            <a:ext cx="2498725" cy="2900000"/>
          </a:xfrm>
          <a:prstGeom prst="roundRect">
            <a:avLst>
              <a:gd name="adj" fmla="val 6000"/>
            </a:avLst>
          </a:prstGeom>
          <a:solidFill>
            <a:srgbClr val="FCFBF8"/>
          </a:solidFill>
          <a:ln w="12700">
            <a:solidFill>
              <a:srgbClr val="DD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Fase 3 número"/>
          <p:cNvSpPr txBox="1"/>
          <p:nvPr/>
        </p:nvSpPr>
        <p:spPr>
          <a:xfrm>
            <a:off x="6419850" y="2378600"/>
            <a:ext cx="2041525" cy="431800"/>
          </a:xfrm>
          <a:prstGeom prst="rect">
            <a:avLst/>
          </a:prstGeom>
          <a:noFill/>
        </p:spPr>
        <p:txBody>
          <a:bodyPr wrap="square" lIns="0" rIns="0" tIns="0" bIns="0" anchor="t">
            <a:noAutofit/>
          </a:bodyPr>
          <a:lstStyle/>
          <a:p>
            <a:pPr algn="l"/>
            <a:r>
              <a:rPr sz="3200" b="0" i="0">
                <a:solidFill>
                  <a:srgbClr val="2F3EBF"/>
                </a:solidFill>
                <a:latin typeface="Fraunces"/>
              </a:rPr>
              <a:t>3</a:t>
            </a:r>
          </a:p>
        </p:txBody>
      </p:sp>
      <p:sp>
        <p:nvSpPr>
          <p:cNvPr id="33" name="Fase 3 título"/>
          <p:cNvSpPr txBox="1"/>
          <p:nvPr/>
        </p:nvSpPr>
        <p:spPr>
          <a:xfrm>
            <a:off x="6419850" y="2861200"/>
            <a:ext cx="2041525" cy="330200"/>
          </a:xfrm>
          <a:prstGeom prst="rect">
            <a:avLst/>
          </a:prstGeom>
          <a:noFill/>
        </p:spPr>
        <p:txBody>
          <a:bodyPr wrap="square" lIns="0" rIns="0" tIns="0" bIns="0" anchor="t">
            <a:noAutofit/>
          </a:bodyPr>
          <a:lstStyle/>
          <a:p>
            <a:pPr algn="l"/>
            <a:r>
              <a:rPr sz="1800" b="1" i="0">
                <a:solidFill>
                  <a:srgbClr val="1C2142"/>
                </a:solidFill>
                <a:latin typeface="Nunito Sans"/>
              </a:rPr>
              <a:t>Frenar y arreglar</a:t>
            </a:r>
          </a:p>
        </p:txBody>
      </p:sp>
      <p:sp>
        <p:nvSpPr>
          <p:cNvPr id="34" name="Fase 3 nombre NIST"/>
          <p:cNvSpPr txBox="1"/>
          <p:nvPr/>
        </p:nvSpPr>
        <p:spPr>
          <a:xfrm>
            <a:off x="6419850" y="3242200"/>
            <a:ext cx="2041525" cy="400000"/>
          </a:xfrm>
          <a:prstGeom prst="rect">
            <a:avLst/>
          </a:prstGeom>
          <a:noFill/>
        </p:spPr>
        <p:txBody>
          <a:bodyPr wrap="square" lIns="0" rIns="0" tIns="0" bIns="0" anchor="t">
            <a:noAutofit/>
          </a:bodyPr>
          <a:lstStyle/>
          <a:p>
            <a:pPr algn="l"/>
            <a:r>
              <a:rPr sz="1200" b="0" i="1">
                <a:solidFill>
                  <a:srgbClr val="6B7085"/>
                </a:solidFill>
                <a:latin typeface="Nunito Sans"/>
              </a:rPr>
              <a:t>Contención, erradicación y recuperación</a:t>
            </a:r>
          </a:p>
        </p:txBody>
      </p:sp>
      <p:sp>
        <p:nvSpPr>
          <p:cNvPr id="35" name="Fase 3 texto"/>
          <p:cNvSpPr txBox="1"/>
          <p:nvPr/>
        </p:nvSpPr>
        <p:spPr>
          <a:xfrm>
            <a:off x="6419850" y="3699400"/>
            <a:ext cx="2041525" cy="1450000"/>
          </a:xfrm>
          <a:prstGeom prst="rect">
            <a:avLst/>
          </a:prstGeom>
          <a:noFill/>
        </p:spPr>
        <p:txBody>
          <a:bodyPr wrap="square" lIns="0" rIns="0" tIns="0" bIns="0" anchor="t">
            <a:noAutofit/>
          </a:bodyPr>
          <a:lstStyle/>
          <a:p>
            <a:pPr algn="l">
              <a:lnSpc>
                <a:spcPct val="125000"/>
              </a:lnSpc>
            </a:pPr>
            <a:r>
              <a:rPr sz="1400" b="0" i="0">
                <a:solidFill>
                  <a:srgbClr val="4A5070"/>
                </a:solidFill>
                <a:latin typeface="Nunito Sans"/>
              </a:rPr>
              <a:t>Se aísla el problema, se limpia y todo vuelve a la normalidad.</a:t>
            </a:r>
          </a:p>
        </p:txBody>
      </p:sp>
      <p:sp>
        <p:nvSpPr>
          <p:cNvPr id="36" name="Fase 4"/>
          <p:cNvSpPr/>
          <p:nvPr/>
        </p:nvSpPr>
        <p:spPr>
          <a:xfrm>
            <a:off x="8880475" y="2150000"/>
            <a:ext cx="2498725" cy="2900000"/>
          </a:xfrm>
          <a:prstGeom prst="roundRect">
            <a:avLst>
              <a:gd name="adj" fmla="val 6000"/>
            </a:avLst>
          </a:prstGeom>
          <a:solidFill>
            <a:srgbClr val="FCFBF8"/>
          </a:solidFill>
          <a:ln w="12700">
            <a:solidFill>
              <a:srgbClr val="DDE0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Fase 4 número"/>
          <p:cNvSpPr txBox="1"/>
          <p:nvPr/>
        </p:nvSpPr>
        <p:spPr>
          <a:xfrm>
            <a:off x="9109075" y="2378600"/>
            <a:ext cx="2041525" cy="431800"/>
          </a:xfrm>
          <a:prstGeom prst="rect">
            <a:avLst/>
          </a:prstGeom>
          <a:noFill/>
        </p:spPr>
        <p:txBody>
          <a:bodyPr wrap="square" lIns="0" rIns="0" tIns="0" bIns="0" anchor="t">
            <a:noAutofit/>
          </a:bodyPr>
          <a:lstStyle/>
          <a:p>
            <a:pPr algn="l"/>
            <a:r>
              <a:rPr sz="3200" b="0" i="0">
                <a:solidFill>
                  <a:srgbClr val="2F3EBF"/>
                </a:solidFill>
                <a:latin typeface="Fraunces"/>
              </a:rPr>
              <a:t>4</a:t>
            </a:r>
          </a:p>
        </p:txBody>
      </p:sp>
      <p:sp>
        <p:nvSpPr>
          <p:cNvPr id="38" name="Fase 4 título"/>
          <p:cNvSpPr txBox="1"/>
          <p:nvPr/>
        </p:nvSpPr>
        <p:spPr>
          <a:xfrm>
            <a:off x="9109075" y="2861200"/>
            <a:ext cx="2041525" cy="330200"/>
          </a:xfrm>
          <a:prstGeom prst="rect">
            <a:avLst/>
          </a:prstGeom>
          <a:noFill/>
        </p:spPr>
        <p:txBody>
          <a:bodyPr wrap="square" lIns="0" rIns="0" tIns="0" bIns="0" anchor="t">
            <a:noAutofit/>
          </a:bodyPr>
          <a:lstStyle/>
          <a:p>
            <a:pPr algn="l"/>
            <a:r>
              <a:rPr sz="1800" b="1" i="0">
                <a:solidFill>
                  <a:srgbClr val="1C2142"/>
                </a:solidFill>
                <a:latin typeface="Nunito Sans"/>
              </a:rPr>
              <a:t>Aprender</a:t>
            </a:r>
          </a:p>
        </p:txBody>
      </p:sp>
      <p:sp>
        <p:nvSpPr>
          <p:cNvPr id="39" name="Fase 4 nombre NIST"/>
          <p:cNvSpPr txBox="1"/>
          <p:nvPr/>
        </p:nvSpPr>
        <p:spPr>
          <a:xfrm>
            <a:off x="9109075" y="3242200"/>
            <a:ext cx="2041525" cy="400000"/>
          </a:xfrm>
          <a:prstGeom prst="rect">
            <a:avLst/>
          </a:prstGeom>
          <a:noFill/>
        </p:spPr>
        <p:txBody>
          <a:bodyPr wrap="square" lIns="0" rIns="0" tIns="0" bIns="0" anchor="t">
            <a:noAutofit/>
          </a:bodyPr>
          <a:lstStyle/>
          <a:p>
            <a:pPr algn="l"/>
            <a:r>
              <a:rPr sz="1200" b="0" i="1">
                <a:solidFill>
                  <a:srgbClr val="6B7085"/>
                </a:solidFill>
                <a:latin typeface="Nunito Sans"/>
              </a:rPr>
              <a:t>Actividad posterior al incidente</a:t>
            </a:r>
          </a:p>
        </p:txBody>
      </p:sp>
      <p:sp>
        <p:nvSpPr>
          <p:cNvPr id="40" name="Fase 4 texto"/>
          <p:cNvSpPr txBox="1"/>
          <p:nvPr/>
        </p:nvSpPr>
        <p:spPr>
          <a:xfrm>
            <a:off x="9109075" y="3699400"/>
            <a:ext cx="2041525" cy="1450000"/>
          </a:xfrm>
          <a:prstGeom prst="rect">
            <a:avLst/>
          </a:prstGeom>
          <a:noFill/>
        </p:spPr>
        <p:txBody>
          <a:bodyPr wrap="square" lIns="0" rIns="0" tIns="0" bIns="0" anchor="t">
            <a:noAutofit/>
          </a:bodyPr>
          <a:lstStyle/>
          <a:p>
            <a:pPr algn="l">
              <a:lnSpc>
                <a:spcPct val="125000"/>
              </a:lnSpc>
            </a:pPr>
            <a:r>
              <a:rPr sz="1400" b="0" i="0">
                <a:solidFill>
                  <a:srgbClr val="4A5070"/>
                </a:solidFill>
                <a:latin typeface="Nunito Sans"/>
              </a:rPr>
              <a:t>Se revisa qué mejorar para que no se repita. Sin buscar culpables.</a:t>
            </a:r>
          </a:p>
        </p:txBody>
      </p:sp>
      <p:sp>
        <p:nvSpPr>
          <p:cNvPr id="41" name="Tu papel"/>
          <p:cNvSpPr txBox="1"/>
          <p:nvPr/>
        </p:nvSpPr>
        <p:spPr>
          <a:xfrm>
            <a:off x="812800" y="5334000"/>
            <a:ext cx="10566400" cy="388541"/>
          </a:xfrm>
          <a:prstGeom prst="rect">
            <a:avLst/>
          </a:prstGeom>
          <a:noFill/>
        </p:spPr>
        <p:txBody>
          <a:bodyPr wrap="square" lIns="0" rIns="0" tIns="0" bIns="0" anchor="t">
            <a:noAutofit/>
          </a:bodyPr>
          <a:lstStyle/>
          <a:p>
            <a:pPr algn="l"/>
            <a:r>
              <a:rPr sz="1600" b="1" i="0">
                <a:solidFill>
                  <a:srgbClr val="1C2142"/>
                </a:solidFill>
                <a:latin typeface="Nunito Sans"/>
              </a:rPr>
              <a:t>Tu papel está en la fase 2:</a:t>
            </a:r>
            <a:r>
              <a:rPr sz="1600">
                <a:solidFill>
                  <a:srgbClr val="1C2142"/>
                </a:solidFill>
                <a:latin typeface="Nunito Sans"/>
              </a:rPr>
              <a:t> notar algo raro y avisar. Del resto se encarga el equipo.</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7">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LAS REGLAS DE LA CASA</a:t>
            </a:r>
            <a:endParaRPr lang="es-CO" sz="1400" noProof="0" dirty="0"/>
          </a:p>
        </p:txBody>
      </p:sp>
      <p:sp>
        <p:nvSpPr>
          <p:cNvPr id="3" name="Text 1"/>
          <p:cNvSpPr>
            <a:spLocks noGrp="1"/>
          </p:cNvSpPr>
          <p:nvPr>
            <p:ph type="title"/>
          </p:nvPr>
        </p:nvSpPr>
        <p:spPr>
          <a:xfrm>
            <a:off x="812800" y="134104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Si crees que clicaste algo sospechoso, contacta:</a:t>
            </a:r>
            <a:endParaRPr lang="es-CO" sz="3600" noProof="0" dirty="0"/>
          </a:p>
        </p:txBody>
      </p:sp>
      <p:sp>
        <p:nvSpPr>
          <p:cNvPr id="4" name="Shape 2"/>
          <p:cNvSpPr/>
          <p:nvPr/>
        </p:nvSpPr>
        <p:spPr>
          <a:xfrm>
            <a:off x="812800" y="2123281"/>
            <a:ext cx="10566400" cy="3575844"/>
          </a:xfrm>
          <a:prstGeom prst="roundRect">
            <a:avLst>
              <a:gd name="adj" fmla="val 4262"/>
            </a:avLst>
          </a:prstGeom>
          <a:solidFill>
            <a:srgbClr val="FCFBF8"/>
          </a:solidFill>
          <a:ln/>
        </p:spPr>
        <p:txBody>
          <a:bodyPr/>
          <a:lstStyle/>
          <a:p>
            <a:endParaRPr lang="es-CO" noProof="0" dirty="0"/>
          </a:p>
        </p:txBody>
      </p:sp>
      <p:sp>
        <p:nvSpPr>
          <p:cNvPr id="5" name="Shape 3"/>
          <p:cNvSpPr/>
          <p:nvPr/>
        </p:nvSpPr>
        <p:spPr>
          <a:xfrm>
            <a:off x="812800" y="2123281"/>
            <a:ext cx="10566400" cy="3575844"/>
          </a:xfrm>
          <a:custGeom>
            <a:avLst/>
            <a:gdLst/>
            <a:ahLst/>
            <a:cxnLst/>
            <a:rect l="l" t="t" r="r" b="b"/>
            <a:pathLst>
              <a:path w="10566400" h="3575844">
                <a:moveTo>
                  <a:pt x="10414000" y="0"/>
                </a:moveTo>
                <a:lnTo>
                  <a:pt x="10414000" y="0"/>
                </a:lnTo>
                <a:arcTo wR="152400" hR="152400" stAng="16200000" swAng="5400000"/>
                <a:lnTo>
                  <a:pt x="10566400" y="3423444"/>
                </a:lnTo>
                <a:arcTo wR="152400" hR="152400" stAng="0" swAng="5400000"/>
                <a:lnTo>
                  <a:pt x="152400" y="3575844"/>
                </a:lnTo>
                <a:arcTo wR="152400" hR="152400" stAng="5400000" swAng="5400000"/>
                <a:lnTo>
                  <a:pt x="0" y="3423444"/>
                </a:lnTo>
                <a:arcTo wR="152400" hR="139700" stAng="10800000" swAng="-5400000"/>
                <a:lnTo>
                  <a:pt x="10414000" y="3563144"/>
                </a:lnTo>
                <a:arcTo wR="139700" hR="139700" stAng="5400000" swAng="-5400000"/>
                <a:lnTo>
                  <a:pt x="10553700" y="152400"/>
                </a:lnTo>
                <a:arcTo wR="139700" hR="152400" stAng="0" swAng="-5400000"/>
                <a:close/>
              </a:path>
            </a:pathLst>
          </a:custGeom>
          <a:solidFill>
            <a:srgbClr val="DDE0EA"/>
          </a:solidFill>
          <a:ln/>
        </p:spPr>
        <p:txBody>
          <a:bodyPr/>
          <a:lstStyle/>
          <a:p>
            <a:endParaRPr lang="es-CO" noProof="0" dirty="0"/>
          </a:p>
        </p:txBody>
      </p:sp>
      <p:sp>
        <p:nvSpPr>
          <p:cNvPr id="6" name="Shape 4"/>
          <p:cNvSpPr/>
          <p:nvPr/>
        </p:nvSpPr>
        <p:spPr>
          <a:xfrm>
            <a:off x="812800" y="2123281"/>
            <a:ext cx="10566400" cy="3575844"/>
          </a:xfrm>
          <a:custGeom>
            <a:avLst/>
            <a:gdLst/>
            <a:ahLst/>
            <a:cxnLst/>
            <a:rect l="l" t="t" r="r" b="b"/>
            <a:pathLst>
              <a:path w="10566400" h="3575844">
                <a:moveTo>
                  <a:pt x="152400" y="3575844"/>
                </a:moveTo>
                <a:lnTo>
                  <a:pt x="152400" y="3575844"/>
                </a:lnTo>
                <a:arcTo wR="152400" hR="152400" stAng="5400000" swAng="5400000"/>
                <a:lnTo>
                  <a:pt x="0" y="152400"/>
                </a:lnTo>
                <a:arcTo wR="152400" hR="152400" stAng="10800000" swAng="5400000"/>
                <a:lnTo>
                  <a:pt x="10414000" y="0"/>
                </a:lnTo>
                <a:arcTo wR="152400" hR="152400" stAng="16200000" swAng="5400000"/>
                <a:lnTo>
                  <a:pt x="10566400" y="152400"/>
                </a:lnTo>
                <a:arcTo wR="152400" hR="139700" stAng="0" swAng="-5400000"/>
                <a:lnTo>
                  <a:pt x="152400" y="12700"/>
                </a:lnTo>
                <a:arcTo wR="139700" hR="139700" stAng="16200000" swAng="-5400000"/>
                <a:lnTo>
                  <a:pt x="12700" y="3423444"/>
                </a:lnTo>
                <a:arcTo wR="139700" hR="152400" stAng="10800000" swAng="-5400000"/>
                <a:close/>
              </a:path>
            </a:pathLst>
          </a:custGeom>
          <a:solidFill>
            <a:srgbClr val="141413">
              <a:alpha val="22000"/>
            </a:srgbClr>
          </a:solidFill>
          <a:ln/>
        </p:spPr>
        <p:txBody>
          <a:bodyPr/>
          <a:lstStyle/>
          <a:p>
            <a:endParaRPr lang="es-CO" noProof="0" dirty="0"/>
          </a:p>
        </p:txBody>
      </p:sp>
      <p:graphicFrame>
        <p:nvGraphicFramePr>
          <p:cNvPr id="7" name="Table 0"/>
          <p:cNvGraphicFramePr>
            <a:graphicFrameLocks noGrp="1"/>
          </p:cNvGraphicFramePr>
          <p:nvPr>
            <p:extLst>
              <p:ext uri="{D42A27DB-BD31-4B8C-83A1-F6EECF244321}">
                <p14:modId xmlns:p14="http://schemas.microsoft.com/office/powerpoint/2010/main" val="3616750466"/>
              </p:ext>
            </p:extLst>
          </p:nvPr>
        </p:nvGraphicFramePr>
        <p:xfrm>
          <a:off x="825500" y="2135981"/>
          <a:ext cx="10541000" cy="3550446"/>
        </p:xfrm>
        <a:graphic>
          <a:graphicData uri="http://schemas.openxmlformats.org/drawingml/2006/table">
            <a:tbl>
              <a:tblPr/>
              <a:tblGrid>
                <a:gridCol w="4743450">
                  <a:extLst>
                    <a:ext uri="{9D8B030D-6E8A-4147-A177-3AD203B41FA5}">
                      <a16:colId xmlns:a16="http://schemas.microsoft.com/office/drawing/2014/main" val="20000"/>
                    </a:ext>
                  </a:extLst>
                </a:gridCol>
                <a:gridCol w="5797550">
                  <a:extLst>
                    <a:ext uri="{9D8B030D-6E8A-4147-A177-3AD203B41FA5}">
                      <a16:colId xmlns:a16="http://schemas.microsoft.com/office/drawing/2014/main" val="20001"/>
                    </a:ext>
                  </a:extLst>
                </a:gridCol>
              </a:tblGrid>
              <a:tr h="591741">
                <a:tc>
                  <a:txBody>
                    <a:bodyPr/>
                    <a:lstStyle/>
                    <a:p>
                      <a:pPr marL="0" indent="0">
                        <a:lnSpc>
                          <a:spcPts val="2240"/>
                        </a:lnSpc>
                        <a:buNone/>
                      </a:pPr>
                      <a:r>
                        <a:rPr lang="es-CO" sz="1600" b="1" noProof="0" dirty="0">
                          <a:solidFill>
                            <a:srgbClr val="1C2142"/>
                          </a:solidFill>
                          <a:latin typeface="Nunito Sans" pitchFamily="34" charset="0"/>
                          <a:ea typeface="Nunito Sans" charset="0"/>
                          <a:cs typeface="Nunito Sans" charset="0"/>
                        </a:rPr>
                        <a:t>Reporte</a:t>
                      </a:r>
                      <a:endParaRPr lang="es-CO" sz="1600" noProof="0" dirty="0">
                        <a:latin typeface="Nunito Sans" charset="0"/>
                        <a:ea typeface="Nunito Sans" charset="0"/>
                        <a:cs typeface="Nunito Sans" charset="0"/>
                      </a:endParaRPr>
                    </a:p>
                  </a:txBody>
                  <a:tcPr marL="228600" marR="228600" marT="152400" marB="152400">
                    <a:lnL w="0" cap="flat" cmpd="sng" algn="ctr">
                      <a:noFill/>
                    </a:lnL>
                    <a:lnR w="12700" cap="flat" cmpd="sng" algn="ctr">
                      <a:solidFill>
                        <a:srgbClr val="BABCC3"/>
                      </a:solidFill>
                      <a:prstDash val="solid"/>
                      <a:round/>
                      <a:headEnd type="none" w="med" len="med"/>
                      <a:tailEnd type="none" w="med" len="med"/>
                    </a:lnR>
                    <a:lnT w="0" cap="flat" cmpd="sng" algn="ctr">
                      <a:noFill/>
                    </a:lnT>
                    <a:lnB w="12700" cap="flat" cmpd="sng" algn="ctr">
                      <a:solidFill>
                        <a:srgbClr val="BABCC3"/>
                      </a:solidFill>
                      <a:prstDash val="solid"/>
                      <a:round/>
                      <a:headEnd type="none" w="med" len="med"/>
                      <a:tailEnd type="none" w="med" len="med"/>
                    </a:lnB>
                    <a:solidFill>
                      <a:srgbClr val="E9ECF4"/>
                    </a:solidFill>
                  </a:tcPr>
                </a:tc>
                <a:tc>
                  <a:txBody>
                    <a:bodyPr/>
                    <a:lstStyle/>
                    <a:p>
                      <a:pPr marL="0" indent="0">
                        <a:lnSpc>
                          <a:spcPts val="2240"/>
                        </a:lnSpc>
                        <a:buNone/>
                      </a:pPr>
                      <a:r>
                        <a:rPr lang="es-CO" sz="1600" b="1" noProof="0" dirty="0">
                          <a:solidFill>
                            <a:srgbClr val="1C2142"/>
                          </a:solidFill>
                          <a:latin typeface="Nunito Sans" pitchFamily="34" charset="0"/>
                          <a:ea typeface="Nunito Sans" pitchFamily="34" charset="-122"/>
                          <a:cs typeface="Nunito Sans" pitchFamily="34" charset="-120"/>
                        </a:rPr>
                        <a:t>En nuestra empresa</a:t>
                      </a:r>
                      <a:endParaRPr lang="es-CO" sz="1600" noProof="0" dirty="0">
                        <a:latin typeface="Nunito Sans" charset="0"/>
                        <a:ea typeface="Nunito Sans" charset="0"/>
                        <a:cs typeface="Nunito Sans" charset="0"/>
                      </a:endParaRPr>
                    </a:p>
                  </a:txBody>
                  <a:tcPr marL="228600" marR="228600" marT="152400" marB="152400">
                    <a:lnL w="12700" cap="flat" cmpd="sng" algn="ctr">
                      <a:solidFill>
                        <a:srgbClr val="BABCC3"/>
                      </a:solidFill>
                      <a:prstDash val="solid"/>
                      <a:round/>
                      <a:headEnd type="none" w="med" len="med"/>
                      <a:tailEnd type="none" w="med" len="med"/>
                    </a:lnL>
                    <a:lnR w="12700" cap="flat" cmpd="sng" algn="ctr">
                      <a:solidFill>
                        <a:srgbClr val="BABCC3"/>
                      </a:solidFill>
                      <a:prstDash val="solid"/>
                      <a:round/>
                      <a:headEnd type="none" w="med" len="med"/>
                      <a:tailEnd type="none" w="med" len="med"/>
                    </a:lnR>
                    <a:lnT w="0" cap="flat" cmpd="sng" algn="ctr">
                      <a:noFill/>
                    </a:lnT>
                    <a:lnB w="12700" cap="flat" cmpd="sng" algn="ctr">
                      <a:solidFill>
                        <a:srgbClr val="BABCC3"/>
                      </a:solidFill>
                      <a:prstDash val="solid"/>
                      <a:round/>
                      <a:headEnd type="none" w="med" len="med"/>
                      <a:tailEnd type="none" w="med" len="med"/>
                    </a:lnB>
                    <a:solidFill>
                      <a:srgbClr val="E9ECF4"/>
                    </a:solidFill>
                  </a:tcPr>
                </a:tc>
                <a:extLst>
                  <a:ext uri="{0D108BD9-81ED-4DB2-BD59-A6C34878D82A}">
                    <a16:rowId xmlns:a16="http://schemas.microsoft.com/office/drawing/2014/main" val="10000"/>
                  </a:ext>
                </a:extLst>
              </a:tr>
              <a:tr h="591741">
                <a:tc>
                  <a:txBody>
                    <a:bodyPr/>
                    <a:lstStyle/>
                    <a:p>
                      <a:pPr marL="0" indent="0">
                        <a:lnSpc>
                          <a:spcPts val="2240"/>
                        </a:lnSpc>
                        <a:buNone/>
                      </a:pPr>
                      <a:r>
                        <a:rPr lang="es-CO" sz="1600" noProof="0" dirty="0">
                          <a:solidFill>
                            <a:srgbClr val="1C2142"/>
                          </a:solidFill>
                          <a:latin typeface="Nunito Sans" pitchFamily="34" charset="0"/>
                          <a:ea typeface="Nunito Sans" pitchFamily="34" charset="-122"/>
                          <a:cs typeface="Nunito Sans" pitchFamily="34" charset="-120"/>
                        </a:rPr>
                        <a:t>Algo raro o un clic</a:t>
                      </a:r>
                      <a:endParaRPr lang="es-CO" sz="1600" noProof="0" dirty="0">
                        <a:latin typeface="Nunito Sans" charset="0"/>
                        <a:ea typeface="Nunito Sans" charset="0"/>
                        <a:cs typeface="Nunito Sans" charset="0"/>
                      </a:endParaRPr>
                    </a:p>
                  </a:txBody>
                  <a:tcPr marL="228600" marR="228600" marT="152400" marB="152400">
                    <a:lnL w="0" cap="flat" cmpd="sng" algn="ctr">
                      <a:noFill/>
                    </a:lnL>
                    <a:lnR w="12700" cap="flat" cmpd="sng" algn="ctr">
                      <a:solidFill>
                        <a:srgbClr val="C9C8C6"/>
                      </a:solidFill>
                      <a:prstDash val="solid"/>
                      <a:round/>
                      <a:headEnd type="none" w="med" len="med"/>
                      <a:tailEnd type="none" w="med" len="med"/>
                    </a:lnR>
                    <a:lnT w="12700" cap="flat" cmpd="sng" algn="ctr">
                      <a:solidFill>
                        <a:srgbClr val="BABCC3"/>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tc>
                  <a:txBody>
                    <a:bodyPr/>
                    <a:lstStyle/>
                    <a:p>
                      <a:pPr marL="0" indent="0">
                        <a:lnSpc>
                          <a:spcPts val="2240"/>
                        </a:lnSpc>
                        <a:buNone/>
                      </a:pPr>
                      <a:r>
                        <a:rPr lang="es-CO" sz="1600" noProof="0" dirty="0">
                          <a:solidFill>
                            <a:srgbClr val="4A5070"/>
                          </a:solidFill>
                          <a:latin typeface="Nunito Sans" pitchFamily="34" charset="0"/>
                          <a:ea typeface="Nunito Sans" pitchFamily="34" charset="-122"/>
                          <a:cs typeface="Nunito Sans" pitchFamily="34" charset="-120"/>
                        </a:rPr>
                        <a:t>[correo, botón o extensión]</a:t>
                      </a:r>
                      <a:endParaRPr lang="es-CO" sz="1600" noProof="0" dirty="0">
                        <a:latin typeface="Nunito Sans" charset="0"/>
                        <a:ea typeface="Nunito Sans" charset="0"/>
                        <a:cs typeface="Nunito Sans" charset="0"/>
                      </a:endParaRPr>
                    </a:p>
                  </a:txBody>
                  <a:tcPr marL="228600" marR="228600" marT="152400" marB="152400">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ABCC3"/>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extLst>
                  <a:ext uri="{0D108BD9-81ED-4DB2-BD59-A6C34878D82A}">
                    <a16:rowId xmlns:a16="http://schemas.microsoft.com/office/drawing/2014/main" val="10001"/>
                  </a:ext>
                </a:extLst>
              </a:tr>
              <a:tr h="591741">
                <a:tc>
                  <a:txBody>
                    <a:bodyPr/>
                    <a:lstStyle/>
                    <a:p>
                      <a:pPr marL="0" indent="0">
                        <a:lnSpc>
                          <a:spcPts val="2240"/>
                        </a:lnSpc>
                        <a:buNone/>
                      </a:pPr>
                      <a:r>
                        <a:rPr lang="es-CO" sz="1600" noProof="0" dirty="0">
                          <a:solidFill>
                            <a:srgbClr val="1C2142"/>
                          </a:solidFill>
                          <a:latin typeface="Nunito Sans" pitchFamily="34" charset="0"/>
                          <a:ea typeface="Nunito Sans" pitchFamily="34" charset="-122"/>
                          <a:cs typeface="Nunito Sans" pitchFamily="34" charset="-120"/>
                        </a:rPr>
                        <a:t>Verificar una solicitud urgente</a:t>
                      </a:r>
                      <a:endParaRPr lang="es-CO" sz="1600" noProof="0" dirty="0">
                        <a:latin typeface="Nunito Sans" charset="0"/>
                        <a:ea typeface="Nunito Sans" charset="0"/>
                        <a:cs typeface="Nunito Sans" charset="0"/>
                      </a:endParaRPr>
                    </a:p>
                  </a:txBody>
                  <a:tcPr marL="228600" marR="228600" marT="152400" marB="152400">
                    <a:lnL w="0" cap="flat" cmpd="sng" algn="ctr">
                      <a:noFill/>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tc>
                  <a:txBody>
                    <a:bodyPr/>
                    <a:lstStyle/>
                    <a:p>
                      <a:pPr marL="0" indent="0">
                        <a:lnSpc>
                          <a:spcPts val="2240"/>
                        </a:lnSpc>
                        <a:buNone/>
                      </a:pPr>
                      <a:r>
                        <a:rPr lang="es-CO" sz="1600" noProof="0" dirty="0">
                          <a:solidFill>
                            <a:srgbClr val="4A5070"/>
                          </a:solidFill>
                          <a:latin typeface="Nunito Sans" pitchFamily="34" charset="0"/>
                          <a:ea typeface="Nunito Sans" pitchFamily="34" charset="-122"/>
                          <a:cs typeface="Nunito Sans" pitchFamily="34" charset="-120"/>
                        </a:rPr>
                        <a:t>[persona o número]</a:t>
                      </a:r>
                      <a:endParaRPr lang="es-CO" sz="1600" noProof="0" dirty="0">
                        <a:latin typeface="Nunito Sans" charset="0"/>
                        <a:ea typeface="Nunito Sans" charset="0"/>
                        <a:cs typeface="Nunito Sans" charset="0"/>
                      </a:endParaRPr>
                    </a:p>
                  </a:txBody>
                  <a:tcPr marL="228600" marR="228600" marT="152400" marB="152400">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extLst>
                  <a:ext uri="{0D108BD9-81ED-4DB2-BD59-A6C34878D82A}">
                    <a16:rowId xmlns:a16="http://schemas.microsoft.com/office/drawing/2014/main" val="10002"/>
                  </a:ext>
                </a:extLst>
              </a:tr>
              <a:tr h="591741">
                <a:tc>
                  <a:txBody>
                    <a:bodyPr/>
                    <a:lstStyle/>
                    <a:p>
                      <a:pPr marL="0" indent="0">
                        <a:lnSpc>
                          <a:spcPts val="2240"/>
                        </a:lnSpc>
                        <a:buNone/>
                      </a:pPr>
                      <a:r>
                        <a:rPr lang="es-CO" sz="1600" noProof="0" dirty="0">
                          <a:solidFill>
                            <a:srgbClr val="1C2142"/>
                          </a:solidFill>
                          <a:latin typeface="Nunito Sans" pitchFamily="34" charset="0"/>
                          <a:ea typeface="Nunito Sans" pitchFamily="34" charset="-122"/>
                          <a:cs typeface="Nunito Sans" pitchFamily="34" charset="-120"/>
                        </a:rPr>
                        <a:t>Un gestor de contraseñas</a:t>
                      </a:r>
                      <a:endParaRPr lang="es-CO" sz="1600" noProof="0" dirty="0">
                        <a:latin typeface="Nunito Sans" charset="0"/>
                        <a:ea typeface="Nunito Sans" charset="0"/>
                        <a:cs typeface="Nunito Sans" charset="0"/>
                      </a:endParaRPr>
                    </a:p>
                  </a:txBody>
                  <a:tcPr marL="228600" marR="228600" marT="152400" marB="152400">
                    <a:lnL w="0" cap="flat" cmpd="sng" algn="ctr">
                      <a:noFill/>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tc>
                  <a:txBody>
                    <a:bodyPr/>
                    <a:lstStyle/>
                    <a:p>
                      <a:pPr marL="0" indent="0">
                        <a:lnSpc>
                          <a:spcPts val="2240"/>
                        </a:lnSpc>
                        <a:buNone/>
                      </a:pPr>
                      <a:r>
                        <a:rPr lang="es-CO" sz="1600" noProof="0" dirty="0">
                          <a:solidFill>
                            <a:srgbClr val="4A5070"/>
                          </a:solidFill>
                          <a:latin typeface="Nunito Sans" pitchFamily="34" charset="0"/>
                          <a:ea typeface="Nunito Sans" pitchFamily="34" charset="-122"/>
                          <a:cs typeface="Nunito Sans" pitchFamily="34" charset="-120"/>
                        </a:rPr>
                        <a:t>[herramienta y cómo pedirla]</a:t>
                      </a:r>
                      <a:endParaRPr lang="es-CO" sz="1600" noProof="0" dirty="0">
                        <a:latin typeface="Nunito Sans" charset="0"/>
                        <a:ea typeface="Nunito Sans" charset="0"/>
                        <a:cs typeface="Nunito Sans" charset="0"/>
                      </a:endParaRPr>
                    </a:p>
                  </a:txBody>
                  <a:tcPr marL="228600" marR="228600" marT="152400" marB="152400">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extLst>
                  <a:ext uri="{0D108BD9-81ED-4DB2-BD59-A6C34878D82A}">
                    <a16:rowId xmlns:a16="http://schemas.microsoft.com/office/drawing/2014/main" val="10003"/>
                  </a:ext>
                </a:extLst>
              </a:tr>
              <a:tr h="591741">
                <a:tc>
                  <a:txBody>
                    <a:bodyPr/>
                    <a:lstStyle/>
                    <a:p>
                      <a:pPr marL="0" indent="0">
                        <a:lnSpc>
                          <a:spcPts val="2240"/>
                        </a:lnSpc>
                        <a:buNone/>
                      </a:pPr>
                      <a:r>
                        <a:rPr lang="es-CO" sz="1600" noProof="0" dirty="0">
                          <a:solidFill>
                            <a:srgbClr val="1C2142"/>
                          </a:solidFill>
                          <a:latin typeface="Nunito Sans" pitchFamily="34" charset="0"/>
                          <a:ea typeface="Nunito Sans" pitchFamily="34" charset="-122"/>
                          <a:cs typeface="Nunito Sans" pitchFamily="34" charset="-120"/>
                        </a:rPr>
                        <a:t>Usar IA con información de trabajo</a:t>
                      </a:r>
                      <a:endParaRPr lang="es-CO" sz="1600" noProof="0" dirty="0">
                        <a:latin typeface="Nunito Sans" charset="0"/>
                        <a:ea typeface="Nunito Sans" charset="0"/>
                        <a:cs typeface="Nunito Sans" charset="0"/>
                      </a:endParaRPr>
                    </a:p>
                  </a:txBody>
                  <a:tcPr marL="228600" marR="228600" marT="152400" marB="152400">
                    <a:lnL w="0" cap="flat" cmpd="sng" algn="ctr">
                      <a:noFill/>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tc>
                  <a:txBody>
                    <a:bodyPr/>
                    <a:lstStyle/>
                    <a:p>
                      <a:pPr marL="0" indent="0">
                        <a:lnSpc>
                          <a:spcPts val="2240"/>
                        </a:lnSpc>
                        <a:buNone/>
                      </a:pPr>
                      <a:r>
                        <a:rPr lang="es-CO" sz="1600" noProof="0" dirty="0">
                          <a:solidFill>
                            <a:srgbClr val="4A5070"/>
                          </a:solidFill>
                          <a:latin typeface="Nunito Sans" pitchFamily="34" charset="0"/>
                          <a:ea typeface="Nunito Sans" pitchFamily="34" charset="-122"/>
                          <a:cs typeface="Nunito Sans" pitchFamily="34" charset="-120"/>
                        </a:rPr>
                        <a:t>[herramienta aprobada]</a:t>
                      </a:r>
                      <a:endParaRPr lang="es-CO" sz="1600" noProof="0" dirty="0">
                        <a:latin typeface="Nunito Sans" charset="0"/>
                        <a:ea typeface="Nunito Sans" charset="0"/>
                        <a:cs typeface="Nunito Sans" charset="0"/>
                      </a:endParaRPr>
                    </a:p>
                  </a:txBody>
                  <a:tcPr marL="228600" marR="228600" marT="152400" marB="152400">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extLst>
                  <a:ext uri="{0D108BD9-81ED-4DB2-BD59-A6C34878D82A}">
                    <a16:rowId xmlns:a16="http://schemas.microsoft.com/office/drawing/2014/main" val="10004"/>
                  </a:ext>
                </a:extLst>
              </a:tr>
              <a:tr h="591741">
                <a:tc>
                  <a:txBody>
                    <a:bodyPr/>
                    <a:lstStyle/>
                    <a:p>
                      <a:pPr marL="0" indent="0">
                        <a:lnSpc>
                          <a:spcPts val="2240"/>
                        </a:lnSpc>
                        <a:buNone/>
                      </a:pPr>
                      <a:r>
                        <a:rPr lang="es-CO" sz="1600" noProof="0" dirty="0">
                          <a:solidFill>
                            <a:srgbClr val="1C2142"/>
                          </a:solidFill>
                          <a:latin typeface="Nunito Sans" pitchFamily="34" charset="0"/>
                          <a:ea typeface="Nunito Sans" pitchFamily="34" charset="-122"/>
                          <a:cs typeface="Nunito Sans" pitchFamily="34" charset="-120"/>
                        </a:rPr>
                        <a:t>Resolver una duda</a:t>
                      </a:r>
                      <a:endParaRPr lang="es-CO" sz="1600" noProof="0" dirty="0">
                        <a:latin typeface="Nunito Sans" charset="0"/>
                        <a:ea typeface="Nunito Sans" charset="0"/>
                        <a:cs typeface="Nunito Sans" charset="0"/>
                      </a:endParaRPr>
                    </a:p>
                  </a:txBody>
                  <a:tcPr marL="228600" marR="228600" marT="152400" marB="152400">
                    <a:lnL w="0" cap="flat" cmpd="sng" algn="ctr">
                      <a:noFill/>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tc>
                  <a:txBody>
                    <a:bodyPr/>
                    <a:lstStyle/>
                    <a:p>
                      <a:pPr marL="0" indent="0">
                        <a:lnSpc>
                          <a:spcPts val="2240"/>
                        </a:lnSpc>
                        <a:buNone/>
                      </a:pPr>
                      <a:r>
                        <a:rPr lang="es-CO" sz="1600" noProof="0" dirty="0">
                          <a:solidFill>
                            <a:srgbClr val="4A5070"/>
                          </a:solidFill>
                          <a:latin typeface="Nunito Sans" pitchFamily="34" charset="0"/>
                          <a:ea typeface="Nunito Sans" pitchFamily="34" charset="-122"/>
                          <a:cs typeface="Nunito Sans" pitchFamily="34" charset="-120"/>
                        </a:rPr>
                        <a:t>[persona o área]</a:t>
                      </a:r>
                      <a:endParaRPr lang="es-CO" sz="1600" noProof="0" dirty="0">
                        <a:latin typeface="Nunito Sans" charset="0"/>
                        <a:ea typeface="Nunito Sans" charset="0"/>
                        <a:cs typeface="Nunito Sans" charset="0"/>
                      </a:endParaRPr>
                    </a:p>
                  </a:txBody>
                  <a:tcPr marL="228600" marR="228600" marT="152400" marB="152400">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pic>
        <p:nvPicPr>
          <p:cNvPr id="8" name="Image 0" descr="Pralogy"/>
          <p:cNvPicPr>
            <a:picLocks noChangeAspect="1"/>
          </p:cNvPicPr>
          <p:nvPr/>
        </p:nvPicPr>
        <p:blipFill>
          <a:blip r:embed="rId3"/>
          <a:srcRect l="-62" r="-62"/>
          <a:stretch/>
        </p:blipFill>
        <p:spPr>
          <a:xfrm>
            <a:off x="812800" y="6273800"/>
            <a:ext cx="1111250" cy="228600"/>
          </a:xfrm>
          <a:prstGeom prst="rect">
            <a:avLst/>
          </a:prstGeom>
        </p:spPr>
      </p:pic>
      <p:sp>
        <p:nvSpPr>
          <p:cNvPr id="9" name="Text 5"/>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27</a:t>
            </a:r>
            <a:endParaRPr lang="es-CO" sz="1200" noProof="0" dirty="0"/>
          </a:p>
        </p:txBody>
      </p:sp>
      <p:sp>
        <p:nvSpPr>
          <p:cNvPr id="10" name="Rectangle 9">
            <a:extLst>
              <a:ext uri="{FF2B5EF4-FFF2-40B4-BE49-F238E27FC236}">
                <a16:creationId xmlns:a16="http://schemas.microsoft.com/office/drawing/2014/main" id="{497AC5ED-E1C4-5E8F-6F4F-85FEAAA1724B}"/>
              </a:ext>
            </a:extLst>
          </p:cNvPr>
          <p:cNvSpPr/>
          <p:nvPr/>
        </p:nvSpPr>
        <p:spPr>
          <a:xfrm>
            <a:off x="3977640" y="2368296"/>
            <a:ext cx="3502152" cy="2843784"/>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 BORRAR ]</a:t>
            </a:r>
          </a:p>
          <a:p>
            <a:pPr algn="ctr"/>
            <a:r>
              <a:rPr lang="en-US" dirty="0"/>
              <a:t>LA IDEA ES AÑADIR INFORMACIÓN DEL CLIENTE ESPECÍFICO RESPECTO A HERRAMIENTAS E INFO DE CONTACTO</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8">
    <p:bg>
      <p:bgPr>
        <a:solidFill>
          <a:srgbClr val="E9ECF4"/>
        </a:solidFill>
        <a:effectLst/>
      </p:bgPr>
    </p:bg>
    <p:spTree>
      <p:nvGrpSpPr>
        <p:cNvPr id="1" name=""/>
        <p:cNvGrpSpPr/>
        <p:nvPr/>
      </p:nvGrpSpPr>
      <p:grpSpPr>
        <a:xfrm>
          <a:off x="0" y="0"/>
          <a:ext cx="0" cy="0"/>
          <a:chOff x="0" y="0"/>
          <a:chExt cx="0" cy="0"/>
        </a:xfrm>
      </p:grpSpPr>
      <p:sp>
        <p:nvSpPr>
          <p:cNvPr id="2" name="Shape 0"/>
          <p:cNvSpPr/>
          <p:nvPr/>
        </p:nvSpPr>
        <p:spPr>
          <a:xfrm>
            <a:off x="7493000" y="1905000"/>
            <a:ext cx="3937000" cy="3937000"/>
          </a:xfrm>
          <a:prstGeom prst="roundRect">
            <a:avLst>
              <a:gd name="adj" fmla="val 41290"/>
            </a:avLst>
          </a:prstGeom>
          <a:solidFill>
            <a:srgbClr val="DCE0F0"/>
          </a:solidFill>
          <a:ln/>
        </p:spPr>
        <p:txBody>
          <a:bodyPr/>
          <a:lstStyle/>
          <a:p>
            <a:endParaRPr lang="es-CO" noProof="0" dirty="0"/>
          </a:p>
        </p:txBody>
      </p:sp>
      <p:sp>
        <p:nvSpPr>
          <p:cNvPr id="3" name="Shape 1"/>
          <p:cNvSpPr/>
          <p:nvPr/>
        </p:nvSpPr>
        <p:spPr>
          <a:xfrm>
            <a:off x="9525000" y="1143000"/>
            <a:ext cx="1397000" cy="1397000"/>
          </a:xfrm>
          <a:prstGeom prst="roundRect">
            <a:avLst>
              <a:gd name="adj" fmla="val 50000"/>
            </a:avLst>
          </a:prstGeom>
          <a:solidFill>
            <a:srgbClr val="C7CCE8"/>
          </a:solidFill>
          <a:ln/>
        </p:spPr>
        <p:txBody>
          <a:bodyPr/>
          <a:lstStyle/>
          <a:p>
            <a:endParaRPr lang="es-CO" noProof="0" dirty="0"/>
          </a:p>
        </p:txBody>
      </p:sp>
      <p:pic>
        <p:nvPicPr>
          <p:cNvPr id="4" name="Image 0" descr="Logo de Pralogy"/>
          <p:cNvPicPr>
            <a:picLocks noChangeAspect="1"/>
          </p:cNvPicPr>
          <p:nvPr/>
        </p:nvPicPr>
        <p:blipFill>
          <a:blip r:embed="rId3"/>
          <a:srcRect t="-22" b="-22"/>
          <a:stretch/>
        </p:blipFill>
        <p:spPr>
          <a:xfrm>
            <a:off x="812800" y="812800"/>
            <a:ext cx="2095500" cy="431800"/>
          </a:xfrm>
          <a:prstGeom prst="rect">
            <a:avLst/>
          </a:prstGeom>
        </p:spPr>
      </p:pic>
      <p:sp>
        <p:nvSpPr>
          <p:cNvPr id="5" name="Text 2"/>
          <p:cNvSpPr>
            <a:spLocks noGrp="1"/>
          </p:cNvSpPr>
          <p:nvPr>
            <p:ph type="title"/>
          </p:nvPr>
        </p:nvSpPr>
        <p:spPr>
          <a:xfrm>
            <a:off x="812800" y="2312789"/>
            <a:ext cx="6867525" cy="1518841"/>
          </a:xfrm>
          <a:prstGeom prst="rect">
            <a:avLst/>
          </a:prstGeom>
          <a:noFill/>
          <a:ln/>
        </p:spPr>
        <p:txBody>
          <a:bodyPr wrap="square" lIns="0" tIns="0" rIns="0" bIns="0" rtlCol="0" anchor="t">
            <a:normAutofit/>
          </a:bodyPr>
          <a:lstStyle/>
          <a:p>
            <a:pPr marL="0" indent="0" algn="l">
              <a:lnSpc>
                <a:spcPts val="5880"/>
              </a:lnSpc>
              <a:buNone/>
            </a:pPr>
            <a:r>
              <a:rPr lang="es-CO" sz="5600" b="0" i="0" noProof="0" dirty="0">
                <a:solidFill>
                  <a:srgbClr val="1C2142"/>
                </a:solidFill>
                <a:latin typeface="Fraunces" pitchFamily="18" charset="0"/>
                <a:ea typeface="Fraunces" pitchFamily="18" charset="-122"/>
                <a:cs typeface="Fraunces" pitchFamily="18" charset="-120"/>
              </a:rPr>
              <a:t>Gracias por </a:t>
            </a:r>
            <a:r>
              <a:rPr lang="es-CO" sz="5600" dirty="0">
                <a:latin typeface="Fraunces" pitchFamily="18" charset="0"/>
                <a:ea typeface="Fraunces" pitchFamily="18" charset="-122"/>
                <a:cs typeface="Fraunces" pitchFamily="18" charset="-120"/>
              </a:rPr>
              <a:t>tu atención</a:t>
            </a:r>
            <a:r>
              <a:rPr lang="es-CO" sz="5600" b="0" i="0" noProof="0" dirty="0">
                <a:solidFill>
                  <a:srgbClr val="1C2142"/>
                </a:solidFill>
                <a:latin typeface="Fraunces" pitchFamily="18" charset="0"/>
                <a:ea typeface="Fraunces" pitchFamily="18" charset="-122"/>
                <a:cs typeface="Fraunces" pitchFamily="18" charset="-120"/>
              </a:rPr>
              <a:t>.</a:t>
            </a:r>
            <a:endParaRPr lang="es-CO" sz="5600" noProof="0" dirty="0"/>
          </a:p>
        </p:txBody>
      </p:sp>
      <p:sp>
        <p:nvSpPr>
          <p:cNvPr id="6" name="Text 3"/>
          <p:cNvSpPr/>
          <p:nvPr/>
        </p:nvSpPr>
        <p:spPr>
          <a:xfrm>
            <a:off x="812800" y="4034830"/>
            <a:ext cx="6867525" cy="736600"/>
          </a:xfrm>
          <a:prstGeom prst="rect">
            <a:avLst/>
          </a:prstGeom>
          <a:noFill/>
          <a:ln/>
        </p:spPr>
        <p:txBody>
          <a:bodyPr wrap="square" lIns="0" tIns="0" rIns="0" bIns="0" rtlCol="0" anchor="t">
            <a:normAutofit/>
          </a:bodyPr>
          <a:lstStyle/>
          <a:p>
            <a:pPr marL="0" indent="0" algn="l">
              <a:lnSpc>
                <a:spcPts val="2800"/>
              </a:lnSpc>
              <a:buNone/>
            </a:pPr>
            <a:r>
              <a:rPr lang="es-CO" sz="2000" dirty="0">
                <a:solidFill>
                  <a:srgbClr val="4A5070"/>
                </a:solidFill>
                <a:latin typeface="Nunito Sans" pitchFamily="34" charset="0"/>
                <a:ea typeface="Nunito Sans" pitchFamily="34" charset="-122"/>
                <a:cs typeface="Nunito Sans" pitchFamily="34" charset="-120"/>
              </a:rPr>
              <a:t>Si tienes preguntas, este es el mejor momento para hacerlas. En un momento iremos con el cuestionario.</a:t>
            </a:r>
            <a:endParaRPr lang="es-CO" sz="2000" noProof="0" dirty="0"/>
          </a:p>
        </p:txBody>
      </p:sp>
      <p:sp>
        <p:nvSpPr>
          <p:cNvPr id="9" name="Text 6">
            <a:extLst>
              <a:ext uri="{FF2B5EF4-FFF2-40B4-BE49-F238E27FC236}">
                <a16:creationId xmlns:a16="http://schemas.microsoft.com/office/drawing/2014/main" id="{C7BCD414-21A0-7C69-944E-EBA890142E3F}"/>
              </a:ext>
            </a:extLst>
          </p:cNvPr>
          <p:cNvSpPr/>
          <p:nvPr/>
        </p:nvSpPr>
        <p:spPr>
          <a:xfrm>
            <a:off x="812800" y="5814120"/>
            <a:ext cx="10883392" cy="256480"/>
          </a:xfrm>
          <a:prstGeom prst="rect">
            <a:avLst/>
          </a:prstGeom>
          <a:noFill/>
          <a:ln/>
        </p:spPr>
        <p:txBody>
          <a:bodyPr wrap="square" lIns="0" tIns="0" rIns="0" bIns="0" rtlCol="0" anchor="t">
            <a:normAutofit/>
          </a:bodyPr>
          <a:lstStyle/>
          <a:p>
            <a:pPr marL="0" indent="0" algn="l">
              <a:lnSpc>
                <a:spcPts val="1820"/>
              </a:lnSpc>
              <a:buNone/>
            </a:pPr>
            <a:r>
              <a:rPr lang="es-CO" sz="1300" noProof="0" dirty="0">
                <a:solidFill>
                  <a:srgbClr val="6B7085"/>
                </a:solidFill>
                <a:latin typeface="Nunito Sans" pitchFamily="34" charset="0"/>
                <a:ea typeface="Nunito Sans" pitchFamily="34" charset="-122"/>
                <a:cs typeface="Nunito Sans" pitchFamily="34" charset="-120"/>
              </a:rPr>
              <a:t>Zamir Velázquez. Juan Cárdenas · 29 de Octubre de 2026 · [Cliente]</a:t>
            </a:r>
            <a:endParaRPr lang="es-CO" sz="1300" noProof="0" dirty="0"/>
          </a:p>
        </p:txBody>
      </p:sp>
    </p:spTree>
  </p:cSld>
  <p:clrMapOvr>
    <a:masterClrMapping/>
  </p:clrMapOvr>
</p:sld>
</file>

<file path=ppt/theme/theme1.xml><?xml version="1.0" encoding="utf-8"?>
<a:theme xmlns:a="http://schemas.openxmlformats.org/drawingml/2006/main" name="Ciberseguridad sin ansiedad">
  <a:themeElements>
    <a:clrScheme name="Ciberseguridad sin ansiedad">
      <a:dk1>
        <a:srgbClr val="1C2142"/>
      </a:dk1>
      <a:lt1>
        <a:srgbClr val="F6F5F1"/>
      </a:lt1>
      <a:dk2>
        <a:srgbClr val="53566E"/>
      </a:dk2>
      <a:lt2>
        <a:srgbClr val="E0E0E0"/>
      </a:lt2>
      <a:accent1>
        <a:srgbClr val="2F3EBF"/>
      </a:accent1>
      <a:accent2>
        <a:srgbClr val="9DA8F2"/>
      </a:accent2>
      <a:accent3>
        <a:srgbClr val="2E3A9E"/>
      </a:accent3>
      <a:accent4>
        <a:srgbClr val="4A5070"/>
      </a:accent4>
      <a:accent5>
        <a:srgbClr val="6B7085"/>
      </a:accent5>
      <a:accent6>
        <a:srgbClr val="C7CCE8"/>
      </a:accent6>
      <a:hlink>
        <a:srgbClr val="0563C1"/>
      </a:hlink>
      <a:folHlink>
        <a:srgbClr val="954F72"/>
      </a:folHlink>
    </a:clrScheme>
    <a:fontScheme name="Ciberseguridad sin ansiedad">
      <a:majorFont>
        <a:latin typeface="Fraunce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1069</TotalTime>
  <Words>2964</Words>
  <Application>Microsoft Office PowerPoint</Application>
  <PresentationFormat>Widescreen</PresentationFormat>
  <Paragraphs>201</Paragraphs>
  <Slides>21</Slides>
  <Notes>21</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Nunito Sans</vt:lpstr>
      <vt:lpstr>Wingdings</vt:lpstr>
      <vt:lpstr>Arial</vt:lpstr>
      <vt:lpstr>Fraunces</vt:lpstr>
      <vt:lpstr>Ciberseguridad sin ansiedad</vt:lpstr>
      <vt:lpstr>Ciberseguridad sin ansiedad</vt:lpstr>
      <vt:lpstr>¿Por qué yo? ¿Es necesario?</vt:lpstr>
      <vt:lpstr>Una empresa de ciberseguridad contrató a un hacker sin saberlo</vt:lpstr>
      <vt:lpstr>No eres el eslabón débil.</vt:lpstr>
      <vt:lpstr>La urgencia como arma</vt:lpstr>
      <vt:lpstr>No atacan tu computador. Prefieren atacar tus emociones.</vt:lpstr>
      <vt:lpstr>Ingeniería social en su mayor esplendor.</vt:lpstr>
      <vt:lpstr>PowerPoint Presentation</vt:lpstr>
      <vt:lpstr>Confía en mí, me conoces.</vt:lpstr>
      <vt:lpstr>Las estafas funcionan porque inducen pánico inmediato.</vt:lpstr>
      <vt:lpstr>Tres hábitos útiles.</vt:lpstr>
      <vt:lpstr>Un gestor de contraseñas recuerda por ti.</vt:lpstr>
      <vt:lpstr>Pausa y verifica por otro canal</vt:lpstr>
      <vt:lpstr>Activa la verificación en dos pasos.</vt:lpstr>
      <vt:lpstr>¿A dónde van las conversaciones con la IA?</vt:lpstr>
      <vt:lpstr>Gratis vs empresarial</vt:lpstr>
      <vt:lpstr>Si pasa algo, repórtalo.</vt:lpstr>
      <vt:lpstr>Ocultar no ayuda a nadie</vt:lpstr>
      <vt:lpstr>Qué pasa cuando reportas</vt:lpstr>
      <vt:lpstr>Si crees que clicaste algo sospechoso, contacta:</vt:lpstr>
      <vt:lpstr>Gracias por tu atención.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Ciberseguridad sin ansiedad</dc:title>
  <dc:subject/>
  <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Nunito Sans
Copyright 2016 The Nunito Sans Project Authors (https://github.com/Fonthausen/NunitoSans)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Fraunces
Copyright 2018 The Fraunces Project Authors (https://github.com/undercasetype/Fraunces)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cp:lastModifiedBy>Pralogy Security</cp:lastModifiedBy>
  <cp:revision>12</cp:revision>
  <dcterms:created xsi:type="dcterms:W3CDTF">2026-10-22T13:59:02Z</dcterms:created>
  <dcterms:modified xsi:type="dcterms:W3CDTF">2026-10-26T18:04:15Z</dcterms:modified>
</cp:coreProperties>
</file>