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30.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60" r:id="rId4"/>
    <p:sldId id="259" r:id="rId5"/>
    <p:sldId id="262" r:id="rId6"/>
    <p:sldId id="263" r:id="rId7"/>
    <p:sldId id="264" r:id="rId8"/>
    <p:sldId id="265" r:id="rId9"/>
    <p:sldId id="284" r:id="rId10"/>
    <p:sldId id="269" r:id="rId11"/>
    <p:sldId id="270" r:id="rId12"/>
    <p:sldId id="272" r:id="rId13"/>
    <p:sldId id="273" r:id="rId14"/>
    <p:sldId id="274" r:id="rId15"/>
    <p:sldId id="285" r:id="rId16"/>
    <p:sldId id="286" r:id="rId17"/>
    <p:sldId id="276" r:id="rId18"/>
    <p:sldId id="278" r:id="rId19"/>
    <p:sldId id="279" r:id="rId20"/>
    <p:sldId id="287" r:id="rId33"/>
    <p:sldId id="288" r:id="rId34"/>
    <p:sldId id="289" r:id="rId35"/>
    <p:sldId id="290" r:id="rId36"/>
    <p:sldId id="282" r:id="rId21"/>
    <p:sldId id="283" r:id="rId22"/>
  </p:sldIdLst>
  <p:sldSz cx="12192000" cy="6858000"/>
  <p:notesSz cx="6858000" cy="12192000"/>
  <p:embeddedFontLst>
    <p:embeddedFont>
      <p:font typeface="Fraunces" panose="020B0604020202020204" charset="0"/>
      <p:regular r:id="rId24"/>
      <p:bold r:id="rId25"/>
    </p:embeddedFont>
    <p:embeddedFont>
      <p:font typeface="Nunito Sans" pitchFamily="2" charset="0"/>
      <p:regular r:id="rId26"/>
      <p:bold r:id="rId27"/>
      <p:italic r:id="rId2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104" d="100"/>
          <a:sy n="104" d="100"/>
        </p:scale>
        <p:origin x="83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notesMaster" Target="notesMasters/notesMaster1.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8207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cálida, sin formalidades. Presentarse en una línea. Decir desde el inicio: esta no es la típica capacitación de seguridad llena de reglas. Es una conversación para que salgan con menos carga, no con más. Duración: una hora.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Siente</a:t>
            </a:r>
            <a:r>
              <a:rPr lang="en-US" dirty="0"/>
              <a:t> </a:t>
            </a:r>
            <a:r>
              <a:rPr lang="en-US" dirty="0" err="1"/>
              <a:t>que</a:t>
            </a:r>
            <a:r>
              <a:rPr lang="en-US" dirty="0"/>
              <a:t> </a:t>
            </a:r>
            <a:r>
              <a:rPr lang="en-US" dirty="0" err="1"/>
              <a:t>su</a:t>
            </a:r>
            <a:r>
              <a:rPr lang="en-US" dirty="0"/>
              <a:t> día </a:t>
            </a:r>
            <a:r>
              <a:rPr lang="en-US" dirty="0" err="1"/>
              <a:t>está</a:t>
            </a:r>
            <a:r>
              <a:rPr lang="en-US" dirty="0"/>
              <a:t> </a:t>
            </a:r>
            <a:r>
              <a:rPr lang="en-US" dirty="0" err="1"/>
              <a:t>lleno</a:t>
            </a:r>
            <a:r>
              <a:rPr lang="en-US" dirty="0"/>
              <a:t> de </a:t>
            </a:r>
            <a:r>
              <a:rPr lang="en-US" dirty="0" err="1"/>
              <a:t>pendientes</a:t>
            </a:r>
            <a:r>
              <a:rPr lang="en-US" dirty="0"/>
              <a:t>, </a:t>
            </a:r>
            <a:r>
              <a:rPr lang="en-US" dirty="0" err="1"/>
              <a:t>tareas</a:t>
            </a:r>
            <a:r>
              <a:rPr lang="en-US" dirty="0"/>
              <a:t> y </a:t>
            </a:r>
            <a:r>
              <a:rPr lang="en-US" dirty="0" err="1"/>
              <a:t>obligaciones</a:t>
            </a:r>
            <a:r>
              <a:rPr lang="en-US" dirty="0"/>
              <a:t> con las </a:t>
            </a:r>
            <a:r>
              <a:rPr lang="en-US" dirty="0" err="1"/>
              <a:t>que</a:t>
            </a:r>
            <a:r>
              <a:rPr lang="en-US" dirty="0"/>
              <a:t> se </a:t>
            </a:r>
            <a:r>
              <a:rPr lang="en-US" dirty="0" err="1"/>
              <a:t>siente</a:t>
            </a:r>
            <a:r>
              <a:rPr lang="en-US" dirty="0"/>
              <a:t> </a:t>
            </a:r>
            <a:r>
              <a:rPr lang="en-US" dirty="0" err="1"/>
              <a:t>abrumado</a:t>
            </a:r>
            <a:r>
              <a:rPr lang="en-US" dirty="0"/>
              <a:t>, y </a:t>
            </a:r>
            <a:r>
              <a:rPr lang="en-US" dirty="0" err="1"/>
              <a:t>además</a:t>
            </a:r>
            <a:r>
              <a:rPr lang="en-US" dirty="0"/>
              <a:t> le </a:t>
            </a:r>
            <a:r>
              <a:rPr lang="en-US" dirty="0" err="1"/>
              <a:t>parece</a:t>
            </a:r>
            <a:r>
              <a:rPr lang="en-US" dirty="0"/>
              <a:t> </a:t>
            </a:r>
            <a:r>
              <a:rPr lang="en-US" dirty="0" err="1"/>
              <a:t>que</a:t>
            </a:r>
            <a:r>
              <a:rPr lang="en-US" dirty="0"/>
              <a:t> la </a:t>
            </a:r>
            <a:r>
              <a:rPr lang="en-US" dirty="0" err="1"/>
              <a:t>ciberseguridad</a:t>
            </a:r>
            <a:r>
              <a:rPr lang="en-US" dirty="0"/>
              <a:t> le </a:t>
            </a:r>
            <a:r>
              <a:rPr lang="en-US" dirty="0" err="1"/>
              <a:t>añade</a:t>
            </a:r>
            <a:r>
              <a:rPr lang="en-US" dirty="0"/>
              <a:t> </a:t>
            </a:r>
            <a:r>
              <a:rPr lang="en-US" dirty="0" err="1"/>
              <a:t>una</a:t>
            </a:r>
            <a:r>
              <a:rPr lang="en-US" dirty="0"/>
              <a:t> </a:t>
            </a:r>
            <a:r>
              <a:rPr lang="en-US" dirty="0" err="1"/>
              <a:t>capa</a:t>
            </a:r>
            <a:r>
              <a:rPr lang="en-US" dirty="0"/>
              <a:t> extra de </a:t>
            </a:r>
            <a:r>
              <a:rPr lang="en-US" dirty="0" err="1"/>
              <a:t>estrés</a:t>
            </a:r>
            <a:r>
              <a:rPr lang="en-US" dirty="0"/>
              <a:t> y </a:t>
            </a:r>
            <a:r>
              <a:rPr lang="en-US" dirty="0" err="1"/>
              <a:t>ansiedad</a:t>
            </a:r>
            <a:r>
              <a:rPr lang="en-US" dirty="0"/>
              <a:t>?</a:t>
            </a:r>
          </a:p>
          <a:p>
            <a:r>
              <a:rPr lang="en-US" dirty="0" err="1"/>
              <a:t>Tenemos</a:t>
            </a:r>
            <a:r>
              <a:rPr lang="en-US" dirty="0"/>
              <a:t> </a:t>
            </a:r>
            <a:r>
              <a:rPr lang="en-US" dirty="0" err="1"/>
              <a:t>acceso</a:t>
            </a:r>
            <a:r>
              <a:rPr lang="en-US" dirty="0"/>
              <a:t> a </a:t>
            </a:r>
            <a:r>
              <a:rPr lang="en-US" dirty="0" err="1"/>
              <a:t>información</a:t>
            </a:r>
            <a:r>
              <a:rPr lang="en-US" dirty="0"/>
              <a:t> de la </a:t>
            </a:r>
            <a:r>
              <a:rPr lang="en-US" dirty="0" err="1"/>
              <a:t>empresa</a:t>
            </a:r>
            <a:r>
              <a:rPr lang="en-US" dirty="0"/>
              <a:t> </a:t>
            </a:r>
            <a:r>
              <a:rPr lang="en-US" dirty="0" err="1"/>
              <a:t>como</a:t>
            </a:r>
            <a:r>
              <a:rPr lang="en-US" dirty="0"/>
              <a:t> Facturas, </a:t>
            </a:r>
            <a:r>
              <a:rPr lang="en-US" dirty="0" err="1"/>
              <a:t>aprobaciones</a:t>
            </a:r>
            <a:r>
              <a:rPr lang="en-US" dirty="0"/>
              <a:t>, </a:t>
            </a:r>
            <a:r>
              <a:rPr lang="en-US" dirty="0" err="1"/>
              <a:t>correos</a:t>
            </a:r>
            <a:r>
              <a:rPr lang="en-US" dirty="0"/>
              <a:t>, bases de </a:t>
            </a:r>
            <a:r>
              <a:rPr lang="en-US" dirty="0" err="1"/>
              <a:t>datos</a:t>
            </a:r>
            <a:r>
              <a:rPr lang="en-US" dirty="0"/>
              <a:t>, </a:t>
            </a:r>
            <a:r>
              <a:rPr lang="en-US" dirty="0" err="1"/>
              <a:t>documentos</a:t>
            </a:r>
            <a:r>
              <a:rPr lang="en-US" dirty="0"/>
              <a:t>. </a:t>
            </a:r>
            <a:r>
              <a:rPr lang="en-US" dirty="0" err="1"/>
              <a:t>Puede</a:t>
            </a:r>
            <a:r>
              <a:rPr lang="en-US" dirty="0"/>
              <a:t> </a:t>
            </a:r>
            <a:r>
              <a:rPr lang="en-US" dirty="0" err="1"/>
              <a:t>parecernos</a:t>
            </a:r>
            <a:r>
              <a:rPr lang="en-US" dirty="0"/>
              <a:t> </a:t>
            </a:r>
            <a:r>
              <a:rPr lang="en-US" dirty="0" err="1"/>
              <a:t>que</a:t>
            </a:r>
            <a:r>
              <a:rPr lang="en-US" dirty="0"/>
              <a:t> la </a:t>
            </a:r>
            <a:r>
              <a:rPr lang="en-US" dirty="0" err="1"/>
              <a:t>información</a:t>
            </a:r>
            <a:r>
              <a:rPr lang="en-US" dirty="0"/>
              <a:t> </a:t>
            </a:r>
            <a:r>
              <a:rPr lang="en-US" dirty="0" err="1"/>
              <a:t>que</a:t>
            </a:r>
            <a:r>
              <a:rPr lang="en-US" dirty="0"/>
              <a:t> </a:t>
            </a:r>
            <a:r>
              <a:rPr lang="en-US" dirty="0" err="1"/>
              <a:t>manejamos</a:t>
            </a:r>
            <a:r>
              <a:rPr lang="en-US" dirty="0"/>
              <a:t> no es tan </a:t>
            </a:r>
            <a:r>
              <a:rPr lang="en-US" dirty="0" err="1"/>
              <a:t>relevante</a:t>
            </a:r>
            <a:r>
              <a:rPr lang="en-US" dirty="0"/>
              <a:t> </a:t>
            </a:r>
            <a:r>
              <a:rPr lang="en-US" dirty="0" err="1"/>
              <a:t>pero</a:t>
            </a:r>
            <a:r>
              <a:rPr lang="en-US" dirty="0"/>
              <a:t> para un </a:t>
            </a:r>
            <a:r>
              <a:rPr lang="en-US" dirty="0" err="1"/>
              <a:t>atacante</a:t>
            </a:r>
            <a:r>
              <a:rPr lang="en-US" dirty="0"/>
              <a:t> </a:t>
            </a:r>
            <a:r>
              <a:rPr lang="en-US" dirty="0" err="1"/>
              <a:t>esta</a:t>
            </a:r>
            <a:r>
              <a:rPr lang="en-US" dirty="0"/>
              <a:t> </a:t>
            </a:r>
            <a:r>
              <a:rPr lang="en-US" dirty="0" err="1"/>
              <a:t>información</a:t>
            </a:r>
            <a:r>
              <a:rPr lang="en-US" dirty="0"/>
              <a:t> es </a:t>
            </a:r>
            <a:r>
              <a:rPr lang="en-US" dirty="0" err="1"/>
              <a:t>oro</a:t>
            </a:r>
            <a:r>
              <a:rPr lang="en-US" dirty="0"/>
              <a:t> y van a </a:t>
            </a:r>
            <a:r>
              <a:rPr lang="en-US" dirty="0" err="1"/>
              <a:t>buscar</a:t>
            </a:r>
            <a:r>
              <a:rPr lang="en-US" dirty="0"/>
              <a:t> </a:t>
            </a:r>
            <a:r>
              <a:rPr lang="en-US" dirty="0" err="1"/>
              <a:t>conseguirla</a:t>
            </a:r>
            <a:r>
              <a:rPr lang="en-US" dirty="0"/>
              <a:t> </a:t>
            </a:r>
            <a:r>
              <a:rPr lang="en-US" dirty="0" err="1"/>
              <a:t>engañandonos</a:t>
            </a:r>
            <a:r>
              <a:rPr lang="en-US" dirty="0"/>
              <a:t>.</a:t>
            </a:r>
          </a:p>
          <a:p>
            <a:r>
              <a:rPr lang="en-US" dirty="0"/>
              <a:t>Esto se </a:t>
            </a:r>
            <a:r>
              <a:rPr lang="en-US" dirty="0" err="1"/>
              <a:t>conoce</a:t>
            </a:r>
            <a:r>
              <a:rPr lang="en-US" dirty="0"/>
              <a:t> </a:t>
            </a:r>
            <a:r>
              <a:rPr lang="en-US" dirty="0" err="1"/>
              <a:t>como</a:t>
            </a:r>
            <a:r>
              <a:rPr lang="en-US" dirty="0"/>
              <a:t> phishing, </a:t>
            </a:r>
            <a:r>
              <a:rPr lang="en-US" dirty="0" err="1"/>
              <a:t>pero</a:t>
            </a:r>
            <a:r>
              <a:rPr lang="en-US" dirty="0"/>
              <a:t> </a:t>
            </a:r>
            <a:r>
              <a:rPr lang="en-US" dirty="0" err="1"/>
              <a:t>quiero</a:t>
            </a:r>
            <a:r>
              <a:rPr lang="en-US" dirty="0"/>
              <a:t> </a:t>
            </a:r>
            <a:r>
              <a:rPr lang="en-US" dirty="0" err="1"/>
              <a:t>que</a:t>
            </a:r>
            <a:r>
              <a:rPr lang="en-US" dirty="0"/>
              <a:t> </a:t>
            </a:r>
            <a:r>
              <a:rPr lang="en-US" dirty="0" err="1"/>
              <a:t>sepas</a:t>
            </a:r>
            <a:r>
              <a:rPr lang="en-US" dirty="0"/>
              <a:t> </a:t>
            </a:r>
            <a:r>
              <a:rPr lang="en-US" dirty="0" err="1"/>
              <a:t>que</a:t>
            </a:r>
            <a:r>
              <a:rPr lang="en-US" dirty="0"/>
              <a:t> el phishing no es </a:t>
            </a:r>
            <a:r>
              <a:rPr lang="en-US" dirty="0" err="1"/>
              <a:t>tu</a:t>
            </a:r>
            <a:r>
              <a:rPr lang="en-US" dirty="0"/>
              <a:t> culpa. </a:t>
            </a:r>
            <a:r>
              <a:rPr lang="en-US" dirty="0" err="1"/>
              <a:t>Reportar</a:t>
            </a:r>
            <a:r>
              <a:rPr lang="en-US" dirty="0"/>
              <a:t> </a:t>
            </a:r>
            <a:r>
              <a:rPr lang="en-US" dirty="0" err="1"/>
              <a:t>siempre</a:t>
            </a:r>
            <a:r>
              <a:rPr lang="en-US" dirty="0"/>
              <a:t> </a:t>
            </a:r>
            <a:r>
              <a:rPr lang="en-US" dirty="0" err="1"/>
              <a:t>va</a:t>
            </a:r>
            <a:r>
              <a:rPr lang="en-US" dirty="0"/>
              <a:t> a ser la </a:t>
            </a:r>
            <a:r>
              <a:rPr lang="en-US" dirty="0" err="1"/>
              <a:t>mejor</a:t>
            </a:r>
            <a:r>
              <a:rPr lang="en-US" dirty="0"/>
              <a:t> </a:t>
            </a:r>
            <a:r>
              <a:rPr lang="en-US" dirty="0" err="1"/>
              <a:t>opcion</a:t>
            </a:r>
            <a:r>
              <a:rPr lang="en-US" dirty="0"/>
              <a:t>.</a:t>
            </a:r>
          </a:p>
          <a:p>
            <a:r>
              <a:rPr lang="en-US" dirty="0"/>
              <a:t>Lo </a:t>
            </a:r>
            <a:r>
              <a:rPr lang="en-US" dirty="0" err="1"/>
              <a:t>más</a:t>
            </a:r>
            <a:r>
              <a:rPr lang="en-US" dirty="0"/>
              <a:t> </a:t>
            </a:r>
            <a:r>
              <a:rPr lang="en-US" dirty="0" err="1"/>
              <a:t>irónico</a:t>
            </a:r>
            <a:r>
              <a:rPr lang="en-US" dirty="0"/>
              <a:t> de </a:t>
            </a:r>
            <a:r>
              <a:rPr lang="en-US" dirty="0" err="1"/>
              <a:t>todo</a:t>
            </a:r>
            <a:r>
              <a:rPr lang="en-US" dirty="0"/>
              <a:t> es </a:t>
            </a:r>
            <a:r>
              <a:rPr lang="en-US" dirty="0" err="1"/>
              <a:t>que</a:t>
            </a:r>
            <a:r>
              <a:rPr lang="en-US" dirty="0"/>
              <a:t> </a:t>
            </a:r>
            <a:r>
              <a:rPr lang="en-US" dirty="0" err="1"/>
              <a:t>todos</a:t>
            </a:r>
            <a:r>
              <a:rPr lang="en-US" dirty="0"/>
              <a:t> </a:t>
            </a:r>
            <a:r>
              <a:rPr lang="en-US" dirty="0" err="1"/>
              <a:t>tenemos</a:t>
            </a:r>
            <a:r>
              <a:rPr lang="en-US" dirty="0"/>
              <a:t> </a:t>
            </a:r>
            <a:r>
              <a:rPr lang="en-US" dirty="0" err="1"/>
              <a:t>que</a:t>
            </a:r>
            <a:r>
              <a:rPr lang="en-US" dirty="0"/>
              <a:t> </a:t>
            </a:r>
            <a:r>
              <a:rPr lang="en-US" dirty="0" err="1"/>
              <a:t>estar</a:t>
            </a:r>
            <a:r>
              <a:rPr lang="en-US" dirty="0"/>
              <a:t> </a:t>
            </a:r>
            <a:r>
              <a:rPr lang="en-US" dirty="0" err="1"/>
              <a:t>alerta</a:t>
            </a:r>
            <a:r>
              <a:rPr lang="en-US" dirty="0"/>
              <a:t>, </a:t>
            </a:r>
            <a:r>
              <a:rPr lang="en-US" dirty="0" err="1"/>
              <a:t>ya</a:t>
            </a:r>
            <a:r>
              <a:rPr lang="en-US" dirty="0"/>
              <a:t> </a:t>
            </a:r>
            <a:r>
              <a:rPr lang="en-US" dirty="0" err="1"/>
              <a:t>que</a:t>
            </a:r>
            <a:r>
              <a:rPr lang="en-US" dirty="0"/>
              <a:t> hasta las </a:t>
            </a:r>
            <a:r>
              <a:rPr lang="en-US" dirty="0" err="1"/>
              <a:t>empresas</a:t>
            </a:r>
            <a:r>
              <a:rPr lang="en-US" dirty="0"/>
              <a:t> de </a:t>
            </a:r>
            <a:r>
              <a:rPr lang="en-US" dirty="0" err="1"/>
              <a:t>ciberseguridad</a:t>
            </a:r>
            <a:r>
              <a:rPr lang="en-US" dirty="0"/>
              <a:t> </a:t>
            </a:r>
            <a:r>
              <a:rPr lang="en-US" dirty="0" err="1"/>
              <a:t>caen</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KnowBe4 es una empresa cuyo negocio es entrenar empleados contra el phishing. En julio de 2024 contrató a un ingeniero remoto que resultó ser un operativo de Corea del Norte. Si le pasa a ellos, a cualquiera le puede pasar. Lo importante es cómo terminó: nadie fue despedido por haberlo entrevistado; el sistema de detección alertó en unos 25 minutos y contuvieron el equipo esa misma noche. Fuente: blog.knowbe4.com, «How a North Korean Fake IT Worker Tried to Infiltrate Us».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primer bloque, unos 15 minutos. Idea central: los ataques no explotan que no sepas de tecnología. Explotan emociones que todos tenemos. Reconocer la emoción es la defensa.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cuatro mensajes en voz alta. Preguntar: ¿cuál de estos han recibido? Casi siempre alguien reconoce el del gerente o el del banco. El punto: ninguno pide saber de tecnología. Todos buscan que actúes antes de pensar. Si reconoces la emoción, ya ganaste la mitad.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Como resultado, se transfirieron aproximadamente 25 millones de dólares a cinco cuentas bancarias en Hong Kong [1]. El robo no se detectó hasta que el empleado que fue víctima del ataque se comunicó con un superior de </a:t>
            </a:r>
            <a:r>
              <a:rPr lang="es-ES" dirty="0" err="1"/>
              <a:t>Arup</a:t>
            </a:r>
            <a:r>
              <a:rPr lang="es-ES" dirty="0"/>
              <a:t>, quien no tenía conocimiento de las transacciones en cuestión. A finales de 2025, la investigación seguía en curso y no se ha dado a conocer públicamente ninguna información nueva sobre el atacante.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Contraste directo con Arup. Mismo tipo de ataque, distinto final. La diferencia no fue tecnología, fue una pausa y una pregunta que solo la persona real podía responder. Invitar a la sala a pensar: ¿qué pregunta le harían a su jefe? Lo que almorzaron, el nombre de su mascota, algo de la última reunión. Fuente: Bloomberg, 26 de julio de 2024; La República (Colombia).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EEBE2-BAF2-86D4-E0A5-40BFE7DF9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592BC8-506D-46CB-B429-432F1C0F9D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08454B-EF9A-8DEF-4D30-857702DF34D5}"/>
              </a:ext>
            </a:extLst>
          </p:cNvPr>
          <p:cNvSpPr>
            <a:spLocks noGrp="1"/>
          </p:cNvSpPr>
          <p:nvPr>
            <p:ph type="body" idx="1"/>
          </p:nvPr>
        </p:nvSpPr>
        <p:spPr/>
        <p:txBody>
          <a:bodyPr/>
          <a:lstStyle/>
          <a:p>
            <a:r>
              <a:rPr lang="en-US" dirty="0"/>
              <a:t>Contraste directo con Arup. Mismo tipo de ataque, distinto final. La diferencia no fue tecnología, fue una pausa y una pregunta que solo la persona real podía responder. Invitar a la sala a pensar: ¿qué pregunta le harían a su jefe? Lo que almorzaron, el nombre de su mascota, algo de la última reunión. Fuente: Bloomberg, 26 de julio de 2024; La República (Colombia).</a:t>
            </a:r>
          </a:p>
        </p:txBody>
      </p:sp>
      <p:sp>
        <p:nvSpPr>
          <p:cNvPr id="4" name="Slide Number Placeholder 3">
            <a:extLst>
              <a:ext uri="{FF2B5EF4-FFF2-40B4-BE49-F238E27FC236}">
                <a16:creationId xmlns:a16="http://schemas.microsoft.com/office/drawing/2014/main" id="{BAAF0817-3D6A-A460-C6CA-950B684A1949}"/>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82875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la frase y dejar un silencio. Si la empresa cliente está presente con un directivo, es ideal que esa persona lo confirme en voz alta: «En esta empresa, confirmar nunca es un problema». Ese respaldo vale más que cualquier diapositiva.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segundo bloque, unos 15 minutos. Idea central: no se trata de recordar más cosas, sino de recordar menos y hacerlas automáticas.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la empresa ya tiene un gestor aprobado, hacer una demostración de dos minutos: guardar una contraseña y autocompletarla. Si no lo tiene, este es el momento de recomendarlo a la gerencia; es de las medidas con mejor relación costo beneficio. Presentarlo como bienestar, no como obligación: menos cosas que recordar.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hábito que habría salvado a Arup y el que salvó a Ferrari. Remarcar el alivio: la responsabilidad no es detectar el fraude, es seguir el proceso. Que el proceso te proteja. Si la empresa no tiene un canal de verificación definido, anotarlo como tarea para las reglas de la casa al final.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Este hábito es la red de seguridad: si algún día caes en un correo falso y entregas tu contraseña, el atacante todavía necesita tu celular. Por eso baja la ansiedad: no tienes que ser perfecto detectando estafas. Se activa una sola vez, en unos cinco minutos, en la configuración de seguridad de cada cuenta. Prioridad: el correo (es la llave para recuperar todo lo demás), el banco y WhatsApp (Ajustes &gt; Cuenta &gt; Verificación en dos pasos). Si la empresa lo permite, hacer la demostración en vivo con WhatsApp: es la que todos tienen. Mensaje clave sobre los códigos: un código que llega sin haberlo pedido no es un error, es la señal de que alguien tiene tu contraseña y el segundo paso lo frenó. Nunca se le dicta a nadie, ni a quien diga ser del banco o de soporte. Cambiar la contraseña y avisar a seguridad. Fuentes: CISA, «More than a Password» (cisa.gov/MFA); Microsoft reporta que la verificación en varios pasos bloquea más del 99 % de los ataques automatizados a cuentas; WhatsApp, centro de ayuda «Cómo usar la verificación en dos pasos».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Explicarlo con un ejemplo cotidiano: «ayúdame a responderle a Juan Pérez, cédula tal, que tiene un crédito en mora». Al dar enviar: (1) el texto sale cifrado de tu computador; (2) llega a los servidores del proveedor, normalmente en Estados Unidos; (3) se guarda en el historial y en registros de seguridad al menos unos 30 días aunque borres el chat, y en algunos casos revisores humanos leen conversaciones (Google lo declara para Gemini personal y conserva lo revisado hasta 3 años). Además, un juez puede ordenar conservar los chats: en el caso New York Times contra OpenAI (2025) se ordenó preservar incluso chats borrados. En Colombia, enviar datos personales de clientes a otro país requiere autorización del titular y contrato con el proveedor (Ley 1581 de 2012). Fuentes: help.openai.com (retención de chats), support.google.com/gemini/answer/13594961, openai.com/index/response-to-nyt-data-demands.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Casi todos los proveedores dicen «no entrenamos con tus datos», pero depende del plan y de un interruptor que casi nadie abre. Ejemplos (verificados a octubre de 2026; revisar antes de presentar): ChatGPT Free, Plus y Pro entrenan por defecto salvo que apagues «Mejorar el modelo para todos»; Business, Enterprise y API no. Claude Free, Pro y Max deben elegir desde octubre de 2025 (si aceptan, 5 años de retención); Team, Enterprise y API no se usan para entrenar. Gemini personal con «Actividad» activada entrena y puede ser revisado por humanos; Workspace empresarial no. Copilot con cuenta personal entrena salvo opt-out; con cuenta de trabajo de Microsoft 365, no. Detalle: en ChatGPT, dar pulgar arriba o abajo permite usar esa conversación aunque el entrenamiento esté apagado. Mensaje final: lo muy delicado no va a ninguna IA externa. Fuentes: help.openai.com/en/articles/7730893, anthropic.com/news/updates-to-our-consumer-terms, support.google.com/gemini/answer/13594961, learn.microsoft.com/copilot/microsoft-365/enterprise-data-protection.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tercer bloque, unos 12 minutos. Es el bloque más importante para el bienestar: lo que más estrés genera no es el clic, es esconderlo y quedarse con la duda.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Hablar desde la experiencia de Pralogy: cuando atendemos un incidente, lo que necesitamos es información rápida, no culpables. Si una empresa castiga a quien reporta, la próxima vez nadie reporta, y ahí sí el daño crece. Opcional: mencionar el concepto de seguridad psicológica de Amy Edmondson (Harvard): los equipos donde se puede admitir un error sin miedo son los que mejor funcionan.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 ansiedad viene de no saber qué pasa después. Desmitificarlo baja el miedo a reportar. Ajustar los tres pasos al proceso real de la empresa cliente o al servicio que presta Pralogy. Si hay alguien de TI en la sala, invitarlo a confirmar en voz alta que así funciona.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Completar con la empresa cliente antes de la charla. Si algún campo queda vacío, decirlo con honestidad y proponer a la gerencia definirlo; Pralogy puede ofrecerse como canal de reporte para clientes que no tienen uno. Esta diapositiva es la que convierte la charla en algo accionable.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preguntas, unos cinco minutos. Si se hizo la encuesta previa, comentar uno o dos resultados aquí. Preguntas útiles para abrir la conversación si nadie habla: ¿la presión de detectar estafas agrega estrés a tu día? ¿Hay alguna política de seguridad que te complique la rutina? Anotar las respuestas para ajustar la siguiente sesión.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Cierre de la charla, unos 5 minutos. Transición: hasta ahora hablamos de tu día a día. Ahora miremos el mapa completo: qué preocupa a los expertos del mundo y por qué los hábitos de hoy no son un detalle. El Foro Económico Mundial publica cada enero, antes de Davos, su Informe de Riesgos Globales. La edición 2026, la número 21, salió el 14 de enero de 2026 y se basa en una encuesta a más de 1.300 líderes y expertos. Fuentes: Foro Económico Mundial, comunicado de prensa en español del Informe de Riesgos Globales 2026 (reports.weforum.org/docs/GRR26_Press_Release_Spanish.pdf); informe completo (reports.weforum.org/docs/WEF_Global_Risks_Report_2026.pdf); top 10 a 2 y 10 años (weforum.org/stories/global-risks/global-risks-2026-top-10-two-and-ten-year-horizon).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Leer las cuatro cifras despacio. 1) La mitad de los expertos espera dos años turbulentos o tormentosos, 14 puntos más que el año anterior (36 %). 2) La desinformación es el riesgo número 2 a dos años. Conectar con el bloque 1: el correo del falso director de Arup y la voz clonada del CEO de Ferrari son desinformación aplicada a una empresa. 3) La ciberinseguridad es el riesgo número 6 a dos años: está en el top 10 mundial, junto a guerras y crisis económicas. 4) Los efectos negativos de la IA son el riesgo que más sube de los 33 evaluados: puesto 30 a dos años y puesto 5 a diez años. El número 1 a dos años es la confrontación geoeconómica (aranceles, sanciones, guerras comerciales); no es tema de esta charla, pero se puede mencionar si preguntan. Aclarar que son percepciones de expertos, no probabilidades medidas. Fuentes: Foro Económico Mundial, comunicado de prensa en español del Informe de Riesgos Globales 2026 (reports.weforum.org/docs/GRR26_Press_Release_Spanish.pdf); informe completo (reports.weforum.org/docs/WEF_Global_Risks_Report_2026.pdf); top 10 a 2 y 10 años (weforum.org/stories/global-risks/global-risks-2026-top-10-two-and-ten-year-horizon).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Este es el puente entre el informe y la charla. Los riesgos que preocupan al mundo llegan a la empresa por la bandeja de entrada, el teléfono y el chat. Y la respuesta no es técnica: son los hábitos que vimos. Desinformación: pausa y verifica por otro canal (Arup y Ferrari). Ciberinseguridad: gestor de contraseñas y dos pasos. IA: cuidar lo que pegas en una herramienta, sobre todo en cuentas gratis. Y por encima de todo, reportar. Remarcar el alivio: no hay que saber de tecnología para estar en el lado seguro.</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Frase final antes de las reglas de la casa. Saadia Zahidi lo dijo al presentar el informe: los riesgos son serios, pero no están escritos. En inglés: «none of these risks are a foregone conclusion». Verificar la redacción exacta en español en el comunicado oficial antes de presentar. Cerrar con el mensaje de toda la charla: pausar, verificar, proteger tus cuentas y avisar. Fuentes: Foro Económico Mundial, comunicado de prensa en español del Informe de Riesgos Globales 2026 (reports.weforum.org/docs/GRR26_Press_Release_Spanish.pdf); informe completo (reports.weforum.org/docs/WEF_Global_Risks_Report_2026.pdf); top 10 a 2 y 10 años (weforum.org/stories/global-risks/global-risks-2026-top-10-two-and-ten-year-horizon).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41041"/>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C2142"/>
                </a:solidFill>
                <a:latin typeface="Fraunces" pitchFamily="34" charset="0"/>
                <a:ea typeface="Fraunces" pitchFamily="34" charset="-122"/>
                <a:cs typeface="Fraunce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48681"/>
            <a:ext cx="10566400" cy="3896519"/>
          </a:xfrm>
          <a:prstGeom prst="rect">
            <a:avLst/>
          </a:prstGeom>
          <a:noFill/>
          <a:ln/>
        </p:spPr>
        <p:txBody>
          <a:bodyPr wrap="square" lIns="0" tIns="0" rIns="0" bIns="0" rtlCol="0" anchor="t"/>
          <a:lstStyle>
            <a:lvl1pPr marL="0" indent="0" algn="l">
              <a:lnSpc>
                <a:spcPct val="140000"/>
              </a:lnSpc>
              <a:buNone/>
              <a:defRPr lang="en-US" sz="1600" dirty="0">
                <a:solidFill>
                  <a:srgbClr val="1C2142"/>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41041"/>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C2142"/>
                </a:solidFill>
                <a:latin typeface="Fraunces" pitchFamily="34" charset="0"/>
                <a:ea typeface="Fraunces" pitchFamily="34" charset="-122"/>
                <a:cs typeface="Fraunce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48681"/>
            <a:ext cx="10566400" cy="3896519"/>
          </a:xfrm>
          <a:prstGeom prst="rect">
            <a:avLst/>
          </a:prstGeom>
          <a:noFill/>
          <a:ln/>
        </p:spPr>
        <p:txBody>
          <a:bodyPr wrap="square" lIns="0" tIns="0" rIns="0" bIns="0" rtlCol="0" anchor="t"/>
          <a:lstStyle>
            <a:lvl1pPr marL="0" indent="0" algn="l">
              <a:lnSpc>
                <a:spcPct val="140000"/>
              </a:lnSpc>
              <a:buNone/>
              <a:defRPr lang="en-US" sz="1600" dirty="0">
                <a:solidFill>
                  <a:srgbClr val="1C2142"/>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hyperlink" Target="https://blog.knowbe4.com/how-a-north-korean-fake-it-worker-tried-to-infiltrate-u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hyperlink" Target="https://westoahu.hawaii.edu/cyber/forensics-weekly-executive-summmaries/arup-deekfake-scam-forensic-analysis/" TargetMode="Externa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notesSlide" Target="../notesSlides/notesSlide8.xml"/><Relationship Id="rId5" Type="http://schemas.openxmlformats.org/officeDocument/2006/relationships/image" Target="../media/image1.png"/><Relationship Id="rId6"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hyperlink" Target="https://inspiredelearning.com/blog/ferrari-deepfake-attack-foiled-with-simple-ques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1.png"/><Relationship Id="rId5"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svg"/><Relationship Id="rId8" Type="http://schemas.openxmlformats.org/officeDocument/2006/relationships/image" Target="../media/image31.png"/><Relationship Id="rId9" Type="http://schemas.openxmlformats.org/officeDocument/2006/relationships/image" Target="../media/image32.svg"/><Relationship Id="rId10" Type="http://schemas.openxmlformats.org/officeDocument/2006/relationships/image" Target="../media/image3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5F1"/>
        </a:solidFill>
        <a:effectLst/>
      </p:bgPr>
    </p:bg>
    <p:spTree>
      <p:nvGrpSpPr>
        <p:cNvPr id="1" name=""/>
        <p:cNvGrpSpPr/>
        <p:nvPr/>
      </p:nvGrpSpPr>
      <p:grpSpPr>
        <a:xfrm>
          <a:off x="0" y="0"/>
          <a:ext cx="0" cy="0"/>
          <a:chOff x="0" y="0"/>
          <a:chExt cx="0" cy="0"/>
        </a:xfrm>
      </p:grpSpPr>
      <p:sp>
        <p:nvSpPr>
          <p:cNvPr id="2" name="Shape 0"/>
          <p:cNvSpPr/>
          <p:nvPr/>
        </p:nvSpPr>
        <p:spPr>
          <a:xfrm>
            <a:off x="7759192" y="889000"/>
            <a:ext cx="3937000" cy="3937000"/>
          </a:xfrm>
          <a:prstGeom prst="roundRect">
            <a:avLst>
              <a:gd name="adj" fmla="val 41290"/>
            </a:avLst>
          </a:prstGeom>
          <a:solidFill>
            <a:srgbClr val="E9ECF4"/>
          </a:solidFill>
          <a:ln/>
        </p:spPr>
        <p:txBody>
          <a:bodyPr/>
          <a:lstStyle/>
          <a:p>
            <a:endParaRPr lang="es-CO" noProof="0" dirty="0"/>
          </a:p>
        </p:txBody>
      </p:sp>
      <p:sp>
        <p:nvSpPr>
          <p:cNvPr id="3" name="Shape 1"/>
          <p:cNvSpPr/>
          <p:nvPr/>
        </p:nvSpPr>
        <p:spPr>
          <a:xfrm>
            <a:off x="9283192" y="3302000"/>
            <a:ext cx="2413000" cy="2413000"/>
          </a:xfrm>
          <a:prstGeom prst="roundRect">
            <a:avLst>
              <a:gd name="adj" fmla="val 50000"/>
            </a:avLst>
          </a:prstGeom>
          <a:solidFill>
            <a:srgbClr val="DCE0F0"/>
          </a:solidFill>
          <a:ln/>
        </p:spPr>
        <p:txBody>
          <a:bodyPr/>
          <a:lstStyle/>
          <a:p>
            <a:endParaRPr lang="es-CO" noProof="0" dirty="0"/>
          </a:p>
        </p:txBody>
      </p:sp>
      <p:sp>
        <p:nvSpPr>
          <p:cNvPr id="4" name="Shape 2"/>
          <p:cNvSpPr/>
          <p:nvPr/>
        </p:nvSpPr>
        <p:spPr>
          <a:xfrm>
            <a:off x="8267192" y="3810000"/>
            <a:ext cx="889000" cy="889000"/>
          </a:xfrm>
          <a:prstGeom prst="roundRect">
            <a:avLst>
              <a:gd name="adj" fmla="val 50000"/>
            </a:avLst>
          </a:prstGeom>
          <a:solidFill>
            <a:srgbClr val="C7CCE8"/>
          </a:solidFill>
          <a:ln/>
        </p:spPr>
        <p:txBody>
          <a:bodyPr/>
          <a:lstStyle/>
          <a:p>
            <a:endParaRPr lang="es-CO" noProof="0" dirty="0"/>
          </a:p>
        </p:txBody>
      </p:sp>
      <p:pic>
        <p:nvPicPr>
          <p:cNvPr id="5" name="Image 0" descr="Logo de Pralogy"/>
          <p:cNvPicPr>
            <a:picLocks noChangeAspect="1"/>
          </p:cNvPicPr>
          <p:nvPr/>
        </p:nvPicPr>
        <p:blipFill>
          <a:blip r:embed="rId3"/>
          <a:srcRect t="-22" b="-22"/>
          <a:stretch/>
        </p:blipFill>
        <p:spPr>
          <a:xfrm>
            <a:off x="812800" y="812800"/>
            <a:ext cx="2095500" cy="431800"/>
          </a:xfrm>
          <a:prstGeom prst="rect">
            <a:avLst/>
          </a:prstGeom>
        </p:spPr>
      </p:pic>
      <p:sp>
        <p:nvSpPr>
          <p:cNvPr id="6" name="Text 3"/>
          <p:cNvSpPr/>
          <p:nvPr/>
        </p:nvSpPr>
        <p:spPr>
          <a:xfrm>
            <a:off x="812800" y="2033389"/>
            <a:ext cx="7194550"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CAPACITACIÓN</a:t>
            </a:r>
            <a:endParaRPr lang="es-CO" sz="1400" noProof="0" dirty="0"/>
          </a:p>
        </p:txBody>
      </p:sp>
      <p:sp>
        <p:nvSpPr>
          <p:cNvPr id="7" name="Text 4"/>
          <p:cNvSpPr>
            <a:spLocks noGrp="1"/>
          </p:cNvSpPr>
          <p:nvPr>
            <p:ph type="title"/>
          </p:nvPr>
        </p:nvSpPr>
        <p:spPr>
          <a:xfrm>
            <a:off x="812800" y="2510830"/>
            <a:ext cx="7194550" cy="1625600"/>
          </a:xfrm>
          <a:prstGeom prst="rect">
            <a:avLst/>
          </a:prstGeom>
          <a:noFill/>
          <a:ln/>
        </p:spPr>
        <p:txBody>
          <a:bodyPr wrap="square" lIns="0" tIns="0" rIns="0" bIns="0" rtlCol="0" anchor="t">
            <a:normAutofit/>
          </a:bodyPr>
          <a:lstStyle/>
          <a:p>
            <a:pPr marL="0" indent="0" algn="l">
              <a:lnSpc>
                <a:spcPts val="6300"/>
              </a:lnSpc>
              <a:buNone/>
            </a:pPr>
            <a:r>
              <a:rPr lang="es-CO" sz="6000" b="0" i="0" noProof="0" dirty="0">
                <a:solidFill>
                  <a:srgbClr val="1C2142"/>
                </a:solidFill>
                <a:latin typeface="Fraunces" pitchFamily="18" charset="0"/>
                <a:ea typeface="Fraunces" pitchFamily="18" charset="-122"/>
                <a:cs typeface="Fraunces" pitchFamily="18" charset="-120"/>
              </a:rPr>
              <a:t>Ciberseguridad sin ansiedad</a:t>
            </a:r>
            <a:endParaRPr lang="es-CO" sz="6000" noProof="0" dirty="0"/>
          </a:p>
        </p:txBody>
      </p:sp>
      <p:sp>
        <p:nvSpPr>
          <p:cNvPr id="8" name="Text 5"/>
          <p:cNvSpPr/>
          <p:nvPr/>
        </p:nvSpPr>
        <p:spPr>
          <a:xfrm>
            <a:off x="812800" y="4339630"/>
            <a:ext cx="7194550" cy="711200"/>
          </a:xfrm>
          <a:prstGeom prst="rect">
            <a:avLst/>
          </a:prstGeom>
          <a:noFill/>
          <a:ln/>
        </p:spPr>
        <p:txBody>
          <a:bodyPr wrap="square" lIns="0" tIns="0" rIns="0" bIns="0" rtlCol="0" anchor="t">
            <a:normAutofit/>
          </a:bodyPr>
          <a:lstStyle/>
          <a:p>
            <a:pPr marL="0" indent="0" algn="l">
              <a:lnSpc>
                <a:spcPts val="2700"/>
              </a:lnSpc>
              <a:buNone/>
            </a:pPr>
            <a:r>
              <a:rPr lang="es-CO" sz="2000" noProof="0" dirty="0">
                <a:solidFill>
                  <a:srgbClr val="4A5070"/>
                </a:solidFill>
                <a:latin typeface="Nunito Sans" pitchFamily="34" charset="0"/>
                <a:ea typeface="Nunito Sans" pitchFamily="34" charset="-122"/>
                <a:cs typeface="Nunito Sans" pitchFamily="34" charset="-120"/>
              </a:rPr>
              <a:t>Cómo afrontar los retos que trae la ciberseguridad en el día a día sin estrés adicional.</a:t>
            </a:r>
            <a:endParaRPr lang="es-CO" sz="2000" noProof="0" dirty="0"/>
          </a:p>
        </p:txBody>
      </p:sp>
      <p:sp>
        <p:nvSpPr>
          <p:cNvPr id="9" name="Text 6"/>
          <p:cNvSpPr/>
          <p:nvPr/>
        </p:nvSpPr>
        <p:spPr>
          <a:xfrm>
            <a:off x="812800" y="5814120"/>
            <a:ext cx="10883392" cy="256480"/>
          </a:xfrm>
          <a:prstGeom prst="rect">
            <a:avLst/>
          </a:prstGeom>
          <a:noFill/>
          <a:ln/>
        </p:spPr>
        <p:txBody>
          <a:bodyPr wrap="square" lIns="0" tIns="0" rIns="0" bIns="0" rtlCol="0" anchor="t">
            <a:normAutofit/>
          </a:bodyPr>
          <a:lstStyle/>
          <a:p>
            <a:pPr marL="0" indent="0" algn="l">
              <a:lnSpc>
                <a:spcPts val="1820"/>
              </a:lnSpc>
              <a:buNone/>
            </a:pPr>
            <a:r>
              <a:rPr lang="es-CO" sz="1300" noProof="0" dirty="0">
                <a:solidFill>
                  <a:srgbClr val="6B7085"/>
                </a:solidFill>
                <a:latin typeface="Nunito Sans" pitchFamily="34" charset="0"/>
                <a:ea typeface="Nunito Sans" pitchFamily="34" charset="-122"/>
                <a:cs typeface="Nunito Sans" pitchFamily="34" charset="-120"/>
              </a:rPr>
              <a:t>Zamir Velázquez. Juan Cárdenas · 29 de Octubre de 2026 · [Cliente]</a:t>
            </a:r>
            <a:endParaRPr lang="es-CO" sz="13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CF4"/>
        </a:solidFill>
        <a:effectLst/>
      </p:bgPr>
    </p:bg>
    <p:spTree>
      <p:nvGrpSpPr>
        <p:cNvPr id="1" name=""/>
        <p:cNvGrpSpPr/>
        <p:nvPr/>
      </p:nvGrpSpPr>
      <p:grpSpPr>
        <a:xfrm>
          <a:off x="0" y="0"/>
          <a:ext cx="0" cy="0"/>
          <a:chOff x="0" y="0"/>
          <a:chExt cx="0" cy="0"/>
        </a:xfrm>
      </p:grpSpPr>
      <p:sp>
        <p:nvSpPr>
          <p:cNvPr id="2" name="Shape 0"/>
          <p:cNvSpPr/>
          <p:nvPr/>
        </p:nvSpPr>
        <p:spPr>
          <a:xfrm>
            <a:off x="8770493" y="1974469"/>
            <a:ext cx="2774950" cy="2774950"/>
          </a:xfrm>
          <a:prstGeom prst="roundRect">
            <a:avLst>
              <a:gd name="adj" fmla="val 50000"/>
            </a:avLst>
          </a:prstGeom>
          <a:noFill/>
          <a:ln w="19050">
            <a:solidFill>
              <a:srgbClr val="C7CCE8"/>
            </a:solidFill>
            <a:prstDash val="solid"/>
          </a:ln>
        </p:spPr>
        <p:txBody>
          <a:bodyPr/>
          <a:lstStyle/>
          <a:p>
            <a:endParaRPr lang="es-CO" noProof="0" dirty="0"/>
          </a:p>
        </p:txBody>
      </p:sp>
      <p:sp>
        <p:nvSpPr>
          <p:cNvPr id="3" name="Shape 1"/>
          <p:cNvSpPr/>
          <p:nvPr/>
        </p:nvSpPr>
        <p:spPr>
          <a:xfrm>
            <a:off x="9278493" y="2482469"/>
            <a:ext cx="1758950" cy="1758950"/>
          </a:xfrm>
          <a:prstGeom prst="roundRect">
            <a:avLst>
              <a:gd name="adj" fmla="val 50000"/>
            </a:avLst>
          </a:prstGeom>
          <a:noFill/>
          <a:ln w="19050">
            <a:solidFill>
              <a:srgbClr val="B3BAE0"/>
            </a:solidFill>
            <a:prstDash val="solid"/>
          </a:ln>
        </p:spPr>
        <p:txBody>
          <a:bodyPr/>
          <a:lstStyle/>
          <a:p>
            <a:endParaRPr lang="es-CO" noProof="0" dirty="0"/>
          </a:p>
        </p:txBody>
      </p:sp>
      <p:sp>
        <p:nvSpPr>
          <p:cNvPr id="4" name="Shape 2"/>
          <p:cNvSpPr/>
          <p:nvPr/>
        </p:nvSpPr>
        <p:spPr>
          <a:xfrm>
            <a:off x="9776968" y="2980944"/>
            <a:ext cx="762000" cy="762000"/>
          </a:xfrm>
          <a:prstGeom prst="roundRect">
            <a:avLst>
              <a:gd name="adj" fmla="val 50000"/>
            </a:avLst>
          </a:prstGeom>
          <a:solidFill>
            <a:srgbClr val="C7CCE8"/>
          </a:solidFill>
          <a:ln/>
        </p:spPr>
        <p:txBody>
          <a:bodyPr/>
          <a:lstStyle/>
          <a:p>
            <a:endParaRPr lang="es-CO" noProof="0" dirty="0"/>
          </a:p>
        </p:txBody>
      </p:sp>
      <p:sp>
        <p:nvSpPr>
          <p:cNvPr id="5" name="Text 3"/>
          <p:cNvSpPr/>
          <p:nvPr/>
        </p:nvSpPr>
        <p:spPr>
          <a:xfrm>
            <a:off x="812800" y="1259284"/>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rPr>
              <a:t>INTRODUCCIÓN</a:t>
            </a:r>
            <a:endParaRPr lang="es-CO" sz="1400" noProof="0" dirty="0"/>
          </a:p>
        </p:txBody>
      </p:sp>
      <p:sp>
        <p:nvSpPr>
          <p:cNvPr id="6" name="Text 4"/>
          <p:cNvSpPr>
            <a:spLocks noGrp="1"/>
          </p:cNvSpPr>
          <p:nvPr>
            <p:ph type="title"/>
          </p:nvPr>
        </p:nvSpPr>
        <p:spPr>
          <a:xfrm>
            <a:off x="750888" y="2129905"/>
            <a:ext cx="7194550" cy="640060"/>
          </a:xfrm>
          <a:prstGeom prst="rect">
            <a:avLst/>
          </a:prstGeom>
          <a:noFill/>
          <a:ln/>
        </p:spPr>
        <p:txBody>
          <a:bodyPr wrap="square" lIns="0" tIns="0" rIns="0" bIns="0" rtlCol="0" anchor="t">
            <a:normAutofit fontScale="90000"/>
          </a:bodyPr>
          <a:lstStyle/>
          <a:p>
            <a:pPr marL="0" indent="0" algn="l">
              <a:lnSpc>
                <a:spcPts val="4840"/>
              </a:lnSpc>
              <a:buNone/>
            </a:pPr>
            <a:r>
              <a:rPr lang="es-CO" sz="4400" b="0" i="0" noProof="0" dirty="0">
                <a:solidFill>
                  <a:srgbClr val="1C2142"/>
                </a:solidFill>
                <a:latin typeface="Fraunces" pitchFamily="18" charset="0"/>
                <a:ea typeface="Fraunces" pitchFamily="18" charset="-122"/>
                <a:cs typeface="Fraunces" pitchFamily="18" charset="-120"/>
              </a:rPr>
              <a:t>¿Por qué yo? ¿Es necesario?</a:t>
            </a:r>
            <a:endParaRPr lang="es-CO" sz="4400" noProof="0" dirty="0"/>
          </a:p>
        </p:txBody>
      </p:sp>
      <p:sp>
        <p:nvSpPr>
          <p:cNvPr id="7" name="Text 5"/>
          <p:cNvSpPr/>
          <p:nvPr/>
        </p:nvSpPr>
        <p:spPr>
          <a:xfrm>
            <a:off x="646557" y="3117673"/>
            <a:ext cx="7617968" cy="1873603"/>
          </a:xfrm>
          <a:prstGeom prst="rect">
            <a:avLst/>
          </a:prstGeom>
          <a:noFill/>
          <a:ln/>
        </p:spPr>
        <p:txBody>
          <a:bodyPr wrap="square" lIns="0" tIns="0" rIns="0" bIns="0" rtlCol="0" anchor="t">
            <a:normAutofit/>
          </a:bodyPr>
          <a:lstStyle/>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ea typeface="Nunito Sans" pitchFamily="34" charset="-122"/>
                <a:cs typeface="Nunito Sans" pitchFamily="34" charset="-120"/>
              </a:rPr>
              <a:t>Facturas, aprobaciones, correos, bases de datos, documentos. </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ea typeface="Nunito Sans" pitchFamily="34" charset="-122"/>
                <a:cs typeface="Nunito Sans" pitchFamily="34" charset="-120"/>
              </a:rPr>
              <a:t>Nuestro acceso a información de la empresa es un factor que nos hace atractivos a ciber-atacantes.</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rPr>
              <a:t>El phishing no es tu culpa, reportar siempre es la mejor opción.</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rPr>
              <a:t>Hasta las empresas de ciberseguridad caen.</a:t>
            </a:r>
          </a:p>
        </p:txBody>
      </p:sp>
      <p:pic>
        <p:nvPicPr>
          <p:cNvPr id="8" name="Image 0" descr="Pralogy"/>
          <p:cNvPicPr>
            <a:picLocks noChangeAspect="1"/>
          </p:cNvPicPr>
          <p:nvPr/>
        </p:nvPicPr>
        <p:blipFill>
          <a:blip r:embed="rId3"/>
          <a:srcRect l="-62" r="-62"/>
          <a:stretch/>
        </p:blipFill>
        <p:spPr>
          <a:xfrm>
            <a:off x="812800" y="6356096"/>
            <a:ext cx="1111250" cy="228600"/>
          </a:xfrm>
          <a:prstGeom prst="rect">
            <a:avLst/>
          </a:prstGeom>
        </p:spPr>
      </p:pic>
      <p:sp>
        <p:nvSpPr>
          <p:cNvPr id="9" name="Text 6"/>
          <p:cNvSpPr/>
          <p:nvPr/>
        </p:nvSpPr>
        <p:spPr>
          <a:xfrm>
            <a:off x="11236920" y="6363736"/>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a:t>
            </a:r>
            <a:endParaRPr lang="es-CO" sz="12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654304" y="476349"/>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LE PASA HASTA A LOS EXPERTOS</a:t>
            </a:r>
            <a:endParaRPr lang="es-CO" sz="1400" noProof="0" dirty="0"/>
          </a:p>
        </p:txBody>
      </p:sp>
      <p:sp>
        <p:nvSpPr>
          <p:cNvPr id="3" name="Text 1"/>
          <p:cNvSpPr>
            <a:spLocks noGrp="1"/>
          </p:cNvSpPr>
          <p:nvPr>
            <p:ph type="title"/>
          </p:nvPr>
        </p:nvSpPr>
        <p:spPr>
          <a:xfrm>
            <a:off x="654304" y="1029990"/>
            <a:ext cx="10883392" cy="103108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Una empresa de ciberseguridad contrató a un hacker sin saberlo</a:t>
            </a:r>
            <a:endParaRPr lang="es-CO" sz="3600" noProof="0" dirty="0"/>
          </a:p>
        </p:txBody>
      </p:sp>
      <p:sp>
        <p:nvSpPr>
          <p:cNvPr id="8" name="Shape 6"/>
          <p:cNvSpPr/>
          <p:nvPr/>
        </p:nvSpPr>
        <p:spPr>
          <a:xfrm>
            <a:off x="6430136" y="1883664"/>
            <a:ext cx="4709477" cy="1592471"/>
          </a:xfrm>
          <a:prstGeom prst="roundRect">
            <a:avLst>
              <a:gd name="adj" fmla="val 4815"/>
            </a:avLst>
          </a:prstGeom>
          <a:solidFill>
            <a:srgbClr val="E9ECF4"/>
          </a:solidFill>
          <a:ln/>
        </p:spPr>
        <p:txBody>
          <a:bodyPr/>
          <a:lstStyle/>
          <a:p>
            <a:endParaRPr lang="es-CO" noProof="0" dirty="0"/>
          </a:p>
        </p:txBody>
      </p:sp>
      <p:sp>
        <p:nvSpPr>
          <p:cNvPr id="9" name="Text 7"/>
          <p:cNvSpPr/>
          <p:nvPr/>
        </p:nvSpPr>
        <p:spPr>
          <a:xfrm>
            <a:off x="6708901" y="2001020"/>
            <a:ext cx="4669917"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SIN EMBARGO</a:t>
            </a:r>
            <a:endParaRPr lang="es-CO" sz="1300" noProof="0" dirty="0"/>
          </a:p>
        </p:txBody>
      </p:sp>
      <p:sp>
        <p:nvSpPr>
          <p:cNvPr id="10" name="Text 8"/>
          <p:cNvSpPr/>
          <p:nvPr/>
        </p:nvSpPr>
        <p:spPr>
          <a:xfrm>
            <a:off x="6722238" y="2339797"/>
            <a:ext cx="4303456" cy="1213910"/>
          </a:xfrm>
          <a:prstGeom prst="rect">
            <a:avLst/>
          </a:prstGeom>
          <a:noFill/>
          <a:ln/>
        </p:spPr>
        <p:txBody>
          <a:bodyPr wrap="square" lIns="0" tIns="0" rIns="0" bIns="0" rtlCol="0" anchor="t">
            <a:normAutofit/>
          </a:bodyPr>
          <a:lstStyle/>
          <a:p>
            <a:pPr marL="0" indent="0" algn="l">
              <a:lnSpc>
                <a:spcPts val="2750"/>
              </a:lnSpc>
              <a:buNone/>
            </a:pPr>
            <a:r>
              <a:rPr lang="es-CO" sz="2200" noProof="0" dirty="0">
                <a:solidFill>
                  <a:srgbClr val="1C2142"/>
                </a:solidFill>
                <a:latin typeface="Fraunces" pitchFamily="18" charset="0"/>
                <a:ea typeface="Fraunces" pitchFamily="18" charset="-122"/>
                <a:cs typeface="Fraunces" pitchFamily="18" charset="-120"/>
              </a:rPr>
              <a:t>No hubo culpables. Tenían un proceso de aislamiento que funcionó.</a:t>
            </a:r>
            <a:endParaRPr lang="es-CO" sz="2200" noProof="0" dirty="0"/>
          </a:p>
        </p:txBody>
      </p:sp>
      <p:pic>
        <p:nvPicPr>
          <p:cNvPr id="12"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3" name="Text 10"/>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3</a:t>
            </a:r>
            <a:endParaRPr lang="es-CO" sz="1200" noProof="0" dirty="0"/>
          </a:p>
        </p:txBody>
      </p:sp>
      <p:grpSp>
        <p:nvGrpSpPr>
          <p:cNvPr id="18" name="Group 17">
            <a:extLst>
              <a:ext uri="{FF2B5EF4-FFF2-40B4-BE49-F238E27FC236}">
                <a16:creationId xmlns:a16="http://schemas.microsoft.com/office/drawing/2014/main" id="{405DAD0E-FB29-3961-297B-49B8BC5F6B94}"/>
              </a:ext>
            </a:extLst>
          </p:cNvPr>
          <p:cNvGrpSpPr/>
          <p:nvPr/>
        </p:nvGrpSpPr>
        <p:grpSpPr>
          <a:xfrm>
            <a:off x="654304" y="2400201"/>
            <a:ext cx="5156200" cy="3177679"/>
            <a:chOff x="819150" y="2657971"/>
            <a:chExt cx="5156200" cy="3177679"/>
          </a:xfrm>
        </p:grpSpPr>
        <p:sp>
          <p:nvSpPr>
            <p:cNvPr id="4" name="Shape 2"/>
            <p:cNvSpPr/>
            <p:nvPr/>
          </p:nvSpPr>
          <p:spPr>
            <a:xfrm>
              <a:off x="819150" y="2683272"/>
              <a:ext cx="5156200" cy="3152378"/>
            </a:xfrm>
            <a:prstGeom prst="roundRect">
              <a:avLst>
                <a:gd name="adj" fmla="val 4633"/>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971804" y="2657971"/>
              <a:ext cx="4669917"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6" name="Text 4"/>
            <p:cNvSpPr/>
            <p:nvPr/>
          </p:nvSpPr>
          <p:spPr>
            <a:xfrm>
              <a:off x="1130299" y="3774978"/>
              <a:ext cx="4669917" cy="90914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4A5070"/>
                  </a:solidFill>
                  <a:latin typeface="Nunito Sans" pitchFamily="34" charset="0"/>
                  <a:ea typeface="Nunito Sans" pitchFamily="34" charset="-122"/>
                  <a:cs typeface="Nunito Sans" pitchFamily="34" charset="-120"/>
                </a:rPr>
                <a:t>Un candidato pasó cuatro entrevistas por video y la revisión de antecedentes. Usaba una identidad robada y una foto retocada con IA.</a:t>
              </a:r>
              <a:endParaRPr lang="es-CO" sz="1600" noProof="0" dirty="0"/>
            </a:p>
          </p:txBody>
        </p:sp>
        <p:sp>
          <p:nvSpPr>
            <p:cNvPr id="7" name="Text 5"/>
            <p:cNvSpPr/>
            <p:nvPr/>
          </p:nvSpPr>
          <p:spPr>
            <a:xfrm>
              <a:off x="1130300" y="4963319"/>
              <a:ext cx="4669917" cy="61456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4A5070"/>
                  </a:solidFill>
                  <a:latin typeface="Nunito Sans" pitchFamily="34" charset="0"/>
                  <a:ea typeface="Nunito Sans" pitchFamily="34" charset="-122"/>
                  <a:cs typeface="Nunito Sans" pitchFamily="34" charset="-120"/>
                </a:rPr>
                <a:t>El sistema de la empresa lo detectó en minutos, apenas encendió el computador que le enviaron.</a:t>
              </a:r>
              <a:endParaRPr lang="es-CO" sz="1600" noProof="0" dirty="0"/>
            </a:p>
          </p:txBody>
        </p:sp>
        <p:pic>
          <p:nvPicPr>
            <p:cNvPr id="15" name="Graphic 14" descr="KnowBe4">
              <a:extLst>
                <a:ext uri="{FF2B5EF4-FFF2-40B4-BE49-F238E27FC236}">
                  <a16:creationId xmlns:a16="http://schemas.microsoft.com/office/drawing/2014/main" id="{EBE53860-7E65-BEC5-4404-37A0CA5A74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44637" y="2890538"/>
              <a:ext cx="3705225" cy="695325"/>
            </a:xfrm>
            <a:prstGeom prst="rect">
              <a:avLst/>
            </a:prstGeom>
          </p:spPr>
        </p:pic>
      </p:grpSp>
      <p:pic>
        <p:nvPicPr>
          <p:cNvPr id="17" name="Picture 16">
            <a:extLst>
              <a:ext uri="{FF2B5EF4-FFF2-40B4-BE49-F238E27FC236}">
                <a16:creationId xmlns:a16="http://schemas.microsoft.com/office/drawing/2014/main" id="{6E780D33-52F7-D3FF-67CD-7FBEA85BEA68}"/>
              </a:ext>
            </a:extLst>
          </p:cNvPr>
          <p:cNvPicPr>
            <a:picLocks noChangeAspect="1"/>
          </p:cNvPicPr>
          <p:nvPr/>
        </p:nvPicPr>
        <p:blipFill>
          <a:blip r:embed="rId5"/>
          <a:stretch>
            <a:fillRect/>
          </a:stretch>
        </p:blipFill>
        <p:spPr>
          <a:xfrm>
            <a:off x="6430137" y="3755032"/>
            <a:ext cx="4709476" cy="2241850"/>
          </a:xfrm>
          <a:prstGeom prst="rect">
            <a:avLst/>
          </a:prstGeom>
          <a:ln>
            <a:noFill/>
          </a:ln>
          <a:effectLst>
            <a:outerShdw blurRad="292100" dist="139700" dir="2700000" algn="tl" rotWithShape="0">
              <a:srgbClr val="333333">
                <a:alpha val="65000"/>
              </a:srgbClr>
            </a:outerShdw>
          </a:effectLst>
        </p:spPr>
      </p:pic>
      <p:sp>
        <p:nvSpPr>
          <p:cNvPr id="20" name="TextBox 19">
            <a:extLst>
              <a:ext uri="{FF2B5EF4-FFF2-40B4-BE49-F238E27FC236}">
                <a16:creationId xmlns:a16="http://schemas.microsoft.com/office/drawing/2014/main" id="{931F4371-3307-FADB-1161-8D5B2F7CDA49}"/>
              </a:ext>
            </a:extLst>
          </p:cNvPr>
          <p:cNvSpPr txBox="1"/>
          <p:nvPr/>
        </p:nvSpPr>
        <p:spPr>
          <a:xfrm>
            <a:off x="692593" y="5841471"/>
            <a:ext cx="5215636" cy="253916"/>
          </a:xfrm>
          <a:prstGeom prst="rect">
            <a:avLst/>
          </a:prstGeom>
          <a:noFill/>
        </p:spPr>
        <p:txBody>
          <a:bodyPr wrap="square">
            <a:spAutoFit/>
          </a:bodyPr>
          <a:lstStyle/>
          <a:p>
            <a:r>
              <a:rPr lang="en-US" sz="1050" dirty="0">
                <a:solidFill>
                  <a:schemeClr val="accent5">
                    <a:lumMod val="60000"/>
                    <a:lumOff val="40000"/>
                  </a:schemeClr>
                </a:solidFill>
                <a:hlinkClick r:id="rId6">
                  <a:extLst>
                    <a:ext uri="{A12FA001-AC4F-418D-AE19-62706E023703}">
                      <ahyp:hlinkClr xmlns:ahyp="http://schemas.microsoft.com/office/drawing/2018/hyperlinkcolor" val="tx"/>
                    </a:ext>
                  </a:extLst>
                </a:hlinkClick>
              </a:rPr>
              <a:t>https://blog.knowbe4.com/how-a-north-korean-fake-it-worker-tried-to-infiltrate-us</a:t>
            </a:r>
            <a:endParaRPr lang="en-US" sz="1050" dirty="0">
              <a:solidFill>
                <a:schemeClr val="accent5">
                  <a:lumMod val="60000"/>
                  <a:lumOff val="4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3A9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2289870"/>
            <a:ext cx="9810750" cy="825500"/>
          </a:xfrm>
          <a:prstGeom prst="rect">
            <a:avLst/>
          </a:prstGeom>
          <a:noFill/>
          <a:ln/>
        </p:spPr>
        <p:txBody>
          <a:bodyPr wrap="square" lIns="0" tIns="0" rIns="0" bIns="0" rtlCol="0" anchor="t">
            <a:normAutofit/>
          </a:bodyPr>
          <a:lstStyle/>
          <a:p>
            <a:pPr marL="0" indent="0" algn="l">
              <a:lnSpc>
                <a:spcPts val="6300"/>
              </a:lnSpc>
              <a:buNone/>
            </a:pPr>
            <a:r>
              <a:rPr lang="es-CO" sz="6000" b="0" i="0" noProof="0" dirty="0">
                <a:solidFill>
                  <a:srgbClr val="F6F5F1"/>
                </a:solidFill>
                <a:latin typeface="Fraunces" pitchFamily="18" charset="0"/>
                <a:ea typeface="Fraunces" pitchFamily="18" charset="-122"/>
                <a:cs typeface="Fraunces" pitchFamily="18" charset="-120"/>
              </a:rPr>
              <a:t>Eres el blanco</a:t>
            </a:r>
            <a:endParaRPr lang="es-CO" sz="6000" noProof="0" dirty="0"/>
          </a:p>
        </p:txBody>
      </p:sp>
      <p:sp>
        <p:nvSpPr>
          <p:cNvPr id="3" name="Text 1"/>
          <p:cNvSpPr/>
          <p:nvPr/>
        </p:nvSpPr>
        <p:spPr>
          <a:xfrm>
            <a:off x="812800" y="3994150"/>
            <a:ext cx="9156700" cy="1198761"/>
          </a:xfrm>
          <a:prstGeom prst="rect">
            <a:avLst/>
          </a:prstGeom>
          <a:noFill/>
          <a:ln/>
        </p:spPr>
        <p:txBody>
          <a:bodyPr wrap="square" lIns="0" tIns="0" rIns="0" bIns="0" rtlCol="0" anchor="t">
            <a:normAutofit/>
          </a:bodyPr>
          <a:lstStyle/>
          <a:p>
            <a:pPr marL="0" indent="0" algn="l">
              <a:lnSpc>
                <a:spcPts val="3080"/>
              </a:lnSpc>
              <a:buNone/>
            </a:pPr>
            <a:r>
              <a:rPr lang="es-CO" sz="2200" noProof="0" dirty="0">
                <a:solidFill>
                  <a:srgbClr val="DCE0F5"/>
                </a:solidFill>
                <a:latin typeface="Nunito Sans" pitchFamily="34" charset="0"/>
                <a:ea typeface="Nunito Sans" pitchFamily="34" charset="-122"/>
                <a:cs typeface="Nunito Sans" pitchFamily="34" charset="-120"/>
              </a:rPr>
              <a:t>Pero no porque seas débil. Eres parte importante de una organización y tienes acceso a información valiosa. </a:t>
            </a:r>
            <a:r>
              <a:rPr lang="es-CO" sz="2200" dirty="0">
                <a:solidFill>
                  <a:srgbClr val="DCE0F5"/>
                </a:solidFill>
                <a:latin typeface="Nunito Sans" pitchFamily="34" charset="0"/>
                <a:ea typeface="Nunito Sans" pitchFamily="34" charset="-122"/>
                <a:cs typeface="Nunito Sans" pitchFamily="34" charset="-120"/>
              </a:rPr>
              <a:t>Atacar a personas siempre es más fácil que atacar sistemas.</a:t>
            </a:r>
            <a:r>
              <a:rPr lang="es-CO" sz="2200" noProof="0" dirty="0">
                <a:solidFill>
                  <a:srgbClr val="DCE0F5"/>
                </a:solidFill>
                <a:latin typeface="Nunito Sans" pitchFamily="34" charset="0"/>
                <a:ea typeface="Nunito Sans" pitchFamily="34" charset="-122"/>
                <a:cs typeface="Nunito Sans" pitchFamily="34" charset="-120"/>
              </a:rPr>
              <a:t> </a:t>
            </a:r>
            <a:endParaRPr lang="es-CO" sz="22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949944" y="-472281"/>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01</a:t>
            </a:r>
            <a:endParaRPr lang="es-CO" sz="9000" noProof="0" dirty="0"/>
          </a:p>
        </p:txBody>
      </p:sp>
      <p:sp>
        <p:nvSpPr>
          <p:cNvPr id="4" name="Text 2"/>
          <p:cNvSpPr>
            <a:spLocks noGrp="1"/>
          </p:cNvSpPr>
          <p:nvPr>
            <p:ph type="title"/>
          </p:nvPr>
        </p:nvSpPr>
        <p:spPr>
          <a:xfrm>
            <a:off x="812800" y="4735386"/>
            <a:ext cx="8502650" cy="847185"/>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La urgencia como arma</a:t>
            </a:r>
            <a:endParaRPr lang="es-CO" sz="5200" noProof="0" dirty="0"/>
          </a:p>
        </p:txBody>
      </p:sp>
      <p:sp>
        <p:nvSpPr>
          <p:cNvPr id="5" name="Text 3"/>
          <p:cNvSpPr/>
          <p:nvPr/>
        </p:nvSpPr>
        <p:spPr>
          <a:xfrm>
            <a:off x="812800" y="5689600"/>
            <a:ext cx="8502650" cy="3810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C7CCE8"/>
                </a:solidFill>
                <a:latin typeface="Nunito Sans" pitchFamily="34" charset="0"/>
                <a:ea typeface="Nunito Sans" pitchFamily="34" charset="-122"/>
                <a:cs typeface="Nunito Sans" pitchFamily="34" charset="-120"/>
              </a:rPr>
              <a:t>Cómo te presionan, y por qué pausar es la mejor defensa.</a:t>
            </a:r>
            <a:endParaRPr lang="es-CO" sz="20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1 · LA URGENCIA COMO ARMA</a:t>
            </a:r>
            <a:endParaRPr lang="es-CO" sz="1400" noProof="0" dirty="0"/>
          </a:p>
        </p:txBody>
      </p:sp>
      <p:sp>
        <p:nvSpPr>
          <p:cNvPr id="3" name="Text 1"/>
          <p:cNvSpPr>
            <a:spLocks noGrp="1"/>
          </p:cNvSpPr>
          <p:nvPr>
            <p:ph type="title"/>
          </p:nvPr>
        </p:nvSpPr>
        <p:spPr>
          <a:xfrm>
            <a:off x="812800" y="1341041"/>
            <a:ext cx="10883392" cy="1031081"/>
          </a:xfrm>
          <a:prstGeom prst="rect">
            <a:avLst/>
          </a:prstGeom>
          <a:noFill/>
          <a:ln/>
        </p:spPr>
        <p:txBody>
          <a:bodyPr wrap="square" lIns="0" tIns="0" rIns="0" bIns="0" rtlCol="0" anchor="t">
            <a:normAutofit/>
          </a:bodyPr>
          <a:lstStyle/>
          <a:p>
            <a:pPr marL="0" indent="0" algn="l">
              <a:lnSpc>
                <a:spcPts val="3960"/>
              </a:lnSpc>
              <a:buNone/>
            </a:pPr>
            <a:r>
              <a:rPr lang="es-CO" b="0" i="0" noProof="0" dirty="0">
                <a:solidFill>
                  <a:srgbClr val="1C2142"/>
                </a:solidFill>
                <a:latin typeface="Fraunces" pitchFamily="18" charset="0"/>
                <a:ea typeface="Fraunces" pitchFamily="18" charset="-122"/>
                <a:cs typeface="Fraunces" pitchFamily="18" charset="-120"/>
              </a:rPr>
              <a:t>No atacan tu computador. Prefieren atacar tus emociones.</a:t>
            </a:r>
            <a:endParaRPr lang="es-CO" noProof="0" dirty="0"/>
          </a:p>
        </p:txBody>
      </p:sp>
      <p:sp>
        <p:nvSpPr>
          <p:cNvPr id="4" name="Shape 2"/>
          <p:cNvSpPr/>
          <p:nvPr/>
        </p:nvSpPr>
        <p:spPr>
          <a:xfrm>
            <a:off x="819150" y="2632472"/>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079500" y="2892822"/>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Miedo</a:t>
            </a:r>
            <a:endParaRPr lang="es-CO" sz="1800" noProof="0" dirty="0"/>
          </a:p>
        </p:txBody>
      </p:sp>
      <p:sp>
        <p:nvSpPr>
          <p:cNvPr id="6" name="Text 4"/>
          <p:cNvSpPr/>
          <p:nvPr/>
        </p:nvSpPr>
        <p:spPr>
          <a:xfrm>
            <a:off x="1079501" y="3268663"/>
            <a:ext cx="3081020"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Su cuenta será suspendida en 24 horas si no confirma sus datos.</a:t>
            </a:r>
            <a:endParaRPr lang="es-CO" sz="1500" noProof="0" dirty="0"/>
          </a:p>
        </p:txBody>
      </p:sp>
      <p:sp>
        <p:nvSpPr>
          <p:cNvPr id="7" name="Shape 5"/>
          <p:cNvSpPr/>
          <p:nvPr/>
        </p:nvSpPr>
        <p:spPr>
          <a:xfrm>
            <a:off x="6191250" y="2632472"/>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8" name="Text 6"/>
          <p:cNvSpPr/>
          <p:nvPr/>
        </p:nvSpPr>
        <p:spPr>
          <a:xfrm>
            <a:off x="6451600" y="2892822"/>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Urgencia</a:t>
            </a:r>
            <a:endParaRPr lang="es-CO" sz="1800" noProof="0" dirty="0"/>
          </a:p>
        </p:txBody>
      </p:sp>
      <p:sp>
        <p:nvSpPr>
          <p:cNvPr id="9" name="Text 7"/>
          <p:cNvSpPr/>
          <p:nvPr/>
        </p:nvSpPr>
        <p:spPr>
          <a:xfrm>
            <a:off x="6451600" y="3268663"/>
            <a:ext cx="3030727"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Necesito la transferencia antes del cierre bancario. Es para hoy.</a:t>
            </a:r>
            <a:endParaRPr lang="es-CO" sz="1500" noProof="0" dirty="0"/>
          </a:p>
        </p:txBody>
      </p:sp>
      <p:sp>
        <p:nvSpPr>
          <p:cNvPr id="10" name="Shape 8"/>
          <p:cNvSpPr/>
          <p:nvPr/>
        </p:nvSpPr>
        <p:spPr>
          <a:xfrm>
            <a:off x="819150" y="4252913"/>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11" name="Text 9"/>
          <p:cNvSpPr/>
          <p:nvPr/>
        </p:nvSpPr>
        <p:spPr>
          <a:xfrm>
            <a:off x="1079500" y="4513263"/>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Autoridad</a:t>
            </a:r>
            <a:endParaRPr lang="es-CO" sz="1800" noProof="0" dirty="0"/>
          </a:p>
        </p:txBody>
      </p:sp>
      <p:sp>
        <p:nvSpPr>
          <p:cNvPr id="12" name="Text 10"/>
          <p:cNvSpPr/>
          <p:nvPr/>
        </p:nvSpPr>
        <p:spPr>
          <a:xfrm>
            <a:off x="1079501" y="4889103"/>
            <a:ext cx="3373628"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Soy el gerente. Estoy en reunión, no puedo hablar. Hazlo y luego te explico.</a:t>
            </a:r>
            <a:endParaRPr lang="es-CO" sz="1500" noProof="0" dirty="0"/>
          </a:p>
        </p:txBody>
      </p:sp>
      <p:sp>
        <p:nvSpPr>
          <p:cNvPr id="13" name="Shape 11"/>
          <p:cNvSpPr/>
          <p:nvPr/>
        </p:nvSpPr>
        <p:spPr>
          <a:xfrm>
            <a:off x="6191250" y="4252913"/>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14" name="Text 12"/>
          <p:cNvSpPr/>
          <p:nvPr/>
        </p:nvSpPr>
        <p:spPr>
          <a:xfrm>
            <a:off x="6451600" y="4513263"/>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Codicia o curiosidad</a:t>
            </a:r>
            <a:endParaRPr lang="es-CO" sz="1800" noProof="0" dirty="0"/>
          </a:p>
        </p:txBody>
      </p:sp>
      <p:sp>
        <p:nvSpPr>
          <p:cNvPr id="15" name="Text 13"/>
          <p:cNvSpPr/>
          <p:nvPr/>
        </p:nvSpPr>
        <p:spPr>
          <a:xfrm>
            <a:off x="6451600" y="4889103"/>
            <a:ext cx="3135691"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Tu bono fue aprobado. Confirma tus datos para recibirlo.</a:t>
            </a:r>
            <a:endParaRPr lang="es-CO" sz="1500" noProof="0" dirty="0"/>
          </a:p>
        </p:txBody>
      </p:sp>
      <p:pic>
        <p:nvPicPr>
          <p:cNvPr id="16"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7" name="Text 14"/>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6</a:t>
            </a:r>
            <a:endParaRPr lang="es-CO" sz="1200" noProof="0" dirty="0"/>
          </a:p>
        </p:txBody>
      </p:sp>
      <p:pic>
        <p:nvPicPr>
          <p:cNvPr id="19" name="Picture 18">
            <a:extLst>
              <a:ext uri="{FF2B5EF4-FFF2-40B4-BE49-F238E27FC236}">
                <a16:creationId xmlns:a16="http://schemas.microsoft.com/office/drawing/2014/main" id="{4F218021-207F-ABB2-4674-E4DEBCE25B34}"/>
              </a:ext>
            </a:extLst>
          </p:cNvPr>
          <p:cNvPicPr>
            <a:picLocks noChangeAspect="1"/>
          </p:cNvPicPr>
          <p:nvPr/>
        </p:nvPicPr>
        <p:blipFill>
          <a:blip r:embed="rId4"/>
          <a:stretch>
            <a:fillRect/>
          </a:stretch>
        </p:blipFill>
        <p:spPr>
          <a:xfrm>
            <a:off x="4351021" y="2764219"/>
            <a:ext cx="1397381" cy="1397381"/>
          </a:xfrm>
          <a:prstGeom prst="rect">
            <a:avLst/>
          </a:prstGeom>
        </p:spPr>
      </p:pic>
      <p:pic>
        <p:nvPicPr>
          <p:cNvPr id="22" name="Picture 21" descr="Ansiedad - Iconos gratis de usuario">
            <a:extLst>
              <a:ext uri="{FF2B5EF4-FFF2-40B4-BE49-F238E27FC236}">
                <a16:creationId xmlns:a16="http://schemas.microsoft.com/office/drawing/2014/main" id="{E9E28415-C1F1-DC9E-D7BA-40234728731E}"/>
              </a:ext>
            </a:extLst>
          </p:cNvPr>
          <p:cNvPicPr>
            <a:picLocks noChangeAspect="1"/>
          </p:cNvPicPr>
          <p:nvPr/>
        </p:nvPicPr>
        <p:blipFill>
          <a:blip r:embed="rId5"/>
          <a:stretch>
            <a:fillRect/>
          </a:stretch>
        </p:blipFill>
        <p:spPr>
          <a:xfrm>
            <a:off x="9742677" y="2775817"/>
            <a:ext cx="1400897" cy="1400897"/>
          </a:xfrm>
          <a:prstGeom prst="rect">
            <a:avLst/>
          </a:prstGeom>
        </p:spPr>
      </p:pic>
      <p:pic>
        <p:nvPicPr>
          <p:cNvPr id="24" name="Picture 23">
            <a:extLst>
              <a:ext uri="{FF2B5EF4-FFF2-40B4-BE49-F238E27FC236}">
                <a16:creationId xmlns:a16="http://schemas.microsoft.com/office/drawing/2014/main" id="{EFAD4869-1D1D-D9FA-DE4C-56A7E9D4C915}"/>
              </a:ext>
            </a:extLst>
          </p:cNvPr>
          <p:cNvPicPr>
            <a:picLocks noChangeAspect="1"/>
          </p:cNvPicPr>
          <p:nvPr/>
        </p:nvPicPr>
        <p:blipFill>
          <a:blip r:embed="rId6"/>
          <a:stretch>
            <a:fillRect/>
          </a:stretch>
        </p:blipFill>
        <p:spPr>
          <a:xfrm>
            <a:off x="4561077" y="4322762"/>
            <a:ext cx="1544637" cy="1544637"/>
          </a:xfrm>
          <a:prstGeom prst="rect">
            <a:avLst/>
          </a:prstGeom>
        </p:spPr>
      </p:pic>
      <p:pic>
        <p:nvPicPr>
          <p:cNvPr id="26" name="Picture 25">
            <a:extLst>
              <a:ext uri="{FF2B5EF4-FFF2-40B4-BE49-F238E27FC236}">
                <a16:creationId xmlns:a16="http://schemas.microsoft.com/office/drawing/2014/main" id="{BA950DA3-5740-35F1-A2E7-62CC209612CB}"/>
              </a:ext>
            </a:extLst>
          </p:cNvPr>
          <p:cNvPicPr>
            <a:picLocks noChangeAspect="1"/>
          </p:cNvPicPr>
          <p:nvPr/>
        </p:nvPicPr>
        <p:blipFill>
          <a:blip r:embed="rId7"/>
          <a:stretch>
            <a:fillRect/>
          </a:stretch>
        </p:blipFill>
        <p:spPr>
          <a:xfrm>
            <a:off x="9622154" y="4367214"/>
            <a:ext cx="1426464" cy="1426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729932" y="1160516"/>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1 · LA URGENCIA COMO ARMA</a:t>
            </a:r>
            <a:endParaRPr lang="es-CO" sz="1400" dirty="0"/>
          </a:p>
        </p:txBody>
      </p:sp>
      <p:sp>
        <p:nvSpPr>
          <p:cNvPr id="3" name="Text 1"/>
          <p:cNvSpPr>
            <a:spLocks noGrp="1"/>
          </p:cNvSpPr>
          <p:nvPr>
            <p:ph type="title"/>
          </p:nvPr>
        </p:nvSpPr>
        <p:spPr>
          <a:xfrm>
            <a:off x="729932" y="1688757"/>
            <a:ext cx="10883392" cy="528241"/>
          </a:xfrm>
          <a:prstGeom prst="rect">
            <a:avLst/>
          </a:prstGeom>
          <a:noFill/>
          <a:ln/>
        </p:spPr>
        <p:txBody>
          <a:bodyPr wrap="square" lIns="0" tIns="0" rIns="0" bIns="0" rtlCol="0" anchor="t">
            <a:normAutofit/>
          </a:bodyPr>
          <a:lstStyle/>
          <a:p>
            <a:pPr marL="0" indent="0" algn="l">
              <a:lnSpc>
                <a:spcPts val="3960"/>
              </a:lnSpc>
              <a:buNone/>
            </a:pPr>
            <a:r>
              <a:rPr lang="es-CO" dirty="0">
                <a:latin typeface="Fraunces" pitchFamily="18" charset="0"/>
              </a:rPr>
              <a:t>Ingeniería social en su mayor esplendor.</a:t>
            </a:r>
            <a:endParaRPr lang="es-CO" sz="3600" noProof="0" dirty="0"/>
          </a:p>
        </p:txBody>
      </p:sp>
      <p:grpSp>
        <p:nvGrpSpPr>
          <p:cNvPr id="28" name="Group 27">
            <a:extLst>
              <a:ext uri="{FF2B5EF4-FFF2-40B4-BE49-F238E27FC236}">
                <a16:creationId xmlns:a16="http://schemas.microsoft.com/office/drawing/2014/main" id="{9B8323BB-8FAA-7D65-87F5-D43EDFE8E91A}"/>
              </a:ext>
            </a:extLst>
          </p:cNvPr>
          <p:cNvGrpSpPr/>
          <p:nvPr/>
        </p:nvGrpSpPr>
        <p:grpSpPr>
          <a:xfrm>
            <a:off x="729932" y="2654809"/>
            <a:ext cx="2686114" cy="2017624"/>
            <a:chOff x="819150" y="2129631"/>
            <a:chExt cx="2501900" cy="2097584"/>
          </a:xfrm>
        </p:grpSpPr>
        <p:sp>
          <p:nvSpPr>
            <p:cNvPr id="4" name="Shape 2"/>
            <p:cNvSpPr/>
            <p:nvPr/>
          </p:nvSpPr>
          <p:spPr>
            <a:xfrm>
              <a:off x="8191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6" name="Text 4"/>
            <p:cNvSpPr/>
            <p:nvPr/>
          </p:nvSpPr>
          <p:spPr>
            <a:xfrm>
              <a:off x="1049782" y="2498142"/>
              <a:ext cx="2040636" cy="1617234"/>
            </a:xfrm>
            <a:prstGeom prst="rect">
              <a:avLst/>
            </a:prstGeom>
            <a:noFill/>
            <a:ln/>
          </p:spPr>
          <p:txBody>
            <a:bodyPr wrap="square" lIns="0" tIns="0" rIns="0" bIns="0" rtlCol="0" anchor="t">
              <a:normAutofit/>
            </a:bodyPr>
            <a:lstStyle/>
            <a:p>
              <a:pPr marL="0" indent="0">
                <a:lnSpc>
                  <a:spcPts val="1960"/>
                </a:lnSpc>
                <a:buNone/>
              </a:pPr>
              <a:r>
                <a:rPr lang="es-CO" sz="1600" dirty="0">
                  <a:solidFill>
                    <a:srgbClr val="1C2142"/>
                  </a:solidFill>
                  <a:latin typeface="Nunito Sans" pitchFamily="34" charset="0"/>
                </a:rPr>
                <a:t>Un empleado recibe un correo del </a:t>
              </a:r>
              <a:r>
                <a:rPr lang="es-CO" sz="1600" b="1" dirty="0">
                  <a:solidFill>
                    <a:srgbClr val="1C2142"/>
                  </a:solidFill>
                  <a:latin typeface="Nunito Sans" pitchFamily="34" charset="0"/>
                </a:rPr>
                <a:t>“Director Financiero” </a:t>
              </a:r>
              <a:r>
                <a:rPr lang="es-CO" sz="1600" dirty="0">
                  <a:solidFill>
                    <a:srgbClr val="1C2142"/>
                  </a:solidFill>
                  <a:latin typeface="Nunito Sans" pitchFamily="34" charset="0"/>
                </a:rPr>
                <a:t>para realizar una </a:t>
              </a:r>
              <a:r>
                <a:rPr lang="es-CO" sz="1600" b="1" dirty="0">
                  <a:solidFill>
                    <a:srgbClr val="1C2142"/>
                  </a:solidFill>
                  <a:latin typeface="Nunito Sans" pitchFamily="34" charset="0"/>
                </a:rPr>
                <a:t>transacción confidencial</a:t>
              </a:r>
              <a:r>
                <a:rPr lang="es-CO" sz="1600" noProof="0" dirty="0">
                  <a:solidFill>
                    <a:srgbClr val="4A5070"/>
                  </a:solidFill>
                  <a:latin typeface="Nunito Sans" pitchFamily="34" charset="0"/>
                  <a:ea typeface="Nunito Sans" pitchFamily="34" charset="-122"/>
                  <a:cs typeface="Nunito Sans" pitchFamily="34" charset="-120"/>
                </a:rPr>
                <a:t>.</a:t>
              </a:r>
              <a:endParaRPr lang="es-CO" sz="1600" noProof="0" dirty="0"/>
            </a:p>
          </p:txBody>
        </p:sp>
      </p:grpSp>
      <p:grpSp>
        <p:nvGrpSpPr>
          <p:cNvPr id="29" name="Group 28">
            <a:extLst>
              <a:ext uri="{FF2B5EF4-FFF2-40B4-BE49-F238E27FC236}">
                <a16:creationId xmlns:a16="http://schemas.microsoft.com/office/drawing/2014/main" id="{AB06B7B2-F892-AE1B-CD6C-BD0DEFF3557C}"/>
              </a:ext>
            </a:extLst>
          </p:cNvPr>
          <p:cNvGrpSpPr/>
          <p:nvPr/>
        </p:nvGrpSpPr>
        <p:grpSpPr>
          <a:xfrm>
            <a:off x="3618520" y="2884126"/>
            <a:ext cx="2501900" cy="2097584"/>
            <a:chOff x="3498850" y="2129631"/>
            <a:chExt cx="2501900" cy="2097584"/>
          </a:xfrm>
        </p:grpSpPr>
        <p:sp>
          <p:nvSpPr>
            <p:cNvPr id="20" name="Shape 8">
              <a:extLst>
                <a:ext uri="{FF2B5EF4-FFF2-40B4-BE49-F238E27FC236}">
                  <a16:creationId xmlns:a16="http://schemas.microsoft.com/office/drawing/2014/main" id="{D1F4A3E0-B880-D7C9-4A0F-F4B5BE1C0371}"/>
                </a:ext>
              </a:extLst>
            </p:cNvPr>
            <p:cNvSpPr/>
            <p:nvPr/>
          </p:nvSpPr>
          <p:spPr>
            <a:xfrm>
              <a:off x="34988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8" name="Text 6"/>
            <p:cNvSpPr/>
            <p:nvPr/>
          </p:nvSpPr>
          <p:spPr>
            <a:xfrm>
              <a:off x="3759200" y="23772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9" name="Text 7"/>
            <p:cNvSpPr/>
            <p:nvPr/>
          </p:nvSpPr>
          <p:spPr>
            <a:xfrm>
              <a:off x="3723894" y="2548147"/>
              <a:ext cx="2111248" cy="1369791"/>
            </a:xfrm>
            <a:prstGeom prst="rect">
              <a:avLst/>
            </a:prstGeom>
            <a:noFill/>
            <a:ln/>
          </p:spPr>
          <p:txBody>
            <a:bodyPr wrap="square" lIns="0" tIns="0" rIns="0" bIns="0" rtlCol="0" anchor="t">
              <a:noAutofit/>
            </a:bodyPr>
            <a:lstStyle/>
            <a:p>
              <a:pPr marL="0" indent="0" algn="l">
                <a:lnSpc>
                  <a:spcPts val="1960"/>
                </a:lnSpc>
                <a:buNone/>
              </a:pPr>
              <a:r>
                <a:rPr lang="es-CO" sz="1600" b="1" noProof="0" dirty="0">
                  <a:solidFill>
                    <a:srgbClr val="1C2142"/>
                  </a:solidFill>
                  <a:latin typeface="Nunito Sans" pitchFamily="34" charset="0"/>
                  <a:ea typeface="Nunito Sans" pitchFamily="34" charset="-122"/>
                  <a:cs typeface="Nunito Sans" pitchFamily="34" charset="-120"/>
                </a:rPr>
                <a:t>Sospecha que es phishing.</a:t>
              </a:r>
              <a:r>
                <a:rPr lang="es-CO" sz="1600" noProof="0" dirty="0">
                  <a:solidFill>
                    <a:srgbClr val="1C2142"/>
                  </a:solidFill>
                  <a:latin typeface="Nunito Sans" pitchFamily="34" charset="0"/>
                  <a:ea typeface="Nunito Sans" pitchFamily="34" charset="-122"/>
                  <a:cs typeface="Nunito Sans" pitchFamily="34" charset="-120"/>
                </a:rPr>
                <a:t> Su instinto le advierte del peligro pero </a:t>
              </a:r>
              <a:r>
                <a:rPr lang="es-CO" sz="1600" b="1" dirty="0">
                  <a:solidFill>
                    <a:srgbClr val="1C2142"/>
                  </a:solidFill>
                  <a:latin typeface="Nunito Sans" pitchFamily="34" charset="0"/>
                </a:rPr>
                <a:t>lo</a:t>
              </a:r>
              <a:r>
                <a:rPr lang="es-CO" sz="1600" noProof="0" dirty="0">
                  <a:solidFill>
                    <a:srgbClr val="1C2142"/>
                  </a:solidFill>
                  <a:latin typeface="Nunito Sans" pitchFamily="34" charset="0"/>
                  <a:ea typeface="Nunito Sans" pitchFamily="34" charset="-122"/>
                  <a:cs typeface="Nunito Sans" pitchFamily="34" charset="-120"/>
                </a:rPr>
                <a:t> invitan a una </a:t>
              </a:r>
              <a:r>
                <a:rPr lang="es-CO" sz="1600" b="1" noProof="0" dirty="0">
                  <a:solidFill>
                    <a:srgbClr val="1C2142"/>
                  </a:solidFill>
                  <a:latin typeface="Nunito Sans" pitchFamily="34" charset="0"/>
                  <a:ea typeface="Nunito Sans" pitchFamily="34" charset="-122"/>
                  <a:cs typeface="Nunito Sans" pitchFamily="34" charset="-120"/>
                </a:rPr>
                <a:t>videollamada</a:t>
              </a:r>
              <a:r>
                <a:rPr lang="es-CO" sz="1600" noProof="0" dirty="0">
                  <a:solidFill>
                    <a:srgbClr val="1C2142"/>
                  </a:solidFill>
                  <a:latin typeface="Nunito Sans" pitchFamily="34" charset="0"/>
                  <a:ea typeface="Nunito Sans" pitchFamily="34" charset="-122"/>
                  <a:cs typeface="Nunito Sans" pitchFamily="34" charset="-120"/>
                </a:rPr>
                <a:t>.</a:t>
              </a:r>
              <a:endParaRPr lang="es-CO" sz="1600" noProof="0" dirty="0"/>
            </a:p>
          </p:txBody>
        </p:sp>
      </p:grpSp>
      <p:grpSp>
        <p:nvGrpSpPr>
          <p:cNvPr id="30" name="Group 29">
            <a:extLst>
              <a:ext uri="{FF2B5EF4-FFF2-40B4-BE49-F238E27FC236}">
                <a16:creationId xmlns:a16="http://schemas.microsoft.com/office/drawing/2014/main" id="{F18CCC9C-84FB-B83B-8E3E-4FAC1F1307E0}"/>
              </a:ext>
            </a:extLst>
          </p:cNvPr>
          <p:cNvGrpSpPr/>
          <p:nvPr/>
        </p:nvGrpSpPr>
        <p:grpSpPr>
          <a:xfrm>
            <a:off x="6279896" y="3131776"/>
            <a:ext cx="2501900" cy="2097584"/>
            <a:chOff x="6184900" y="2123282"/>
            <a:chExt cx="2501900" cy="2097584"/>
          </a:xfrm>
        </p:grpSpPr>
        <p:sp>
          <p:nvSpPr>
            <p:cNvPr id="10" name="Shape 8"/>
            <p:cNvSpPr/>
            <p:nvPr/>
          </p:nvSpPr>
          <p:spPr>
            <a:xfrm>
              <a:off x="6184900" y="2123282"/>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11" name="Text 9"/>
            <p:cNvSpPr/>
            <p:nvPr/>
          </p:nvSpPr>
          <p:spPr>
            <a:xfrm>
              <a:off x="6438900" y="23899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12" name="Text 10"/>
            <p:cNvSpPr/>
            <p:nvPr/>
          </p:nvSpPr>
          <p:spPr>
            <a:xfrm>
              <a:off x="6438900" y="2513541"/>
              <a:ext cx="2040636" cy="1269603"/>
            </a:xfrm>
            <a:prstGeom prst="rect">
              <a:avLst/>
            </a:prstGeom>
            <a:noFill/>
            <a:ln/>
          </p:spPr>
          <p:txBody>
            <a:bodyPr wrap="square" lIns="0" tIns="0" rIns="0" bIns="0" rtlCol="0" anchor="t">
              <a:normAutofit/>
            </a:bodyPr>
            <a:lstStyle/>
            <a:p>
              <a:pPr marL="0" indent="0" algn="l">
                <a:lnSpc>
                  <a:spcPts val="1960"/>
                </a:lnSpc>
                <a:buNone/>
              </a:pPr>
              <a:r>
                <a:rPr lang="es-CO" sz="1600" dirty="0">
                  <a:solidFill>
                    <a:srgbClr val="1C2142"/>
                  </a:solidFill>
                  <a:latin typeface="Nunito Sans" pitchFamily="34" charset="0"/>
                </a:rPr>
                <a:t>En la </a:t>
              </a:r>
              <a:r>
                <a:rPr lang="es-CO" sz="1600" b="1" dirty="0">
                  <a:solidFill>
                    <a:srgbClr val="1C2142"/>
                  </a:solidFill>
                  <a:latin typeface="Nunito Sans" pitchFamily="34" charset="0"/>
                </a:rPr>
                <a:t>videollamada</a:t>
              </a:r>
              <a:r>
                <a:rPr lang="es-CO" sz="1600" dirty="0">
                  <a:solidFill>
                    <a:srgbClr val="1C2142"/>
                  </a:solidFill>
                  <a:latin typeface="Nunito Sans" pitchFamily="34" charset="0"/>
                </a:rPr>
                <a:t> se encuentra con el </a:t>
              </a:r>
              <a:r>
                <a:rPr lang="es-CO" sz="1600" b="1" dirty="0">
                  <a:solidFill>
                    <a:srgbClr val="1C2142"/>
                  </a:solidFill>
                  <a:latin typeface="Nunito Sans" pitchFamily="34" charset="0"/>
                </a:rPr>
                <a:t>“Director financiero</a:t>
              </a:r>
              <a:r>
                <a:rPr lang="es-CO" sz="1600" dirty="0">
                  <a:solidFill>
                    <a:srgbClr val="1C2142"/>
                  </a:solidFill>
                  <a:latin typeface="Nunito Sans" pitchFamily="34" charset="0"/>
                </a:rPr>
                <a:t>” y compañeros. Todos eran </a:t>
              </a:r>
              <a:r>
                <a:rPr lang="es-CO" sz="1600" b="1" dirty="0">
                  <a:solidFill>
                    <a:srgbClr val="1C2142"/>
                  </a:solidFill>
                  <a:latin typeface="Nunito Sans" pitchFamily="34" charset="0"/>
                </a:rPr>
                <a:t>hechos con IA.</a:t>
              </a:r>
            </a:p>
          </p:txBody>
        </p:sp>
      </p:grpSp>
      <p:grpSp>
        <p:nvGrpSpPr>
          <p:cNvPr id="31" name="Group 30">
            <a:extLst>
              <a:ext uri="{FF2B5EF4-FFF2-40B4-BE49-F238E27FC236}">
                <a16:creationId xmlns:a16="http://schemas.microsoft.com/office/drawing/2014/main" id="{3B4A2170-58A3-D5AE-72C5-F972C9AE3741}"/>
              </a:ext>
            </a:extLst>
          </p:cNvPr>
          <p:cNvGrpSpPr/>
          <p:nvPr/>
        </p:nvGrpSpPr>
        <p:grpSpPr>
          <a:xfrm>
            <a:off x="8941272" y="3398475"/>
            <a:ext cx="2501900" cy="2097584"/>
            <a:chOff x="8870950" y="2129631"/>
            <a:chExt cx="2501900" cy="2097584"/>
          </a:xfrm>
        </p:grpSpPr>
        <p:sp>
          <p:nvSpPr>
            <p:cNvPr id="13" name="Shape 11"/>
            <p:cNvSpPr/>
            <p:nvPr/>
          </p:nvSpPr>
          <p:spPr>
            <a:xfrm>
              <a:off x="88709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14" name="Text 12"/>
            <p:cNvSpPr/>
            <p:nvPr/>
          </p:nvSpPr>
          <p:spPr>
            <a:xfrm>
              <a:off x="9131300" y="23899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15" name="Text 13"/>
            <p:cNvSpPr/>
            <p:nvPr/>
          </p:nvSpPr>
          <p:spPr>
            <a:xfrm>
              <a:off x="9131300" y="2376558"/>
              <a:ext cx="2010918" cy="1584162"/>
            </a:xfrm>
            <a:prstGeom prst="rect">
              <a:avLst/>
            </a:prstGeom>
            <a:noFill/>
            <a:ln/>
          </p:spPr>
          <p:txBody>
            <a:bodyPr wrap="square" lIns="0" tIns="0" rIns="0" bIns="0" rtlCol="0" anchor="t">
              <a:normAutofit/>
            </a:bodyPr>
            <a:lstStyle/>
            <a:p>
              <a:pPr marL="0" indent="0" algn="l">
                <a:lnSpc>
                  <a:spcPts val="1960"/>
                </a:lnSpc>
                <a:buNone/>
              </a:pPr>
              <a:r>
                <a:rPr lang="es-CO" sz="1600" dirty="0">
                  <a:solidFill>
                    <a:srgbClr val="1C2142"/>
                  </a:solidFill>
                  <a:latin typeface="Nunito Sans" pitchFamily="34" charset="0"/>
                </a:rPr>
                <a:t>Al ser </a:t>
              </a:r>
              <a:r>
                <a:rPr lang="es-CO" sz="1600" b="1" dirty="0">
                  <a:solidFill>
                    <a:srgbClr val="1C2142"/>
                  </a:solidFill>
                  <a:latin typeface="Nunito Sans" pitchFamily="34" charset="0"/>
                </a:rPr>
                <a:t>urgente</a:t>
              </a:r>
              <a:r>
                <a:rPr lang="es-CO" sz="1600" dirty="0">
                  <a:solidFill>
                    <a:srgbClr val="1C2142"/>
                  </a:solidFill>
                  <a:latin typeface="Nunito Sans" pitchFamily="34" charset="0"/>
                </a:rPr>
                <a:t> y tener confirmación por </a:t>
              </a:r>
              <a:r>
                <a:rPr lang="es-CO" sz="1600" b="1" dirty="0">
                  <a:solidFill>
                    <a:srgbClr val="1C2142"/>
                  </a:solidFill>
                  <a:latin typeface="Nunito Sans" pitchFamily="34" charset="0"/>
                </a:rPr>
                <a:t>videollamada</a:t>
              </a:r>
              <a:r>
                <a:rPr lang="es-CO" sz="1600" dirty="0">
                  <a:solidFill>
                    <a:srgbClr val="1C2142"/>
                  </a:solidFill>
                  <a:latin typeface="Nunito Sans" pitchFamily="34" charset="0"/>
                </a:rPr>
                <a:t>, el empleado </a:t>
              </a:r>
              <a:r>
                <a:rPr lang="es-CO" sz="1600" b="1" dirty="0">
                  <a:solidFill>
                    <a:srgbClr val="1C2142"/>
                  </a:solidFill>
                  <a:latin typeface="Nunito Sans" pitchFamily="34" charset="0"/>
                </a:rPr>
                <a:t>transfiere</a:t>
              </a:r>
              <a:r>
                <a:rPr lang="es-CO" sz="1600" dirty="0">
                  <a:solidFill>
                    <a:srgbClr val="1C2142"/>
                  </a:solidFill>
                  <a:latin typeface="Nunito Sans" pitchFamily="34" charset="0"/>
                </a:rPr>
                <a:t> alrededor de </a:t>
              </a:r>
              <a:r>
                <a:rPr lang="es-CO" sz="1600" b="1" dirty="0">
                  <a:solidFill>
                    <a:srgbClr val="1C2142"/>
                  </a:solidFill>
                  <a:latin typeface="Nunito Sans" pitchFamily="34" charset="0"/>
                </a:rPr>
                <a:t>25 millones de dólares</a:t>
              </a:r>
              <a:r>
                <a:rPr lang="es-CO" sz="1600" dirty="0">
                  <a:solidFill>
                    <a:srgbClr val="1C2142"/>
                  </a:solidFill>
                  <a:latin typeface="Nunito Sans" pitchFamily="34" charset="0"/>
                </a:rPr>
                <a:t>.</a:t>
              </a:r>
            </a:p>
          </p:txBody>
        </p:sp>
      </p:grpSp>
      <p:pic>
        <p:nvPicPr>
          <p:cNvPr id="17"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8" name="Text 15"/>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t>7</a:t>
            </a:r>
          </a:p>
        </p:txBody>
      </p:sp>
      <p:sp>
        <p:nvSpPr>
          <p:cNvPr id="23" name="TextBox 22">
            <a:extLst>
              <a:ext uri="{FF2B5EF4-FFF2-40B4-BE49-F238E27FC236}">
                <a16:creationId xmlns:a16="http://schemas.microsoft.com/office/drawing/2014/main" id="{812239C9-1D05-8982-C1D9-E21E4879EE3E}"/>
              </a:ext>
            </a:extLst>
          </p:cNvPr>
          <p:cNvSpPr txBox="1"/>
          <p:nvPr/>
        </p:nvSpPr>
        <p:spPr>
          <a:xfrm>
            <a:off x="9656302" y="1045539"/>
            <a:ext cx="1503132" cy="246221"/>
          </a:xfrm>
          <a:prstGeom prst="rect">
            <a:avLst/>
          </a:prstGeom>
          <a:noFill/>
        </p:spPr>
        <p:txBody>
          <a:bodyPr wrap="square">
            <a:spAutoFit/>
          </a:bodyPr>
          <a:lstStyle/>
          <a:p>
            <a:r>
              <a:rPr lang="en-US" sz="1000" dirty="0"/>
              <a:t>https://www.arup.com/</a:t>
            </a:r>
          </a:p>
        </p:txBody>
      </p:sp>
      <p:sp>
        <p:nvSpPr>
          <p:cNvPr id="25" name="TextBox 24">
            <a:extLst>
              <a:ext uri="{FF2B5EF4-FFF2-40B4-BE49-F238E27FC236}">
                <a16:creationId xmlns:a16="http://schemas.microsoft.com/office/drawing/2014/main" id="{CEB87520-40BA-E9AC-B63D-B1CF090FB5E8}"/>
              </a:ext>
            </a:extLst>
          </p:cNvPr>
          <p:cNvSpPr txBox="1"/>
          <p:nvPr/>
        </p:nvSpPr>
        <p:spPr>
          <a:xfrm>
            <a:off x="875538" y="5856660"/>
            <a:ext cx="7244334" cy="246221"/>
          </a:xfrm>
          <a:prstGeom prst="rect">
            <a:avLst/>
          </a:prstGeom>
          <a:noFill/>
        </p:spPr>
        <p:txBody>
          <a:bodyPr wrap="square">
            <a:spAutoFit/>
          </a:bodyPr>
          <a:lstStyle/>
          <a:p>
            <a:r>
              <a:rPr lang="en-US" sz="1000" dirty="0">
                <a:solidFill>
                  <a:schemeClr val="accent5">
                    <a:lumMod val="60000"/>
                    <a:lumOff val="40000"/>
                  </a:schemeClr>
                </a:solidFill>
                <a:hlinkClick r:id="rId4">
                  <a:extLst>
                    <a:ext uri="{A12FA001-AC4F-418D-AE19-62706E023703}">
                      <ahyp:hlinkClr xmlns:ahyp="http://schemas.microsoft.com/office/drawing/2018/hyperlinkcolor" val="tx"/>
                    </a:ext>
                  </a:extLst>
                </a:hlinkClick>
              </a:rPr>
              <a:t>https://westoahu.hawaii.edu/cyber/forensics-weekly-executive-summmaries/arup-deekfake-scam-forensic-analysis/</a:t>
            </a:r>
            <a:endParaRPr lang="en-US" sz="1000" dirty="0">
              <a:solidFill>
                <a:schemeClr val="accent5">
                  <a:lumMod val="60000"/>
                  <a:lumOff val="40000"/>
                </a:schemeClr>
              </a:solidFill>
            </a:endParaRPr>
          </a:p>
        </p:txBody>
      </p:sp>
      <p:pic>
        <p:nvPicPr>
          <p:cNvPr id="27" name="Picture 26">
            <a:extLst>
              <a:ext uri="{FF2B5EF4-FFF2-40B4-BE49-F238E27FC236}">
                <a16:creationId xmlns:a16="http://schemas.microsoft.com/office/drawing/2014/main" id="{CD3762F9-87D5-2D1C-FE6A-DF04043B7944}"/>
              </a:ext>
            </a:extLst>
          </p:cNvPr>
          <p:cNvPicPr>
            <a:picLocks noChangeAspect="1"/>
          </p:cNvPicPr>
          <p:nvPr/>
        </p:nvPicPr>
        <p:blipFill>
          <a:blip r:embed="rId5"/>
          <a:srcRect t="28390" b="27263"/>
          <a:stretch>
            <a:fillRect/>
          </a:stretch>
        </p:blipFill>
        <p:spPr>
          <a:xfrm>
            <a:off x="9201622" y="304617"/>
            <a:ext cx="2412492" cy="855899"/>
          </a:xfrm>
          <a:prstGeom prst="rect">
            <a:avLst/>
          </a:prstGeom>
        </p:spPr>
      </p:pic>
      <p:sp>
        <p:nvSpPr>
          <p:cNvPr id="32" name="Rectangle 31">
            <a:extLst>
              <a:ext uri="{FF2B5EF4-FFF2-40B4-BE49-F238E27FC236}">
                <a16:creationId xmlns:a16="http://schemas.microsoft.com/office/drawing/2014/main" id="{DCBA9F19-5F09-7AAB-6F88-E40A8E61F52A}"/>
              </a:ext>
            </a:extLst>
          </p:cNvPr>
          <p:cNvSpPr/>
          <p:nvPr/>
        </p:nvSpPr>
        <p:spPr>
          <a:xfrm>
            <a:off x="729932" y="4228294"/>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1.</a:t>
            </a:r>
          </a:p>
        </p:txBody>
      </p:sp>
      <p:sp>
        <p:nvSpPr>
          <p:cNvPr id="34" name="Rectangle 33">
            <a:extLst>
              <a:ext uri="{FF2B5EF4-FFF2-40B4-BE49-F238E27FC236}">
                <a16:creationId xmlns:a16="http://schemas.microsoft.com/office/drawing/2014/main" id="{73894C1B-46E7-8967-27C0-2F37E9F959C1}"/>
              </a:ext>
            </a:extLst>
          </p:cNvPr>
          <p:cNvSpPr/>
          <p:nvPr/>
        </p:nvSpPr>
        <p:spPr>
          <a:xfrm>
            <a:off x="3626741" y="4547771"/>
            <a:ext cx="771365" cy="923330"/>
          </a:xfrm>
          <a:prstGeom prst="rect">
            <a:avLst/>
          </a:prstGeom>
          <a:noFill/>
        </p:spPr>
        <p:txBody>
          <a:bodyPr wrap="none" lIns="91440" tIns="45720" rIns="91440" bIns="45720">
            <a:spAutoFit/>
          </a:bodyPr>
          <a:lstStyle/>
          <a:p>
            <a:pPr algn="ct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2</a:t>
            </a: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a:t>
            </a:r>
          </a:p>
        </p:txBody>
      </p:sp>
      <p:sp>
        <p:nvSpPr>
          <p:cNvPr id="36" name="Rectangle 35">
            <a:extLst>
              <a:ext uri="{FF2B5EF4-FFF2-40B4-BE49-F238E27FC236}">
                <a16:creationId xmlns:a16="http://schemas.microsoft.com/office/drawing/2014/main" id="{71CEC38E-B972-00C9-32DD-E615998AE98C}"/>
              </a:ext>
            </a:extLst>
          </p:cNvPr>
          <p:cNvSpPr/>
          <p:nvPr/>
        </p:nvSpPr>
        <p:spPr>
          <a:xfrm>
            <a:off x="6322723" y="4744284"/>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3.</a:t>
            </a:r>
          </a:p>
        </p:txBody>
      </p:sp>
      <p:sp>
        <p:nvSpPr>
          <p:cNvPr id="38" name="Rectangle 37">
            <a:extLst>
              <a:ext uri="{FF2B5EF4-FFF2-40B4-BE49-F238E27FC236}">
                <a16:creationId xmlns:a16="http://schemas.microsoft.com/office/drawing/2014/main" id="{3F23E8C2-E41A-F0E5-8E2B-1DAE4C6DB019}"/>
              </a:ext>
            </a:extLst>
          </p:cNvPr>
          <p:cNvSpPr/>
          <p:nvPr/>
        </p:nvSpPr>
        <p:spPr>
          <a:xfrm>
            <a:off x="8960630" y="5129285"/>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E9ECF4"/>
        </a:solidFill>
        <a:effectLst/>
      </p:bgPr>
    </p:bg>
    <p:spTree>
      <p:nvGrpSpPr>
        <p:cNvPr id="1" name=""/>
        <p:cNvGrpSpPr/>
        <p:nvPr/>
      </p:nvGrpSpPr>
      <p:grpSpPr>
        <a:xfrm>
          <a:off x="0" y="0"/>
          <a:ext cx="0" cy="0"/>
          <a:chOff x="0" y="0"/>
          <a:chExt cx="0" cy="0"/>
        </a:xfrm>
      </p:grpSpPr>
      <p:pic>
        <p:nvPicPr>
          <p:cNvPr id="10" name="Image 1" descr="Pralogy"/>
          <p:cNvPicPr>
            <a:picLocks noChangeAspect="1"/>
          </p:cNvPicPr>
          <p:nvPr/>
        </p:nvPicPr>
        <p:blipFill>
          <a:blip r:embed="rId5"/>
          <a:srcRect l="-62" r="-62"/>
          <a:stretch/>
        </p:blipFill>
        <p:spPr>
          <a:xfrm>
            <a:off x="812800" y="6273800"/>
            <a:ext cx="1111250" cy="228600"/>
          </a:xfrm>
          <a:prstGeom prst="rect">
            <a:avLst/>
          </a:prstGeom>
        </p:spPr>
      </p:pic>
      <p:sp>
        <p:nvSpPr>
          <p:cNvPr id="11" name="Text 7"/>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8</a:t>
            </a:r>
            <a:endParaRPr lang="es-CO" sz="1200" noProof="0" dirty="0"/>
          </a:p>
        </p:txBody>
      </p:sp>
      <p:pic>
        <p:nvPicPr>
          <p:cNvPr id="16" name="deepfake example">
            <a:hlinkClick r:id="" action="ppaction://media"/>
            <a:extLst>
              <a:ext uri="{FF2B5EF4-FFF2-40B4-BE49-F238E27FC236}">
                <a16:creationId xmlns:a16="http://schemas.microsoft.com/office/drawing/2014/main" id="{F2FA7142-23B9-9624-ED0F-6208125A734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0" y="9525"/>
            <a:ext cx="12192000" cy="68389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1625"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CF4"/>
        </a:solidFill>
        <a:effectLst/>
      </p:bgPr>
    </p:bg>
    <p:spTree>
      <p:nvGrpSpPr>
        <p:cNvPr id="1" name="">
          <a:extLst>
            <a:ext uri="{FF2B5EF4-FFF2-40B4-BE49-F238E27FC236}">
              <a16:creationId xmlns:a16="http://schemas.microsoft.com/office/drawing/2014/main" id="{1AC77A0C-6E56-3A92-DB32-0BB483F3964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2C1FEA5-FF3E-D61F-E6F8-B275105EE9F4}"/>
              </a:ext>
            </a:extLst>
          </p:cNvPr>
          <p:cNvSpPr/>
          <p:nvPr/>
        </p:nvSpPr>
        <p:spPr>
          <a:xfrm>
            <a:off x="812800" y="652184"/>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1 · LA URGENCIA COMO ARMA</a:t>
            </a:r>
            <a:endParaRPr lang="es-CO" sz="1400" noProof="0" dirty="0"/>
          </a:p>
        </p:txBody>
      </p:sp>
      <p:sp>
        <p:nvSpPr>
          <p:cNvPr id="3" name="Text 1">
            <a:extLst>
              <a:ext uri="{FF2B5EF4-FFF2-40B4-BE49-F238E27FC236}">
                <a16:creationId xmlns:a16="http://schemas.microsoft.com/office/drawing/2014/main" id="{5E61F51D-B91B-8CC8-E9DE-73CE02DEE3A7}"/>
              </a:ext>
            </a:extLst>
          </p:cNvPr>
          <p:cNvSpPr>
            <a:spLocks noGrp="1"/>
          </p:cNvSpPr>
          <p:nvPr>
            <p:ph type="title"/>
          </p:nvPr>
        </p:nvSpPr>
        <p:spPr>
          <a:xfrm>
            <a:off x="812800" y="1180425"/>
            <a:ext cx="10883392" cy="528241"/>
          </a:xfrm>
          <a:prstGeom prst="rect">
            <a:avLst/>
          </a:prstGeom>
          <a:noFill/>
          <a:ln/>
        </p:spPr>
        <p:txBody>
          <a:bodyPr wrap="square" lIns="0" tIns="0" rIns="0" bIns="0" rtlCol="0" anchor="t">
            <a:normAutofit/>
          </a:bodyPr>
          <a:lstStyle/>
          <a:p>
            <a:pPr marL="0" indent="0" algn="l">
              <a:lnSpc>
                <a:spcPts val="3960"/>
              </a:lnSpc>
              <a:buNone/>
            </a:pPr>
            <a:r>
              <a:rPr lang="es-CO" dirty="0">
                <a:latin typeface="Fraunces" pitchFamily="18" charset="0"/>
              </a:rPr>
              <a:t>Confía en mí, me conoces.</a:t>
            </a:r>
            <a:endParaRPr lang="es-CO" sz="3600" noProof="0" dirty="0"/>
          </a:p>
        </p:txBody>
      </p:sp>
      <p:pic>
        <p:nvPicPr>
          <p:cNvPr id="10" name="Image 1" descr="Pralogy">
            <a:extLst>
              <a:ext uri="{FF2B5EF4-FFF2-40B4-BE49-F238E27FC236}">
                <a16:creationId xmlns:a16="http://schemas.microsoft.com/office/drawing/2014/main" id="{96CE8DA4-661A-CA93-EF67-4CEB17A6BF29}"/>
              </a:ext>
            </a:extLst>
          </p:cNvPr>
          <p:cNvPicPr>
            <a:picLocks noChangeAspect="1"/>
          </p:cNvPicPr>
          <p:nvPr/>
        </p:nvPicPr>
        <p:blipFill>
          <a:blip r:embed="rId3"/>
          <a:srcRect l="-62" r="-62"/>
          <a:stretch/>
        </p:blipFill>
        <p:spPr>
          <a:xfrm>
            <a:off x="812800" y="6273800"/>
            <a:ext cx="1111250" cy="228600"/>
          </a:xfrm>
          <a:prstGeom prst="rect">
            <a:avLst/>
          </a:prstGeom>
        </p:spPr>
      </p:pic>
      <p:sp>
        <p:nvSpPr>
          <p:cNvPr id="11" name="Text 7">
            <a:extLst>
              <a:ext uri="{FF2B5EF4-FFF2-40B4-BE49-F238E27FC236}">
                <a16:creationId xmlns:a16="http://schemas.microsoft.com/office/drawing/2014/main" id="{CE93B04B-7710-AA20-7E3B-148CEF66BED4}"/>
              </a:ext>
            </a:extLst>
          </p:cNvPr>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9</a:t>
            </a:r>
            <a:endParaRPr lang="es-CO" sz="1200" noProof="0" dirty="0"/>
          </a:p>
        </p:txBody>
      </p:sp>
      <p:grpSp>
        <p:nvGrpSpPr>
          <p:cNvPr id="49" name="Group 48">
            <a:extLst>
              <a:ext uri="{FF2B5EF4-FFF2-40B4-BE49-F238E27FC236}">
                <a16:creationId xmlns:a16="http://schemas.microsoft.com/office/drawing/2014/main" id="{3DD92F5E-8FA2-0947-A83B-4A4DAD25248C}"/>
              </a:ext>
            </a:extLst>
          </p:cNvPr>
          <p:cNvGrpSpPr/>
          <p:nvPr/>
        </p:nvGrpSpPr>
        <p:grpSpPr>
          <a:xfrm>
            <a:off x="1642649" y="2003919"/>
            <a:ext cx="2810545" cy="1691535"/>
            <a:chOff x="945027" y="2121182"/>
            <a:chExt cx="2810545" cy="1691535"/>
          </a:xfrm>
        </p:grpSpPr>
        <p:pic>
          <p:nvPicPr>
            <p:cNvPr id="15" name="Picture 14">
              <a:extLst>
                <a:ext uri="{FF2B5EF4-FFF2-40B4-BE49-F238E27FC236}">
                  <a16:creationId xmlns:a16="http://schemas.microsoft.com/office/drawing/2014/main" id="{29B2614E-9DA1-FC5C-C936-B19E4834B3A7}"/>
                </a:ext>
              </a:extLst>
            </p:cNvPr>
            <p:cNvPicPr>
              <a:picLocks noChangeAspect="1"/>
            </p:cNvPicPr>
            <p:nvPr/>
          </p:nvPicPr>
          <p:blipFill>
            <a:blip r:embed="rId4"/>
            <a:stretch>
              <a:fillRect/>
            </a:stretch>
          </p:blipFill>
          <p:spPr>
            <a:xfrm>
              <a:off x="945027" y="2121182"/>
              <a:ext cx="1111250" cy="1111250"/>
            </a:xfrm>
            <a:prstGeom prst="rect">
              <a:avLst/>
            </a:prstGeom>
          </p:spPr>
        </p:pic>
        <p:cxnSp>
          <p:nvCxnSpPr>
            <p:cNvPr id="17" name="Straight Connector 16">
              <a:extLst>
                <a:ext uri="{FF2B5EF4-FFF2-40B4-BE49-F238E27FC236}">
                  <a16:creationId xmlns:a16="http://schemas.microsoft.com/office/drawing/2014/main" id="{358AC1DB-29E1-949E-C956-161FCA1397D7}"/>
                </a:ext>
              </a:extLst>
            </p:cNvPr>
            <p:cNvCxnSpPr>
              <a:cxnSpLocks/>
            </p:cNvCxnSpPr>
            <p:nvPr/>
          </p:nvCxnSpPr>
          <p:spPr>
            <a:xfrm flipV="1">
              <a:off x="2087154" y="2535355"/>
              <a:ext cx="492880" cy="894811"/>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AABB949C-8286-51D7-696D-72413FDE8EF5}"/>
                </a:ext>
              </a:extLst>
            </p:cNvPr>
            <p:cNvPicPr>
              <a:picLocks noChangeAspect="1"/>
            </p:cNvPicPr>
            <p:nvPr/>
          </p:nvPicPr>
          <p:blipFill>
            <a:blip r:embed="rId5"/>
            <a:srcRect b="7916"/>
            <a:stretch>
              <a:fillRect/>
            </a:stretch>
          </p:blipFill>
          <p:spPr>
            <a:xfrm>
              <a:off x="2465319" y="2533205"/>
              <a:ext cx="1290253" cy="1279512"/>
            </a:xfrm>
            <a:prstGeom prst="rect">
              <a:avLst/>
            </a:prstGeom>
          </p:spPr>
        </p:pic>
      </p:grpSp>
      <p:grpSp>
        <p:nvGrpSpPr>
          <p:cNvPr id="51" name="Group 50">
            <a:extLst>
              <a:ext uri="{FF2B5EF4-FFF2-40B4-BE49-F238E27FC236}">
                <a16:creationId xmlns:a16="http://schemas.microsoft.com/office/drawing/2014/main" id="{26419563-8240-B5B7-AFEC-E3B24B60BD01}"/>
              </a:ext>
            </a:extLst>
          </p:cNvPr>
          <p:cNvGrpSpPr/>
          <p:nvPr/>
        </p:nvGrpSpPr>
        <p:grpSpPr>
          <a:xfrm>
            <a:off x="7567363" y="4318949"/>
            <a:ext cx="3713290" cy="1043501"/>
            <a:chOff x="416837" y="4468844"/>
            <a:chExt cx="3713290" cy="1043501"/>
          </a:xfrm>
        </p:grpSpPr>
        <p:sp>
          <p:nvSpPr>
            <p:cNvPr id="38" name="Shape 4">
              <a:extLst>
                <a:ext uri="{FF2B5EF4-FFF2-40B4-BE49-F238E27FC236}">
                  <a16:creationId xmlns:a16="http://schemas.microsoft.com/office/drawing/2014/main" id="{EA12E7D1-7E7C-8526-97F8-FE23B9E2AE52}"/>
                </a:ext>
              </a:extLst>
            </p:cNvPr>
            <p:cNvSpPr/>
            <p:nvPr/>
          </p:nvSpPr>
          <p:spPr>
            <a:xfrm>
              <a:off x="416837" y="4614209"/>
              <a:ext cx="3642939" cy="898136"/>
            </a:xfrm>
            <a:prstGeom prst="roundRect">
              <a:avLst>
                <a:gd name="adj" fmla="val 6972"/>
              </a:avLst>
            </a:prstGeom>
            <a:solidFill>
              <a:srgbClr val="FCFBF8"/>
            </a:solidFill>
            <a:ln/>
          </p:spPr>
          <p:txBody>
            <a:bodyPr/>
            <a:lstStyle/>
            <a:p>
              <a:endParaRPr lang="es-CO" noProof="0" dirty="0"/>
            </a:p>
          </p:txBody>
        </p:sp>
        <p:sp>
          <p:nvSpPr>
            <p:cNvPr id="40" name="Text 2">
              <a:extLst>
                <a:ext uri="{FF2B5EF4-FFF2-40B4-BE49-F238E27FC236}">
                  <a16:creationId xmlns:a16="http://schemas.microsoft.com/office/drawing/2014/main" id="{D8EAE1D3-7466-D974-B275-843E3C7D1092}"/>
                </a:ext>
              </a:extLst>
            </p:cNvPr>
            <p:cNvSpPr/>
            <p:nvPr/>
          </p:nvSpPr>
          <p:spPr>
            <a:xfrm>
              <a:off x="598042" y="4759338"/>
              <a:ext cx="3324573" cy="734719"/>
            </a:xfrm>
            <a:prstGeom prst="rect">
              <a:avLst/>
            </a:prstGeom>
            <a:noFill/>
            <a:ln/>
          </p:spPr>
          <p:txBody>
            <a:bodyPr wrap="square" lIns="0" tIns="0" rIns="0" bIns="0" rtlCol="0" anchor="t">
              <a:normAutofit/>
            </a:bodyPr>
            <a:lstStyle/>
            <a:p>
              <a:pPr marL="0" indent="0" algn="l">
                <a:lnSpc>
                  <a:spcPts val="2465"/>
                </a:lnSpc>
                <a:buNone/>
              </a:pPr>
              <a:r>
                <a:rPr lang="es-CO" dirty="0">
                  <a:solidFill>
                    <a:srgbClr val="1C2142"/>
                  </a:solidFill>
                  <a:latin typeface="Nunito Sans" pitchFamily="34" charset="0"/>
                </a:rPr>
                <a:t>El atacante no supo qué responder y </a:t>
              </a:r>
              <a:r>
                <a:rPr lang="es-CO" b="1" dirty="0">
                  <a:solidFill>
                    <a:srgbClr val="1C2142"/>
                  </a:solidFill>
                  <a:latin typeface="Nunito Sans" pitchFamily="34" charset="0"/>
                </a:rPr>
                <a:t>colgó</a:t>
              </a:r>
              <a:r>
                <a:rPr lang="es-CO" dirty="0">
                  <a:solidFill>
                    <a:srgbClr val="1C2142"/>
                  </a:solidFill>
                  <a:latin typeface="Nunito Sans" pitchFamily="34" charset="0"/>
                </a:rPr>
                <a:t> la llamada.</a:t>
              </a:r>
            </a:p>
          </p:txBody>
        </p:sp>
        <p:pic>
          <p:nvPicPr>
            <p:cNvPr id="41" name="Picture 40" descr="Hang up - Free interface icons">
              <a:extLst>
                <a:ext uri="{FF2B5EF4-FFF2-40B4-BE49-F238E27FC236}">
                  <a16:creationId xmlns:a16="http://schemas.microsoft.com/office/drawing/2014/main" id="{11AEEA78-2FC4-54EE-D2FF-C1502C4D0DCD}"/>
                </a:ext>
              </a:extLst>
            </p:cNvPr>
            <p:cNvPicPr>
              <a:picLocks noChangeAspect="1"/>
            </p:cNvPicPr>
            <p:nvPr/>
          </p:nvPicPr>
          <p:blipFill>
            <a:blip r:embed="rId6"/>
            <a:stretch>
              <a:fillRect/>
            </a:stretch>
          </p:blipFill>
          <p:spPr>
            <a:xfrm>
              <a:off x="3592301" y="4468844"/>
              <a:ext cx="537826" cy="571517"/>
            </a:xfrm>
            <a:prstGeom prst="rect">
              <a:avLst/>
            </a:prstGeom>
          </p:spPr>
        </p:pic>
      </p:grpSp>
      <p:grpSp>
        <p:nvGrpSpPr>
          <p:cNvPr id="50" name="Group 49">
            <a:extLst>
              <a:ext uri="{FF2B5EF4-FFF2-40B4-BE49-F238E27FC236}">
                <a16:creationId xmlns:a16="http://schemas.microsoft.com/office/drawing/2014/main" id="{947EA1DE-9F3D-6A1F-ADC1-C7FDEEA97E7F}"/>
              </a:ext>
            </a:extLst>
          </p:cNvPr>
          <p:cNvGrpSpPr/>
          <p:nvPr/>
        </p:nvGrpSpPr>
        <p:grpSpPr>
          <a:xfrm>
            <a:off x="812800" y="4024518"/>
            <a:ext cx="6268396" cy="1920218"/>
            <a:chOff x="5535168" y="3423612"/>
            <a:chExt cx="6268396" cy="1920218"/>
          </a:xfrm>
        </p:grpSpPr>
        <p:sp>
          <p:nvSpPr>
            <p:cNvPr id="29" name="Shape 4">
              <a:extLst>
                <a:ext uri="{FF2B5EF4-FFF2-40B4-BE49-F238E27FC236}">
                  <a16:creationId xmlns:a16="http://schemas.microsoft.com/office/drawing/2014/main" id="{C3A85E29-9DE8-CE6B-DD24-84D1E3A753F3}"/>
                </a:ext>
              </a:extLst>
            </p:cNvPr>
            <p:cNvSpPr/>
            <p:nvPr/>
          </p:nvSpPr>
          <p:spPr>
            <a:xfrm>
              <a:off x="5535168" y="3423612"/>
              <a:ext cx="5589867" cy="1920218"/>
            </a:xfrm>
            <a:prstGeom prst="roundRect">
              <a:avLst>
                <a:gd name="adj" fmla="val 6972"/>
              </a:avLst>
            </a:prstGeom>
            <a:solidFill>
              <a:srgbClr val="FCFBF8"/>
            </a:solidFill>
            <a:ln/>
          </p:spPr>
          <p:txBody>
            <a:bodyPr/>
            <a:lstStyle/>
            <a:p>
              <a:endParaRPr lang="es-CO" noProof="0" dirty="0"/>
            </a:p>
          </p:txBody>
        </p:sp>
        <p:sp>
          <p:nvSpPr>
            <p:cNvPr id="36" name="Text 2">
              <a:extLst>
                <a:ext uri="{FF2B5EF4-FFF2-40B4-BE49-F238E27FC236}">
                  <a16:creationId xmlns:a16="http://schemas.microsoft.com/office/drawing/2014/main" id="{8AEB1585-B324-6603-0FEE-493BE6CB4BDB}"/>
                </a:ext>
              </a:extLst>
            </p:cNvPr>
            <p:cNvSpPr/>
            <p:nvPr/>
          </p:nvSpPr>
          <p:spPr>
            <a:xfrm>
              <a:off x="5812485" y="3765735"/>
              <a:ext cx="4624089" cy="1277541"/>
            </a:xfrm>
            <a:prstGeom prst="rect">
              <a:avLst/>
            </a:prstGeom>
            <a:noFill/>
            <a:ln/>
          </p:spPr>
          <p:txBody>
            <a:bodyPr wrap="square" lIns="0" tIns="0" rIns="0" bIns="0" rtlCol="0" anchor="t">
              <a:normAutofit/>
            </a:bodyPr>
            <a:lstStyle/>
            <a:p>
              <a:pPr marL="0" indent="0" algn="l">
                <a:lnSpc>
                  <a:spcPts val="2465"/>
                </a:lnSpc>
                <a:buNone/>
              </a:pPr>
              <a:r>
                <a:rPr lang="es-CO" dirty="0">
                  <a:solidFill>
                    <a:srgbClr val="1C2142"/>
                  </a:solidFill>
                  <a:latin typeface="Nunito Sans" pitchFamily="34" charset="0"/>
                </a:rPr>
                <a:t>El ejecutivo </a:t>
              </a:r>
              <a:r>
                <a:rPr lang="es-CO" b="1" dirty="0">
                  <a:solidFill>
                    <a:srgbClr val="1C2142"/>
                  </a:solidFill>
                  <a:latin typeface="Nunito Sans" pitchFamily="34" charset="0"/>
                </a:rPr>
                <a:t>sospechó</a:t>
              </a:r>
              <a:r>
                <a:rPr lang="es-CO" dirty="0">
                  <a:solidFill>
                    <a:srgbClr val="1C2142"/>
                  </a:solidFill>
                  <a:latin typeface="Nunito Sans" pitchFamily="34" charset="0"/>
                </a:rPr>
                <a:t> de la llamada y de la petición inusual del “</a:t>
              </a:r>
              <a:r>
                <a:rPr lang="es-CO" b="1" dirty="0">
                  <a:solidFill>
                    <a:srgbClr val="1C2142"/>
                  </a:solidFill>
                  <a:latin typeface="Nunito Sans" pitchFamily="34" charset="0"/>
                </a:rPr>
                <a:t>CEO</a:t>
              </a:r>
              <a:r>
                <a:rPr lang="es-CO" dirty="0">
                  <a:solidFill>
                    <a:srgbClr val="1C2142"/>
                  </a:solidFill>
                  <a:latin typeface="Nunito Sans" pitchFamily="34" charset="0"/>
                </a:rPr>
                <a:t>”, lo que lo llevó a preguntarle por el </a:t>
              </a:r>
              <a:r>
                <a:rPr lang="es-CO" b="1" dirty="0">
                  <a:solidFill>
                    <a:srgbClr val="1C2142"/>
                  </a:solidFill>
                  <a:latin typeface="Nunito Sans" pitchFamily="34" charset="0"/>
                </a:rPr>
                <a:t>libro</a:t>
              </a:r>
              <a:r>
                <a:rPr lang="es-CO" dirty="0">
                  <a:solidFill>
                    <a:srgbClr val="1C2142"/>
                  </a:solidFill>
                  <a:latin typeface="Nunito Sans" pitchFamily="34" charset="0"/>
                </a:rPr>
                <a:t> que hace poco le había recomendado </a:t>
              </a:r>
              <a:r>
                <a:rPr lang="es-CO" b="1" dirty="0">
                  <a:solidFill>
                    <a:srgbClr val="1C2142"/>
                  </a:solidFill>
                  <a:latin typeface="Nunito Sans" pitchFamily="34" charset="0"/>
                </a:rPr>
                <a:t>personalmente</a:t>
              </a:r>
              <a:r>
                <a:rPr lang="es-CO" dirty="0">
                  <a:solidFill>
                    <a:srgbClr val="1C2142"/>
                  </a:solidFill>
                  <a:latin typeface="Nunito Sans" pitchFamily="34" charset="0"/>
                </a:rPr>
                <a:t>.</a:t>
              </a:r>
            </a:p>
          </p:txBody>
        </p:sp>
        <p:pic>
          <p:nvPicPr>
            <p:cNvPr id="44" name="Picture 43">
              <a:extLst>
                <a:ext uri="{FF2B5EF4-FFF2-40B4-BE49-F238E27FC236}">
                  <a16:creationId xmlns:a16="http://schemas.microsoft.com/office/drawing/2014/main" id="{F7C02683-1E0B-4D8B-3623-B131735AFB0E}"/>
                </a:ext>
              </a:extLst>
            </p:cNvPr>
            <p:cNvPicPr>
              <a:picLocks noChangeAspect="1"/>
            </p:cNvPicPr>
            <p:nvPr/>
          </p:nvPicPr>
          <p:blipFill>
            <a:blip r:embed="rId7"/>
            <a:stretch>
              <a:fillRect/>
            </a:stretch>
          </p:blipFill>
          <p:spPr>
            <a:xfrm>
              <a:off x="10526023" y="3812717"/>
              <a:ext cx="1277541" cy="1277541"/>
            </a:xfrm>
            <a:prstGeom prst="rect">
              <a:avLst/>
            </a:prstGeom>
          </p:spPr>
        </p:pic>
      </p:grpSp>
      <p:grpSp>
        <p:nvGrpSpPr>
          <p:cNvPr id="48" name="Group 47">
            <a:extLst>
              <a:ext uri="{FF2B5EF4-FFF2-40B4-BE49-F238E27FC236}">
                <a16:creationId xmlns:a16="http://schemas.microsoft.com/office/drawing/2014/main" id="{32F1F9CC-297E-7D7E-8D54-0FB852B972FE}"/>
              </a:ext>
            </a:extLst>
          </p:cNvPr>
          <p:cNvGrpSpPr/>
          <p:nvPr/>
        </p:nvGrpSpPr>
        <p:grpSpPr>
          <a:xfrm>
            <a:off x="5317733" y="1858067"/>
            <a:ext cx="6155949" cy="2023579"/>
            <a:chOff x="5942161" y="896001"/>
            <a:chExt cx="6155949" cy="2023579"/>
          </a:xfrm>
        </p:grpSpPr>
        <p:grpSp>
          <p:nvGrpSpPr>
            <p:cNvPr id="27" name="Group 26">
              <a:extLst>
                <a:ext uri="{FF2B5EF4-FFF2-40B4-BE49-F238E27FC236}">
                  <a16:creationId xmlns:a16="http://schemas.microsoft.com/office/drawing/2014/main" id="{F95DCA90-5A95-5BB2-831D-D132B5F562DA}"/>
                </a:ext>
              </a:extLst>
            </p:cNvPr>
            <p:cNvGrpSpPr/>
            <p:nvPr/>
          </p:nvGrpSpPr>
          <p:grpSpPr>
            <a:xfrm>
              <a:off x="5942161" y="896001"/>
              <a:ext cx="5991079" cy="2023579"/>
              <a:chOff x="6162040" y="2785739"/>
              <a:chExt cx="5991079" cy="2023579"/>
            </a:xfrm>
          </p:grpSpPr>
          <p:sp>
            <p:nvSpPr>
              <p:cNvPr id="6" name="Shape 4">
                <a:extLst>
                  <a:ext uri="{FF2B5EF4-FFF2-40B4-BE49-F238E27FC236}">
                    <a16:creationId xmlns:a16="http://schemas.microsoft.com/office/drawing/2014/main" id="{493858E8-E889-1CB4-3868-0468156B511E}"/>
                  </a:ext>
                </a:extLst>
              </p:cNvPr>
              <p:cNvSpPr/>
              <p:nvPr/>
            </p:nvSpPr>
            <p:spPr>
              <a:xfrm>
                <a:off x="6162040" y="2785739"/>
                <a:ext cx="5844032" cy="2023579"/>
              </a:xfrm>
              <a:prstGeom prst="roundRect">
                <a:avLst>
                  <a:gd name="adj" fmla="val 6972"/>
                </a:avLst>
              </a:prstGeom>
              <a:solidFill>
                <a:srgbClr val="FCFBF8"/>
              </a:solidFill>
              <a:ln/>
            </p:spPr>
            <p:txBody>
              <a:bodyPr/>
              <a:lstStyle/>
              <a:p>
                <a:endParaRPr lang="es-CO" noProof="0" dirty="0"/>
              </a:p>
            </p:txBody>
          </p:sp>
          <p:sp>
            <p:nvSpPr>
              <p:cNvPr id="4" name="Text 2">
                <a:extLst>
                  <a:ext uri="{FF2B5EF4-FFF2-40B4-BE49-F238E27FC236}">
                    <a16:creationId xmlns:a16="http://schemas.microsoft.com/office/drawing/2014/main" id="{81968C44-6E76-5753-832E-BFD0F9DB449F}"/>
                  </a:ext>
                </a:extLst>
              </p:cNvPr>
              <p:cNvSpPr/>
              <p:nvPr/>
            </p:nvSpPr>
            <p:spPr>
              <a:xfrm>
                <a:off x="6446012" y="3328388"/>
                <a:ext cx="4270756" cy="1277541"/>
              </a:xfrm>
              <a:prstGeom prst="rect">
                <a:avLst/>
              </a:prstGeom>
              <a:noFill/>
              <a:ln/>
            </p:spPr>
            <p:txBody>
              <a:bodyPr wrap="square" lIns="0" tIns="0" rIns="0" bIns="0" rtlCol="0" anchor="t">
                <a:normAutofit fontScale="85000" lnSpcReduction="10000"/>
              </a:bodyPr>
              <a:lstStyle/>
              <a:p>
                <a:pPr marL="0" indent="0" algn="l">
                  <a:lnSpc>
                    <a:spcPts val="2465"/>
                  </a:lnSpc>
                  <a:buNone/>
                </a:pPr>
                <a:r>
                  <a:rPr lang="es-CO" sz="2000" dirty="0">
                    <a:solidFill>
                      <a:srgbClr val="1C2142"/>
                    </a:solidFill>
                    <a:latin typeface="Nunito Sans" pitchFamily="34" charset="0"/>
                  </a:rPr>
                  <a:t>Un ejecutivo de </a:t>
                </a:r>
                <a:r>
                  <a:rPr lang="es-CO" sz="2000" b="1" dirty="0">
                    <a:solidFill>
                      <a:srgbClr val="1C2142"/>
                    </a:solidFill>
                    <a:latin typeface="Nunito Sans" pitchFamily="34" charset="0"/>
                  </a:rPr>
                  <a:t>Ferrari</a:t>
                </a:r>
                <a:r>
                  <a:rPr lang="es-CO" sz="2000" dirty="0">
                    <a:solidFill>
                      <a:srgbClr val="1C2142"/>
                    </a:solidFill>
                    <a:latin typeface="Nunito Sans" pitchFamily="34" charset="0"/>
                  </a:rPr>
                  <a:t> mensajea y luego recibe una llamada del </a:t>
                </a:r>
                <a:r>
                  <a:rPr lang="es-CO" sz="2000" b="1" dirty="0">
                    <a:solidFill>
                      <a:srgbClr val="1C2142"/>
                    </a:solidFill>
                    <a:latin typeface="Nunito Sans" pitchFamily="34" charset="0"/>
                  </a:rPr>
                  <a:t>“CEO” </a:t>
                </a:r>
                <a:r>
                  <a:rPr lang="es-CO" sz="2000" dirty="0">
                    <a:solidFill>
                      <a:srgbClr val="1C2142"/>
                    </a:solidFill>
                    <a:latin typeface="Nunito Sans" pitchFamily="34" charset="0"/>
                  </a:rPr>
                  <a:t>con el acento perfecto. Le pide apoyo </a:t>
                </a:r>
                <a:r>
                  <a:rPr lang="es-CO" sz="2000" b="1" dirty="0">
                    <a:solidFill>
                      <a:srgbClr val="1C2142"/>
                    </a:solidFill>
                    <a:latin typeface="Nunito Sans" pitchFamily="34" charset="0"/>
                  </a:rPr>
                  <a:t>urgente</a:t>
                </a:r>
                <a:r>
                  <a:rPr lang="es-CO" sz="2000" dirty="0">
                    <a:solidFill>
                      <a:srgbClr val="1C2142"/>
                    </a:solidFill>
                    <a:latin typeface="Nunito Sans" pitchFamily="34" charset="0"/>
                  </a:rPr>
                  <a:t> en una transacción confidencial.</a:t>
                </a:r>
              </a:p>
            </p:txBody>
          </p:sp>
          <p:pic>
            <p:nvPicPr>
              <p:cNvPr id="7" name="Image 0" descr="Chat">
                <a:extLst>
                  <a:ext uri="{FF2B5EF4-FFF2-40B4-BE49-F238E27FC236}">
                    <a16:creationId xmlns:a16="http://schemas.microsoft.com/office/drawing/2014/main" id="{B1BC419E-CFBC-8FE5-0243-43BE447F7B52}"/>
                  </a:ext>
                </a:extLst>
              </p:cNvPr>
              <p:cNvPicPr>
                <a:picLocks noChangeAspect="1"/>
              </p:cNvPicPr>
              <p:nvPr/>
            </p:nvPicPr>
            <p:blipFill>
              <a:blip r:embed="rId8"/>
              <a:srcRect/>
              <a:stretch/>
            </p:blipFill>
            <p:spPr>
              <a:xfrm>
                <a:off x="8880856" y="2840385"/>
                <a:ext cx="406400" cy="406400"/>
              </a:xfrm>
              <a:prstGeom prst="rect">
                <a:avLst/>
              </a:prstGeom>
            </p:spPr>
          </p:pic>
          <p:grpSp>
            <p:nvGrpSpPr>
              <p:cNvPr id="26" name="Group 25">
                <a:extLst>
                  <a:ext uri="{FF2B5EF4-FFF2-40B4-BE49-F238E27FC236}">
                    <a16:creationId xmlns:a16="http://schemas.microsoft.com/office/drawing/2014/main" id="{6EBEC4CC-388E-3A14-1EAF-DA97975800C4}"/>
                  </a:ext>
                </a:extLst>
              </p:cNvPr>
              <p:cNvGrpSpPr/>
              <p:nvPr/>
            </p:nvGrpSpPr>
            <p:grpSpPr>
              <a:xfrm>
                <a:off x="10786129" y="3071520"/>
                <a:ext cx="1366990" cy="1686997"/>
                <a:chOff x="6007620" y="4605929"/>
                <a:chExt cx="1366990" cy="1686997"/>
              </a:xfrm>
            </p:grpSpPr>
            <p:pic>
              <p:nvPicPr>
                <p:cNvPr id="23" name="Picture 22" descr="Benedetto Vigna, CEO Ferrari">
                  <a:extLst>
                    <a:ext uri="{FF2B5EF4-FFF2-40B4-BE49-F238E27FC236}">
                      <a16:creationId xmlns:a16="http://schemas.microsoft.com/office/drawing/2014/main" id="{DBF2C860-FADE-D255-F3CF-60BEB65764DE}"/>
                    </a:ext>
                  </a:extLst>
                </p:cNvPr>
                <p:cNvPicPr>
                  <a:picLocks noChangeAspect="1"/>
                </p:cNvPicPr>
                <p:nvPr/>
              </p:nvPicPr>
              <p:blipFill>
                <a:blip r:embed="rId9"/>
                <a:srcRect l="20342" r="18442"/>
                <a:stretch>
                  <a:fillRect/>
                </a:stretch>
              </p:blipFill>
              <p:spPr>
                <a:xfrm>
                  <a:off x="6007620" y="4605929"/>
                  <a:ext cx="1366990" cy="1256110"/>
                </a:xfrm>
                <a:prstGeom prst="rect">
                  <a:avLst/>
                </a:prstGeom>
              </p:spPr>
            </p:pic>
            <p:sp>
              <p:nvSpPr>
                <p:cNvPr id="25" name="TextBox 24">
                  <a:extLst>
                    <a:ext uri="{FF2B5EF4-FFF2-40B4-BE49-F238E27FC236}">
                      <a16:creationId xmlns:a16="http://schemas.microsoft.com/office/drawing/2014/main" id="{2F45667D-8BF4-EA97-4A7A-F16B9170E605}"/>
                    </a:ext>
                  </a:extLst>
                </p:cNvPr>
                <p:cNvSpPr txBox="1"/>
                <p:nvPr/>
              </p:nvSpPr>
              <p:spPr>
                <a:xfrm>
                  <a:off x="6007620" y="5862039"/>
                  <a:ext cx="1366990" cy="430887"/>
                </a:xfrm>
                <a:prstGeom prst="rect">
                  <a:avLst/>
                </a:prstGeom>
                <a:noFill/>
              </p:spPr>
              <p:txBody>
                <a:bodyPr wrap="square">
                  <a:spAutoFit/>
                </a:bodyPr>
                <a:lstStyle/>
                <a:p>
                  <a:pPr algn="ctr"/>
                  <a:r>
                    <a:rPr lang="en-US" sz="1100" dirty="0"/>
                    <a:t>Benedetto Vigna</a:t>
                  </a:r>
                </a:p>
                <a:p>
                  <a:pPr algn="ctr"/>
                  <a:r>
                    <a:rPr lang="en-US" sz="1100" dirty="0"/>
                    <a:t>CEO Ferrari</a:t>
                  </a:r>
                </a:p>
              </p:txBody>
            </p:sp>
          </p:grpSp>
        </p:grpSp>
        <p:pic>
          <p:nvPicPr>
            <p:cNvPr id="13" name="Picture 12">
              <a:extLst>
                <a:ext uri="{FF2B5EF4-FFF2-40B4-BE49-F238E27FC236}">
                  <a16:creationId xmlns:a16="http://schemas.microsoft.com/office/drawing/2014/main" id="{393B8717-E1DA-004D-7255-811840E401F0}"/>
                </a:ext>
              </a:extLst>
            </p:cNvPr>
            <p:cNvPicPr>
              <a:picLocks noChangeAspect="1"/>
            </p:cNvPicPr>
            <p:nvPr/>
          </p:nvPicPr>
          <p:blipFill>
            <a:blip r:embed="rId10"/>
            <a:srcRect/>
            <a:stretch>
              <a:fillRect/>
            </a:stretch>
          </p:blipFill>
          <p:spPr>
            <a:xfrm>
              <a:off x="11526678" y="1186103"/>
              <a:ext cx="571432" cy="683179"/>
            </a:xfrm>
            <a:prstGeom prst="rect">
              <a:avLst/>
            </a:prstGeom>
          </p:spPr>
        </p:pic>
      </p:grpSp>
      <p:sp>
        <p:nvSpPr>
          <p:cNvPr id="53" name="TextBox 52">
            <a:extLst>
              <a:ext uri="{FF2B5EF4-FFF2-40B4-BE49-F238E27FC236}">
                <a16:creationId xmlns:a16="http://schemas.microsoft.com/office/drawing/2014/main" id="{A362AEC1-7E8D-E361-3ACD-D87FDBDEBA75}"/>
              </a:ext>
            </a:extLst>
          </p:cNvPr>
          <p:cNvSpPr txBox="1"/>
          <p:nvPr/>
        </p:nvSpPr>
        <p:spPr>
          <a:xfrm>
            <a:off x="3444846" y="6066259"/>
            <a:ext cx="6093500" cy="261610"/>
          </a:xfrm>
          <a:prstGeom prst="rect">
            <a:avLst/>
          </a:prstGeom>
          <a:noFill/>
        </p:spPr>
        <p:txBody>
          <a:bodyPr wrap="square">
            <a:spAutoFit/>
          </a:bodyPr>
          <a:lstStyle/>
          <a:p>
            <a:r>
              <a:rPr lang="en-US" sz="1100" dirty="0">
                <a:solidFill>
                  <a:schemeClr val="accent5">
                    <a:lumMod val="60000"/>
                    <a:lumOff val="40000"/>
                  </a:schemeClr>
                </a:solidFill>
                <a:hlinkClick r:id="rId11">
                  <a:extLst>
                    <a:ext uri="{A12FA001-AC4F-418D-AE19-62706E023703}">
                      <ahyp:hlinkClr xmlns:ahyp="http://schemas.microsoft.com/office/drawing/2018/hyperlinkcolor" val="tx"/>
                    </a:ext>
                  </a:extLst>
                </a:hlinkClick>
              </a:rPr>
              <a:t>https://inspiredelearning.com/blog/ferrari-deepfake-attack-foiled-with-simple-question/</a:t>
            </a:r>
            <a:endParaRPr lang="en-US" sz="1100" dirty="0">
              <a:solidFill>
                <a:schemeClr val="accent5">
                  <a:lumMod val="60000"/>
                  <a:lumOff val="40000"/>
                </a:schemeClr>
              </a:solidFill>
            </a:endParaRPr>
          </a:p>
        </p:txBody>
      </p:sp>
    </p:spTree>
    <p:extLst>
      <p:ext uri="{BB962C8B-B14F-4D97-AF65-F5344CB8AC3E}">
        <p14:creationId xmlns:p14="http://schemas.microsoft.com/office/powerpoint/2010/main" val="30368571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2E3A9E"/>
        </a:solidFill>
        <a:effectLst/>
      </p:bgPr>
    </p:bg>
    <p:spTree>
      <p:nvGrpSpPr>
        <p:cNvPr id="1" name=""/>
        <p:cNvGrpSpPr/>
        <p:nvPr/>
      </p:nvGrpSpPr>
      <p:grpSpPr>
        <a:xfrm>
          <a:off x="0" y="0"/>
          <a:ext cx="0" cy="0"/>
          <a:chOff x="0" y="0"/>
          <a:chExt cx="0" cy="0"/>
        </a:xfrm>
      </p:grpSpPr>
      <p:sp>
        <p:nvSpPr>
          <p:cNvPr id="3" name="Text 1"/>
          <p:cNvSpPr>
            <a:spLocks noGrp="1"/>
          </p:cNvSpPr>
          <p:nvPr>
            <p:ph type="title"/>
          </p:nvPr>
        </p:nvSpPr>
        <p:spPr>
          <a:xfrm>
            <a:off x="812800" y="2192040"/>
            <a:ext cx="10137775" cy="2036961"/>
          </a:xfrm>
          <a:prstGeom prst="rect">
            <a:avLst/>
          </a:prstGeom>
          <a:noFill/>
          <a:ln/>
        </p:spPr>
        <p:txBody>
          <a:bodyPr wrap="square" lIns="0" tIns="0" rIns="0" bIns="0" rtlCol="0" anchor="t">
            <a:normAutofit/>
          </a:bodyPr>
          <a:lstStyle/>
          <a:p>
            <a:pPr marL="0" indent="0" algn="l">
              <a:lnSpc>
                <a:spcPts val="5280"/>
              </a:lnSpc>
              <a:buNone/>
            </a:pPr>
            <a:r>
              <a:rPr lang="es-CO" sz="4800" b="0" i="0" noProof="0" dirty="0">
                <a:solidFill>
                  <a:srgbClr val="F6F5F1"/>
                </a:solidFill>
                <a:latin typeface="Fraunces" pitchFamily="18" charset="0"/>
                <a:ea typeface="Fraunces" pitchFamily="18" charset="-122"/>
                <a:cs typeface="Fraunces" pitchFamily="18" charset="-120"/>
              </a:rPr>
              <a:t>Las estafas funcionan porque te inducen al pánico inmediato.</a:t>
            </a:r>
            <a:endParaRPr lang="es-CO" sz="4800" noProof="0" dirty="0"/>
          </a:p>
        </p:txBody>
      </p:sp>
      <p:sp>
        <p:nvSpPr>
          <p:cNvPr id="4" name="Text 2"/>
          <p:cNvSpPr/>
          <p:nvPr/>
        </p:nvSpPr>
        <p:spPr>
          <a:xfrm>
            <a:off x="812800" y="4559201"/>
            <a:ext cx="9156700" cy="736600"/>
          </a:xfrm>
          <a:prstGeom prst="rect">
            <a:avLst/>
          </a:prstGeom>
          <a:noFill/>
          <a:ln/>
        </p:spPr>
        <p:txBody>
          <a:bodyPr wrap="square" lIns="0" tIns="0" rIns="0" bIns="0" rtlCol="0" anchor="t">
            <a:normAutofit/>
          </a:bodyPr>
          <a:lstStyle/>
          <a:p>
            <a:pPr marL="0" indent="0" algn="l">
              <a:lnSpc>
                <a:spcPts val="2800"/>
              </a:lnSpc>
              <a:buNone/>
            </a:pPr>
            <a:r>
              <a:rPr lang="es-CO" sz="2000" dirty="0">
                <a:solidFill>
                  <a:srgbClr val="DCE0F5"/>
                </a:solidFill>
                <a:latin typeface="Nunito Sans" pitchFamily="34" charset="0"/>
                <a:ea typeface="Nunito Sans" pitchFamily="34" charset="-122"/>
                <a:cs typeface="Nunito Sans" pitchFamily="34" charset="-120"/>
              </a:rPr>
              <a:t>Toma un momento para pausar y juzgar la situación</a:t>
            </a:r>
            <a:r>
              <a:rPr lang="es-CO" sz="2000" noProof="0" dirty="0">
                <a:solidFill>
                  <a:srgbClr val="DCE0F5"/>
                </a:solidFill>
                <a:latin typeface="Nunito Sans" pitchFamily="34" charset="0"/>
                <a:ea typeface="Nunito Sans" pitchFamily="34" charset="-122"/>
                <a:cs typeface="Nunito Sans" pitchFamily="34" charset="-120"/>
              </a:rPr>
              <a:t>. </a:t>
            </a:r>
            <a:r>
              <a:rPr lang="es-CO" sz="2000" dirty="0">
                <a:solidFill>
                  <a:srgbClr val="DCE0F5"/>
                </a:solidFill>
                <a:latin typeface="Nunito Sans" pitchFamily="34" charset="0"/>
                <a:ea typeface="Nunito Sans" pitchFamily="34" charset="-122"/>
                <a:cs typeface="Nunito Sans" pitchFamily="34" charset="-120"/>
              </a:rPr>
              <a:t>Es mejor tardar un poco más pero estar más seguro.</a:t>
            </a:r>
            <a:endParaRPr lang="es-CO" sz="20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255000" y="0"/>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02</a:t>
            </a:r>
            <a:endParaRPr lang="es-CO" sz="9000" noProof="0" dirty="0"/>
          </a:p>
        </p:txBody>
      </p:sp>
      <p:sp>
        <p:nvSpPr>
          <p:cNvPr id="4" name="Text 2"/>
          <p:cNvSpPr>
            <a:spLocks noGrp="1"/>
          </p:cNvSpPr>
          <p:nvPr>
            <p:ph type="title"/>
          </p:nvPr>
        </p:nvSpPr>
        <p:spPr>
          <a:xfrm>
            <a:off x="812800" y="4876801"/>
            <a:ext cx="8502650" cy="777082"/>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Tres hábitos útiles.</a:t>
            </a:r>
            <a:endParaRPr lang="es-CO" sz="5200" noProof="0" dirty="0"/>
          </a:p>
        </p:txBody>
      </p:sp>
      <p:sp>
        <p:nvSpPr>
          <p:cNvPr id="5" name="Text 3"/>
          <p:cNvSpPr/>
          <p:nvPr/>
        </p:nvSpPr>
        <p:spPr>
          <a:xfrm>
            <a:off x="812800" y="5689600"/>
            <a:ext cx="8502650" cy="3810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C7CCE8"/>
                </a:solidFill>
                <a:latin typeface="Nunito Sans" pitchFamily="34" charset="0"/>
                <a:ea typeface="Nunito Sans" pitchFamily="34" charset="-122"/>
                <a:cs typeface="Nunito Sans" pitchFamily="34" charset="-120"/>
              </a:rPr>
              <a:t>Rutinas simples que te ayudan a reducir la carga mental en tu día a día.</a:t>
            </a:r>
            <a:endParaRPr lang="es-CO" sz="20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02: TRES HÁBITOS ÚTILES.</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Un gestor de contraseñas recuerda por ti.</a:t>
            </a:r>
            <a:endParaRPr lang="es-CO" sz="3600" noProof="0" dirty="0"/>
          </a:p>
        </p:txBody>
      </p:sp>
      <p:sp>
        <p:nvSpPr>
          <p:cNvPr id="6" name="Text 4"/>
          <p:cNvSpPr/>
          <p:nvPr/>
        </p:nvSpPr>
        <p:spPr>
          <a:xfrm>
            <a:off x="980821" y="2137869"/>
            <a:ext cx="4851401" cy="2458938"/>
          </a:xfrm>
          <a:prstGeom prst="rect">
            <a:avLst/>
          </a:prstGeom>
          <a:noFill/>
          <a:ln/>
        </p:spPr>
        <p:txBody>
          <a:bodyPr wrap="square" lIns="0" tIns="0" rIns="0" bIns="0" rtlCol="0" anchor="t">
            <a:normAutofit/>
          </a:bodyPr>
          <a:lstStyle/>
          <a:p>
            <a:pPr>
              <a:lnSpc>
                <a:spcPts val="2320"/>
              </a:lnSpc>
            </a:pPr>
            <a:r>
              <a:rPr lang="es-CO" sz="1600" dirty="0">
                <a:solidFill>
                  <a:srgbClr val="1C2142"/>
                </a:solidFill>
                <a:latin typeface="Nunito Sans" pitchFamily="34" charset="0"/>
              </a:rPr>
              <a:t>Recordar muchas contraseñas es tedioso y para evitarlo recurrimos a prácticas poco recomendables como: </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Utilizar la misma contraseña para todo.</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Construir contraseñas con fechas, nombres u otros datos personales.</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Hacer contraseñas cortas.</a:t>
            </a:r>
          </a:p>
          <a:p>
            <a:pPr marL="285750" indent="-285750" algn="l">
              <a:lnSpc>
                <a:spcPts val="2320"/>
              </a:lnSpc>
              <a:buFont typeface="Wingdings" panose="05000000000000000000" pitchFamily="2" charset="2"/>
              <a:buChar char="§"/>
            </a:pPr>
            <a:endParaRPr lang="es-CO" sz="1600" dirty="0">
              <a:solidFill>
                <a:srgbClr val="4A5070"/>
              </a:solidFill>
              <a:latin typeface="Nunito Sans" pitchFamily="34" charset="0"/>
            </a:endParaRPr>
          </a:p>
          <a:p>
            <a:pPr marL="285750" indent="-285750" algn="l">
              <a:lnSpc>
                <a:spcPts val="2320"/>
              </a:lnSpc>
              <a:buFont typeface="Wingdings" panose="05000000000000000000" pitchFamily="2" charset="2"/>
              <a:buChar char="§"/>
            </a:pPr>
            <a:endParaRPr lang="es-CO" sz="1600" noProof="0" dirty="0"/>
          </a:p>
        </p:txBody>
      </p:sp>
      <p:sp>
        <p:nvSpPr>
          <p:cNvPr id="7" name="Shape 5"/>
          <p:cNvSpPr/>
          <p:nvPr/>
        </p:nvSpPr>
        <p:spPr>
          <a:xfrm>
            <a:off x="6359780" y="2137869"/>
            <a:ext cx="5485892" cy="2808886"/>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521140"/>
            <a:ext cx="5330572" cy="2425615"/>
          </a:xfrm>
          <a:prstGeom prst="rect">
            <a:avLst/>
          </a:prstGeom>
          <a:noFill/>
          <a:ln/>
        </p:spPr>
        <p:txBody>
          <a:bodyPr wrap="square" lIns="0" tIns="0" rIns="0" bIns="0" rtlCol="0" anchor="t">
            <a:normAutofit/>
          </a:bodyPr>
          <a:lstStyle/>
          <a:p>
            <a:pPr marL="0" indent="0" algn="l">
              <a:lnSpc>
                <a:spcPts val="2320"/>
              </a:lnSpc>
              <a:buNone/>
            </a:pPr>
            <a:r>
              <a:rPr lang="es-CO" sz="1600" b="1" noProof="0" dirty="0">
                <a:solidFill>
                  <a:srgbClr val="1C2142"/>
                </a:solidFill>
                <a:latin typeface="Nunito Sans" pitchFamily="34" charset="0"/>
              </a:rPr>
              <a:t>Gestor de contraseñas: </a:t>
            </a:r>
            <a:r>
              <a:rPr lang="es-CO" sz="1600" noProof="0" dirty="0">
                <a:solidFill>
                  <a:srgbClr val="1C2142"/>
                </a:solidFill>
                <a:latin typeface="Nunito Sans" pitchFamily="34" charset="0"/>
              </a:rPr>
              <a:t>Sistema que guarda y administra contraseñas.</a:t>
            </a:r>
          </a:p>
          <a:p>
            <a:pPr marL="0" indent="0" algn="l">
              <a:lnSpc>
                <a:spcPts val="2320"/>
              </a:lnSpc>
              <a:buNone/>
            </a:pPr>
            <a:endParaRPr lang="es-CO" sz="1600" dirty="0">
              <a:solidFill>
                <a:srgbClr val="1C2142"/>
              </a:solidFill>
              <a:latin typeface="Nunito Sans" pitchFamily="34" charset="0"/>
            </a:endParaRPr>
          </a:p>
          <a:p>
            <a:pPr marL="0" indent="0" algn="l">
              <a:lnSpc>
                <a:spcPts val="2320"/>
              </a:lnSpc>
              <a:buNone/>
            </a:pPr>
            <a:r>
              <a:rPr lang="es-CO" sz="1600" noProof="0" dirty="0">
                <a:solidFill>
                  <a:srgbClr val="1C2142"/>
                </a:solidFill>
                <a:latin typeface="Nunito Sans" pitchFamily="34" charset="0"/>
              </a:rPr>
              <a:t>Funcionalidades:</a:t>
            </a:r>
          </a:p>
          <a:p>
            <a:pPr marL="285750" indent="-285750" algn="l">
              <a:lnSpc>
                <a:spcPts val="2320"/>
              </a:lnSpc>
              <a:buFont typeface="Wingdings" panose="05000000000000000000" pitchFamily="2" charset="2"/>
              <a:buChar char="§"/>
            </a:pPr>
            <a:r>
              <a:rPr lang="es-CO" sz="1600" dirty="0">
                <a:solidFill>
                  <a:srgbClr val="1C2142"/>
                </a:solidFill>
                <a:latin typeface="Nunito Sans" pitchFamily="34" charset="0"/>
              </a:rPr>
              <a:t>Generar contraseñas aleatorias de cualquier tamaño.</a:t>
            </a:r>
          </a:p>
          <a:p>
            <a:pPr marL="285750" indent="-285750" algn="l">
              <a:lnSpc>
                <a:spcPts val="2320"/>
              </a:lnSpc>
              <a:buFont typeface="Wingdings" panose="05000000000000000000" pitchFamily="2" charset="2"/>
              <a:buChar char="§"/>
            </a:pPr>
            <a:r>
              <a:rPr lang="es-CO" sz="1600" dirty="0">
                <a:solidFill>
                  <a:srgbClr val="1C2142"/>
                </a:solidFill>
                <a:latin typeface="Nunito Sans" pitchFamily="34" charset="0"/>
              </a:rPr>
              <a:t>Rellenar los espacios en las páginas web donde requerimos usar una contraseña.</a:t>
            </a:r>
          </a:p>
          <a:p>
            <a:pPr marL="285750" indent="-285750" algn="l">
              <a:lnSpc>
                <a:spcPts val="2320"/>
              </a:lnSpc>
              <a:buFont typeface="Wingdings" panose="05000000000000000000" pitchFamily="2" charset="2"/>
              <a:buChar char="§"/>
            </a:pPr>
            <a:r>
              <a:rPr lang="es-CO" sz="1600" dirty="0">
                <a:solidFill>
                  <a:srgbClr val="1C2142"/>
                </a:solidFill>
                <a:latin typeface="Nunito Sans" pitchFamily="34" charset="0"/>
              </a:rPr>
              <a:t>Se accede al gestor una contraseña maestra.</a:t>
            </a:r>
          </a:p>
          <a:p>
            <a:pPr marL="285750" indent="-285750" algn="l">
              <a:lnSpc>
                <a:spcPts val="2320"/>
              </a:lnSpc>
              <a:buFont typeface="Wingdings" panose="05000000000000000000" pitchFamily="2" charset="2"/>
              <a:buChar char="§"/>
            </a:pPr>
            <a:endParaRPr lang="es-CO" sz="1600" noProof="0" dirty="0">
              <a:solidFill>
                <a:srgbClr val="1C2142"/>
              </a:solidFill>
              <a:latin typeface="Nunito Sans" pitchFamily="34" charset="0"/>
            </a:endParaRPr>
          </a:p>
          <a:p>
            <a:pPr marL="0" indent="0" algn="l">
              <a:lnSpc>
                <a:spcPts val="2320"/>
              </a:lnSpc>
              <a:buNone/>
            </a:pPr>
            <a:endParaRPr lang="es-CO" sz="1600" noProof="0" dirty="0">
              <a:solidFill>
                <a:srgbClr val="1C2142"/>
              </a:solidFill>
              <a:latin typeface="Nunito Sans" pitchFamily="34" charset="0"/>
            </a:endParaRPr>
          </a:p>
        </p:txBody>
      </p:sp>
      <p:sp>
        <p:nvSpPr>
          <p:cNvPr id="10" name="Text 8"/>
          <p:cNvSpPr/>
          <p:nvPr/>
        </p:nvSpPr>
        <p:spPr>
          <a:xfrm>
            <a:off x="6515100" y="3412383"/>
            <a:ext cx="4696079" cy="614561"/>
          </a:xfrm>
          <a:prstGeom prst="rect">
            <a:avLst/>
          </a:prstGeom>
          <a:noFill/>
          <a:ln/>
        </p:spPr>
        <p:txBody>
          <a:bodyPr wrap="square" lIns="0" tIns="0" rIns="0" bIns="0" rtlCol="0" anchor="t">
            <a:normAutofit/>
          </a:bodyPr>
          <a:lstStyle/>
          <a:p>
            <a:pPr marL="0" indent="0" algn="l">
              <a:lnSpc>
                <a:spcPts val="2320"/>
              </a:lnSpc>
              <a:buNone/>
            </a:pPr>
            <a:endParaRPr lang="es-CO" sz="1600" noProof="0" dirty="0"/>
          </a:p>
        </p:txBody>
      </p:sp>
      <p:pic>
        <p:nvPicPr>
          <p:cNvPr id="11" name="Image 0" descr="Key"/>
          <p:cNvPicPr>
            <a:picLocks noChangeAspect="1"/>
          </p:cNvPicPr>
          <p:nvPr/>
        </p:nvPicPr>
        <p:blipFill>
          <a:blip r:embed="rId3"/>
          <a:srcRect/>
          <a:stretch/>
        </p:blipFill>
        <p:spPr>
          <a:xfrm>
            <a:off x="8950326" y="2216340"/>
            <a:ext cx="304800" cy="304800"/>
          </a:xfrm>
          <a:prstGeom prst="rect">
            <a:avLst/>
          </a:prstGeom>
        </p:spPr>
      </p:pic>
      <p:pic>
        <p:nvPicPr>
          <p:cNvPr id="13"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4" name="Text 10"/>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12</a:t>
            </a:r>
            <a:endParaRPr lang="es-CO" sz="1200" noProof="0" dirty="0"/>
          </a:p>
        </p:txBody>
      </p:sp>
      <p:pic>
        <p:nvPicPr>
          <p:cNvPr id="4" name="Picture 3" descr="Google Password Manager Icon &amp; Logo - SVG, PNG, WebP | Dashboard Icons &amp;  Logos">
            <a:extLst>
              <a:ext uri="{FF2B5EF4-FFF2-40B4-BE49-F238E27FC236}">
                <a16:creationId xmlns:a16="http://schemas.microsoft.com/office/drawing/2014/main" id="{A892F638-E474-49CC-8A60-3C68D9D52C66}"/>
              </a:ext>
            </a:extLst>
          </p:cNvPr>
          <p:cNvPicPr>
            <a:picLocks noChangeAspect="1"/>
          </p:cNvPicPr>
          <p:nvPr/>
        </p:nvPicPr>
        <p:blipFill>
          <a:blip r:embed="rId5"/>
          <a:stretch>
            <a:fillRect/>
          </a:stretch>
        </p:blipFill>
        <p:spPr>
          <a:xfrm>
            <a:off x="509402" y="4667645"/>
            <a:ext cx="1309802" cy="667947"/>
          </a:xfrm>
          <a:prstGeom prst="rect">
            <a:avLst/>
          </a:prstGeom>
        </p:spPr>
      </p:pic>
      <p:sp>
        <p:nvSpPr>
          <p:cNvPr id="8" name="TextBox 7">
            <a:extLst>
              <a:ext uri="{FF2B5EF4-FFF2-40B4-BE49-F238E27FC236}">
                <a16:creationId xmlns:a16="http://schemas.microsoft.com/office/drawing/2014/main" id="{CCAE20BD-A17B-7308-24AD-84F55A66221D}"/>
              </a:ext>
            </a:extLst>
          </p:cNvPr>
          <p:cNvSpPr txBox="1"/>
          <p:nvPr/>
        </p:nvSpPr>
        <p:spPr>
          <a:xfrm>
            <a:off x="713524" y="5854066"/>
            <a:ext cx="6771806" cy="253916"/>
          </a:xfrm>
          <a:prstGeom prst="rect">
            <a:avLst/>
          </a:prstGeom>
          <a:noFill/>
        </p:spPr>
        <p:txBody>
          <a:bodyPr wrap="square">
            <a:spAutoFit/>
          </a:bodyPr>
          <a:lstStyle/>
          <a:p>
            <a:r>
              <a:rPr lang="en-US" sz="1050" dirty="0">
                <a:solidFill>
                  <a:schemeClr val="bg2">
                    <a:lumMod val="75000"/>
                  </a:schemeClr>
                </a:solidFill>
              </a:rPr>
              <a:t>https://www.xataka.com/basics/16-mejores-gestores-contrasenas-para-proteger-recordar-todas-que-tengas</a:t>
            </a:r>
          </a:p>
        </p:txBody>
      </p:sp>
      <p:pic>
        <p:nvPicPr>
          <p:cNvPr id="15" name="Picture 14">
            <a:extLst>
              <a:ext uri="{FF2B5EF4-FFF2-40B4-BE49-F238E27FC236}">
                <a16:creationId xmlns:a16="http://schemas.microsoft.com/office/drawing/2014/main" id="{B9A45D70-209B-DA1B-2988-5004D2F2586A}"/>
              </a:ext>
            </a:extLst>
          </p:cNvPr>
          <p:cNvPicPr>
            <a:picLocks noChangeAspect="1"/>
          </p:cNvPicPr>
          <p:nvPr/>
        </p:nvPicPr>
        <p:blipFill>
          <a:blip r:embed="rId6"/>
          <a:stretch>
            <a:fillRect/>
          </a:stretch>
        </p:blipFill>
        <p:spPr>
          <a:xfrm>
            <a:off x="2108652" y="4493780"/>
            <a:ext cx="1043940" cy="1043940"/>
          </a:xfrm>
          <a:prstGeom prst="rect">
            <a:avLst/>
          </a:prstGeom>
        </p:spPr>
      </p:pic>
      <p:pic>
        <p:nvPicPr>
          <p:cNvPr id="17" name="Picture 16">
            <a:extLst>
              <a:ext uri="{FF2B5EF4-FFF2-40B4-BE49-F238E27FC236}">
                <a16:creationId xmlns:a16="http://schemas.microsoft.com/office/drawing/2014/main" id="{05237CFD-C430-F746-2503-650E419C48C6}"/>
              </a:ext>
            </a:extLst>
          </p:cNvPr>
          <p:cNvPicPr>
            <a:picLocks noChangeAspect="1"/>
          </p:cNvPicPr>
          <p:nvPr/>
        </p:nvPicPr>
        <p:blipFill>
          <a:blip r:embed="rId7"/>
          <a:stretch>
            <a:fillRect/>
          </a:stretch>
        </p:blipFill>
        <p:spPr>
          <a:xfrm>
            <a:off x="3442041" y="4436124"/>
            <a:ext cx="1178528" cy="1178528"/>
          </a:xfrm>
          <a:prstGeom prst="rect">
            <a:avLst/>
          </a:prstGeom>
        </p:spPr>
      </p:pic>
      <p:pic>
        <p:nvPicPr>
          <p:cNvPr id="19" name="Picture 18">
            <a:extLst>
              <a:ext uri="{FF2B5EF4-FFF2-40B4-BE49-F238E27FC236}">
                <a16:creationId xmlns:a16="http://schemas.microsoft.com/office/drawing/2014/main" id="{14244F60-A28C-CC74-FE00-D8E51F105A86}"/>
              </a:ext>
            </a:extLst>
          </p:cNvPr>
          <p:cNvPicPr>
            <a:picLocks noChangeAspect="1"/>
          </p:cNvPicPr>
          <p:nvPr/>
        </p:nvPicPr>
        <p:blipFill>
          <a:blip r:embed="rId8"/>
          <a:stretch>
            <a:fillRect/>
          </a:stretch>
        </p:blipFill>
        <p:spPr>
          <a:xfrm>
            <a:off x="4910273" y="4472513"/>
            <a:ext cx="1142139" cy="114213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99568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02: TRES HÁBITOS ÚTILES.</a:t>
            </a:r>
            <a:endParaRPr lang="es-CO" sz="1400" dirty="0"/>
          </a:p>
        </p:txBody>
      </p:sp>
      <p:sp>
        <p:nvSpPr>
          <p:cNvPr id="3" name="Text 1"/>
          <p:cNvSpPr>
            <a:spLocks noGrp="1"/>
          </p:cNvSpPr>
          <p:nvPr>
            <p:ph type="title"/>
          </p:nvPr>
        </p:nvSpPr>
        <p:spPr>
          <a:xfrm>
            <a:off x="812800" y="152392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Pausa y verifica por otro canal</a:t>
            </a:r>
            <a:endParaRPr lang="es-CO" sz="3600" noProof="0" dirty="0"/>
          </a:p>
        </p:txBody>
      </p:sp>
      <p:grpSp>
        <p:nvGrpSpPr>
          <p:cNvPr id="16" name="Group 15">
            <a:extLst>
              <a:ext uri="{FF2B5EF4-FFF2-40B4-BE49-F238E27FC236}">
                <a16:creationId xmlns:a16="http://schemas.microsoft.com/office/drawing/2014/main" id="{D06B2760-82B9-DC8D-B902-A4D1C372F99D}"/>
              </a:ext>
            </a:extLst>
          </p:cNvPr>
          <p:cNvGrpSpPr/>
          <p:nvPr/>
        </p:nvGrpSpPr>
        <p:grpSpPr>
          <a:xfrm>
            <a:off x="755078" y="2301486"/>
            <a:ext cx="5181600" cy="2608760"/>
            <a:chOff x="887539" y="2255731"/>
            <a:chExt cx="5181600" cy="2299594"/>
          </a:xfrm>
        </p:grpSpPr>
        <p:sp>
          <p:nvSpPr>
            <p:cNvPr id="4" name="Shape 2"/>
            <p:cNvSpPr/>
            <p:nvPr/>
          </p:nvSpPr>
          <p:spPr>
            <a:xfrm>
              <a:off x="887539" y="2255731"/>
              <a:ext cx="5181600" cy="2299594"/>
            </a:xfrm>
            <a:prstGeom prst="roundRect">
              <a:avLst>
                <a:gd name="adj" fmla="val 4678"/>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130300" y="2440781"/>
              <a:ext cx="4696079"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6" name="Text 4"/>
            <p:cNvSpPr/>
            <p:nvPr/>
          </p:nvSpPr>
          <p:spPr>
            <a:xfrm>
              <a:off x="1130300" y="2598946"/>
              <a:ext cx="4696079" cy="1233739"/>
            </a:xfrm>
            <a:prstGeom prst="rect">
              <a:avLst/>
            </a:prstGeom>
            <a:noFill/>
            <a:ln/>
          </p:spPr>
          <p:txBody>
            <a:bodyPr wrap="square" lIns="0" tIns="0" rIns="0" bIns="0" rtlCol="0" anchor="t">
              <a:normAutofit fontScale="92500"/>
            </a:bodyPr>
            <a:lstStyle/>
            <a:p>
              <a:pPr algn="just">
                <a:lnSpc>
                  <a:spcPts val="2560"/>
                </a:lnSpc>
                <a:buSzPct val="100000"/>
              </a:pPr>
              <a:r>
                <a:rPr lang="es-CO" noProof="0" dirty="0">
                  <a:solidFill>
                    <a:schemeClr val="bg2">
                      <a:lumMod val="10000"/>
                    </a:schemeClr>
                  </a:solidFill>
                  <a:latin typeface="Nunito Sans" pitchFamily="34" charset="0"/>
                  <a:ea typeface="Nunito Sans" pitchFamily="34" charset="-122"/>
                  <a:cs typeface="Nunito Sans" pitchFamily="34" charset="-120"/>
                </a:rPr>
                <a:t>Si la petición involucra una transferencia de dinero, enviar archivos de empleados o clientes o divulgar información que consideras valiosa, pausa y verifica con la persona.</a:t>
              </a:r>
              <a:endParaRPr lang="es-CO" noProof="0" dirty="0">
                <a:solidFill>
                  <a:schemeClr val="bg2">
                    <a:lumMod val="10000"/>
                  </a:schemeClr>
                </a:solidFill>
              </a:endParaRPr>
            </a:p>
          </p:txBody>
        </p:sp>
        <p:sp>
          <p:nvSpPr>
            <p:cNvPr id="7" name="Text 5"/>
            <p:cNvSpPr/>
            <p:nvPr/>
          </p:nvSpPr>
          <p:spPr>
            <a:xfrm>
              <a:off x="1258316" y="4096702"/>
              <a:ext cx="4696079" cy="283170"/>
            </a:xfrm>
            <a:prstGeom prst="rect">
              <a:avLst/>
            </a:prstGeom>
            <a:noFill/>
            <a:ln/>
          </p:spPr>
          <p:txBody>
            <a:bodyPr wrap="square" lIns="0" tIns="0" rIns="0" bIns="0" rtlCol="0" anchor="t">
              <a:normAutofit/>
            </a:bodyPr>
            <a:lstStyle/>
            <a:p>
              <a:pPr marL="0" indent="0" algn="l">
                <a:lnSpc>
                  <a:spcPts val="2030"/>
                </a:lnSpc>
                <a:buNone/>
              </a:pPr>
              <a:r>
                <a:rPr lang="es-CO" sz="1400" noProof="0" dirty="0">
                  <a:solidFill>
                    <a:srgbClr val="6B7085"/>
                  </a:solidFill>
                  <a:latin typeface="Nunito Sans" pitchFamily="34" charset="0"/>
                  <a:ea typeface="Nunito Sans" pitchFamily="34" charset="-122"/>
                  <a:cs typeface="Nunito Sans" pitchFamily="34" charset="-120"/>
                </a:rPr>
                <a:t>Aunque parezca venir del jefe o de un cliente conocido.</a:t>
              </a:r>
              <a:endParaRPr lang="es-CO" sz="1400" noProof="0" dirty="0"/>
            </a:p>
          </p:txBody>
        </p:sp>
      </p:grpSp>
      <p:grpSp>
        <p:nvGrpSpPr>
          <p:cNvPr id="17" name="Group 16">
            <a:extLst>
              <a:ext uri="{FF2B5EF4-FFF2-40B4-BE49-F238E27FC236}">
                <a16:creationId xmlns:a16="http://schemas.microsoft.com/office/drawing/2014/main" id="{EE783F28-D70E-C5AF-4FA1-99E17C27172C}"/>
              </a:ext>
            </a:extLst>
          </p:cNvPr>
          <p:cNvGrpSpPr/>
          <p:nvPr/>
        </p:nvGrpSpPr>
        <p:grpSpPr>
          <a:xfrm>
            <a:off x="6228461" y="2301486"/>
            <a:ext cx="5168900" cy="2608760"/>
            <a:chOff x="6210300" y="2123282"/>
            <a:chExt cx="5168900" cy="2608760"/>
          </a:xfrm>
        </p:grpSpPr>
        <p:sp>
          <p:nvSpPr>
            <p:cNvPr id="8" name="Shape 6"/>
            <p:cNvSpPr/>
            <p:nvPr/>
          </p:nvSpPr>
          <p:spPr>
            <a:xfrm>
              <a:off x="6210300" y="2123282"/>
              <a:ext cx="5168900" cy="2608760"/>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4280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PARA VERIFICAR:</a:t>
              </a:r>
              <a:endParaRPr lang="es-CO" sz="1300" noProof="0" dirty="0"/>
            </a:p>
          </p:txBody>
        </p:sp>
        <p:sp>
          <p:nvSpPr>
            <p:cNvPr id="10" name="Text 8"/>
            <p:cNvSpPr/>
            <p:nvPr/>
          </p:nvSpPr>
          <p:spPr>
            <a:xfrm>
              <a:off x="6553708" y="2786162"/>
              <a:ext cx="4650613" cy="1000522"/>
            </a:xfrm>
            <a:prstGeom prst="rect">
              <a:avLst/>
            </a:prstGeom>
            <a:noFill/>
            <a:ln/>
          </p:spPr>
          <p:txBody>
            <a:bodyPr wrap="square" lIns="0" tIns="0" rIns="0" bIns="0" rtlCol="0" anchor="t">
              <a:normAutofit/>
            </a:bodyPr>
            <a:lstStyle/>
            <a:p>
              <a:pPr marL="189992" indent="-189992" algn="l">
                <a:lnSpc>
                  <a:spcPts val="2560"/>
                </a:lnSpc>
                <a:buSzPct val="100000"/>
                <a:buChar char="•"/>
              </a:pPr>
              <a:r>
                <a:rPr lang="es-CO" noProof="0" dirty="0">
                  <a:solidFill>
                    <a:srgbClr val="1C2142"/>
                  </a:solidFill>
                  <a:latin typeface="Nunito Sans" pitchFamily="34" charset="0"/>
                  <a:ea typeface="Nunito Sans" pitchFamily="34" charset="-122"/>
                  <a:cs typeface="Nunito Sans" pitchFamily="34" charset="-120"/>
                </a:rPr>
                <a:t>Camina hasta su escritorio.</a:t>
              </a:r>
              <a:endParaRPr lang="es-CO" noProof="0" dirty="0"/>
            </a:p>
            <a:p>
              <a:pPr marL="189992" indent="-189992" algn="l">
                <a:lnSpc>
                  <a:spcPts val="2560"/>
                </a:lnSpc>
                <a:buSzPct val="100000"/>
                <a:buChar char="•"/>
              </a:pPr>
              <a:r>
                <a:rPr lang="es-CO" noProof="0" dirty="0">
                  <a:solidFill>
                    <a:srgbClr val="1C2142"/>
                  </a:solidFill>
                  <a:latin typeface="Nunito Sans" pitchFamily="34" charset="0"/>
                  <a:ea typeface="Nunito Sans" pitchFamily="34" charset="-122"/>
                  <a:cs typeface="Nunito Sans" pitchFamily="34" charset="-120"/>
                </a:rPr>
                <a:t>Llámalo su número personal.</a:t>
              </a:r>
              <a:endParaRPr lang="es-CO" noProof="0" dirty="0"/>
            </a:p>
            <a:p>
              <a:pPr marL="189992" indent="-189992" algn="l">
                <a:lnSpc>
                  <a:spcPts val="2560"/>
                </a:lnSpc>
                <a:buSzPct val="100000"/>
                <a:buChar char="•"/>
              </a:pPr>
              <a:r>
                <a:rPr lang="es-CO" noProof="0" dirty="0">
                  <a:solidFill>
                    <a:srgbClr val="1C2142"/>
                  </a:solidFill>
                  <a:latin typeface="Nunito Sans" pitchFamily="34" charset="0"/>
                  <a:ea typeface="Nunito Sans" pitchFamily="34" charset="-122"/>
                  <a:cs typeface="Nunito Sans" pitchFamily="34" charset="-120"/>
                </a:rPr>
                <a:t>Escríbele al número comprobado.</a:t>
              </a:r>
              <a:endParaRPr lang="es-CO" noProof="0" dirty="0"/>
            </a:p>
          </p:txBody>
        </p:sp>
        <p:sp>
          <p:nvSpPr>
            <p:cNvPr id="11" name="Text 9"/>
            <p:cNvSpPr/>
            <p:nvPr/>
          </p:nvSpPr>
          <p:spPr>
            <a:xfrm>
              <a:off x="6515100" y="3888284"/>
              <a:ext cx="4696079" cy="540941"/>
            </a:xfrm>
            <a:prstGeom prst="rect">
              <a:avLst/>
            </a:prstGeom>
            <a:noFill/>
            <a:ln/>
          </p:spPr>
          <p:txBody>
            <a:bodyPr wrap="square" lIns="0" tIns="0" rIns="0" bIns="0" rtlCol="0" anchor="t">
              <a:normAutofit/>
            </a:bodyPr>
            <a:lstStyle/>
            <a:p>
              <a:pPr marL="0" indent="0" algn="l">
                <a:lnSpc>
                  <a:spcPts val="2030"/>
                </a:lnSpc>
                <a:buNone/>
              </a:pPr>
              <a:r>
                <a:rPr lang="es-CO" sz="1400" noProof="0" dirty="0">
                  <a:solidFill>
                    <a:srgbClr val="4A5070"/>
                  </a:solidFill>
                  <a:latin typeface="Nunito Sans" pitchFamily="34" charset="0"/>
                  <a:ea typeface="Nunito Sans" pitchFamily="34" charset="-122"/>
                  <a:cs typeface="Nunito Sans" pitchFamily="34" charset="-120"/>
                </a:rPr>
                <a:t>Nunca respondas por el mismo canal por el que llegó la solicitud.</a:t>
              </a:r>
              <a:endParaRPr lang="es-CO" sz="1400" noProof="0" dirty="0"/>
            </a:p>
          </p:txBody>
        </p:sp>
      </p:grpSp>
      <p:pic>
        <p:nvPicPr>
          <p:cNvPr id="12" name="Image 0" descr="Trust"/>
          <p:cNvPicPr>
            <a:picLocks noChangeAspect="1"/>
          </p:cNvPicPr>
          <p:nvPr/>
        </p:nvPicPr>
        <p:blipFill>
          <a:blip r:embed="rId3"/>
          <a:srcRect/>
          <a:stretch/>
        </p:blipFill>
        <p:spPr>
          <a:xfrm>
            <a:off x="499150" y="5288955"/>
            <a:ext cx="304800" cy="304800"/>
          </a:xfrm>
          <a:prstGeom prst="rect">
            <a:avLst/>
          </a:prstGeom>
        </p:spPr>
      </p:pic>
      <p:sp>
        <p:nvSpPr>
          <p:cNvPr id="13" name="Text 10"/>
          <p:cNvSpPr/>
          <p:nvPr/>
        </p:nvSpPr>
        <p:spPr>
          <a:xfrm>
            <a:off x="847511" y="5299075"/>
            <a:ext cx="5452705" cy="309860"/>
          </a:xfrm>
          <a:prstGeom prst="rect">
            <a:avLst/>
          </a:prstGeom>
          <a:noFill/>
          <a:ln/>
        </p:spPr>
        <p:txBody>
          <a:bodyPr wrap="square" lIns="0" tIns="0" rIns="0" bIns="0" rtlCol="0" anchor="t">
            <a:normAutofit/>
          </a:bodyPr>
          <a:lstStyle/>
          <a:p>
            <a:pPr marL="0" indent="0" algn="l">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No adivines si el mensaje es real, mejor sigue el proceso.</a:t>
            </a:r>
            <a:endParaRPr lang="es-CO" sz="1600" noProof="0" dirty="0"/>
          </a:p>
        </p:txBody>
      </p:sp>
      <p:pic>
        <p:nvPicPr>
          <p:cNvPr id="14"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5" name="Text 11"/>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13</a:t>
            </a:r>
            <a:endParaRPr lang="es-CO" sz="1200" noProof="0" dirty="0"/>
          </a:p>
        </p:txBody>
      </p:sp>
      <p:pic>
        <p:nvPicPr>
          <p:cNvPr id="19" name="Picture 18">
            <a:extLst>
              <a:ext uri="{FF2B5EF4-FFF2-40B4-BE49-F238E27FC236}">
                <a16:creationId xmlns:a16="http://schemas.microsoft.com/office/drawing/2014/main" id="{73021D24-6B6D-09A5-F0BE-D9C80AF619D8}"/>
              </a:ext>
            </a:extLst>
          </p:cNvPr>
          <p:cNvPicPr>
            <a:picLocks noChangeAspect="1"/>
          </p:cNvPicPr>
          <p:nvPr/>
        </p:nvPicPr>
        <p:blipFill>
          <a:blip r:embed="rId5"/>
          <a:stretch>
            <a:fillRect/>
          </a:stretch>
        </p:blipFill>
        <p:spPr>
          <a:xfrm>
            <a:off x="10269728" y="2473644"/>
            <a:ext cx="1426464" cy="1426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9">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02: TRES HÁBITOS ÚTILES.</a:t>
            </a:r>
            <a:endParaRPr lang="es-CO" sz="140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Activa la verificación en dos pasos.</a:t>
            </a:r>
            <a:endParaRPr lang="es-CO" sz="3600" noProof="0" dirty="0"/>
          </a:p>
        </p:txBody>
      </p:sp>
      <p:sp>
        <p:nvSpPr>
          <p:cNvPr id="4" name="Shape 2"/>
          <p:cNvSpPr/>
          <p:nvPr/>
        </p:nvSpPr>
        <p:spPr>
          <a:xfrm>
            <a:off x="819150" y="2129631"/>
            <a:ext cx="3399334" cy="3124398"/>
          </a:xfrm>
          <a:prstGeom prst="roundRect">
            <a:avLst>
              <a:gd name="adj" fmla="val 4675"/>
            </a:avLst>
          </a:prstGeom>
          <a:solidFill>
            <a:srgbClr val="FCFBF8"/>
          </a:solidFill>
          <a:ln w="12700">
            <a:solidFill>
              <a:srgbClr val="DDE0EA"/>
            </a:solidFill>
            <a:prstDash val="solid"/>
          </a:ln>
        </p:spPr>
        <p:txBody>
          <a:bodyPr/>
          <a:lstStyle/>
          <a:p>
            <a:endParaRPr lang="es-CO" noProof="0" dirty="0"/>
          </a:p>
        </p:txBody>
      </p:sp>
      <p:pic>
        <p:nvPicPr>
          <p:cNvPr id="5" name="Image 0" descr="Celular"/>
          <p:cNvPicPr>
            <a:picLocks noChangeAspect="1"/>
          </p:cNvPicPr>
          <p:nvPr/>
        </p:nvPicPr>
        <p:blipFill>
          <a:blip r:embed="rId3"/>
          <a:srcRect/>
          <a:stretch/>
        </p:blipFill>
        <p:spPr>
          <a:xfrm>
            <a:off x="1130300" y="2440781"/>
            <a:ext cx="406400" cy="406400"/>
          </a:xfrm>
          <a:prstGeom prst="rect">
            <a:avLst/>
          </a:prstGeom>
        </p:spPr>
      </p:pic>
      <p:sp>
        <p:nvSpPr>
          <p:cNvPr id="6" name="Text 3"/>
          <p:cNvSpPr/>
          <p:nvPr/>
        </p:nvSpPr>
        <p:spPr>
          <a:xfrm>
            <a:off x="1130300" y="2999581"/>
            <a:ext cx="2860345" cy="6350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¿Qué es?</a:t>
            </a:r>
            <a:endParaRPr lang="es-CO" sz="2000" noProof="0" dirty="0"/>
          </a:p>
        </p:txBody>
      </p:sp>
      <p:sp>
        <p:nvSpPr>
          <p:cNvPr id="7" name="Text 4"/>
          <p:cNvSpPr/>
          <p:nvPr/>
        </p:nvSpPr>
        <p:spPr>
          <a:xfrm>
            <a:off x="1130301" y="3761581"/>
            <a:ext cx="2755900" cy="1130300"/>
          </a:xfrm>
          <a:prstGeom prst="rect">
            <a:avLst/>
          </a:prstGeom>
          <a:noFill/>
          <a:ln/>
        </p:spPr>
        <p:txBody>
          <a:bodyPr wrap="square" lIns="0" tIns="0" rIns="0" bIns="0" rtlCol="0" anchor="t">
            <a:noAutofit/>
          </a:bodyPr>
          <a:lstStyle/>
          <a:p>
            <a:pPr marL="0" indent="0">
              <a:lnSpc>
                <a:spcPts val="2175"/>
              </a:lnSpc>
              <a:buNone/>
            </a:pPr>
            <a:r>
              <a:rPr lang="es-CO" noProof="0" dirty="0">
                <a:solidFill>
                  <a:schemeClr val="bg2">
                    <a:lumMod val="10000"/>
                  </a:schemeClr>
                </a:solidFill>
                <a:latin typeface="Nunito Sans" pitchFamily="34" charset="0"/>
                <a:ea typeface="Nunito Sans" pitchFamily="34" charset="-122"/>
                <a:cs typeface="Nunito Sans" pitchFamily="34" charset="-120"/>
              </a:rPr>
              <a:t>Además de la contraseña, la cuenta te pide un código o una confirmación en tu celular.</a:t>
            </a:r>
            <a:endParaRPr lang="es-CO" noProof="0" dirty="0">
              <a:solidFill>
                <a:schemeClr val="bg2">
                  <a:lumMod val="10000"/>
                </a:schemeClr>
              </a:solidFill>
            </a:endParaRPr>
          </a:p>
        </p:txBody>
      </p:sp>
      <p:sp>
        <p:nvSpPr>
          <p:cNvPr id="8" name="Shape 5"/>
          <p:cNvSpPr/>
          <p:nvPr/>
        </p:nvSpPr>
        <p:spPr>
          <a:xfrm>
            <a:off x="4408984" y="2129631"/>
            <a:ext cx="3399433" cy="3124398"/>
          </a:xfrm>
          <a:prstGeom prst="roundRect">
            <a:avLst>
              <a:gd name="adj" fmla="val 4675"/>
            </a:avLst>
          </a:prstGeom>
          <a:solidFill>
            <a:srgbClr val="FCFBF8"/>
          </a:solidFill>
          <a:ln w="12700">
            <a:solidFill>
              <a:srgbClr val="DDE0EA"/>
            </a:solidFill>
            <a:prstDash val="solid"/>
          </a:ln>
        </p:spPr>
        <p:txBody>
          <a:bodyPr/>
          <a:lstStyle/>
          <a:p>
            <a:endParaRPr lang="es-CO" noProof="0" dirty="0"/>
          </a:p>
        </p:txBody>
      </p:sp>
      <p:pic>
        <p:nvPicPr>
          <p:cNvPr id="9" name="Image 1" descr="Escudo"/>
          <p:cNvPicPr>
            <a:picLocks noChangeAspect="1"/>
          </p:cNvPicPr>
          <p:nvPr/>
        </p:nvPicPr>
        <p:blipFill>
          <a:blip r:embed="rId4"/>
          <a:srcRect/>
          <a:stretch/>
        </p:blipFill>
        <p:spPr>
          <a:xfrm>
            <a:off x="4720134" y="2440781"/>
            <a:ext cx="406400" cy="406400"/>
          </a:xfrm>
          <a:prstGeom prst="rect">
            <a:avLst/>
          </a:prstGeom>
        </p:spPr>
      </p:pic>
      <p:sp>
        <p:nvSpPr>
          <p:cNvPr id="10" name="Text 6"/>
          <p:cNvSpPr/>
          <p:nvPr/>
        </p:nvSpPr>
        <p:spPr>
          <a:xfrm>
            <a:off x="4720134" y="2999581"/>
            <a:ext cx="2860447" cy="6350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¿Por qué es útil?</a:t>
            </a:r>
            <a:endParaRPr lang="es-CO" sz="2000" noProof="0" dirty="0"/>
          </a:p>
        </p:txBody>
      </p:sp>
      <p:sp>
        <p:nvSpPr>
          <p:cNvPr id="11" name="Text 7"/>
          <p:cNvSpPr/>
          <p:nvPr/>
        </p:nvSpPr>
        <p:spPr>
          <a:xfrm>
            <a:off x="4720134" y="3634581"/>
            <a:ext cx="2860447" cy="1371799"/>
          </a:xfrm>
          <a:prstGeom prst="rect">
            <a:avLst/>
          </a:prstGeom>
          <a:noFill/>
          <a:ln/>
        </p:spPr>
        <p:txBody>
          <a:bodyPr wrap="square" lIns="0" tIns="0" rIns="0" bIns="0" rtlCol="0" anchor="t">
            <a:noAutofit/>
          </a:bodyPr>
          <a:lstStyle/>
          <a:p>
            <a:pPr marL="0" indent="0">
              <a:lnSpc>
                <a:spcPts val="2175"/>
              </a:lnSpc>
              <a:buNone/>
            </a:pPr>
            <a:r>
              <a:rPr lang="es-CO" noProof="0" dirty="0">
                <a:solidFill>
                  <a:schemeClr val="bg2">
                    <a:lumMod val="10000"/>
                  </a:schemeClr>
                </a:solidFill>
                <a:latin typeface="Nunito Sans" pitchFamily="34" charset="0"/>
                <a:ea typeface="Nunito Sans" pitchFamily="34" charset="-122"/>
                <a:cs typeface="Nunito Sans" pitchFamily="34" charset="-120"/>
              </a:rPr>
              <a:t>Si un día se conoce tu contraseña por error, el atacante igual no puede entrar porque necesita la confirmación.</a:t>
            </a:r>
            <a:endParaRPr lang="es-CO" noProof="0" dirty="0">
              <a:solidFill>
                <a:schemeClr val="bg2">
                  <a:lumMod val="10000"/>
                </a:schemeClr>
              </a:solidFill>
            </a:endParaRPr>
          </a:p>
        </p:txBody>
      </p:sp>
      <p:sp>
        <p:nvSpPr>
          <p:cNvPr id="12" name="Shape 8"/>
          <p:cNvSpPr/>
          <p:nvPr/>
        </p:nvSpPr>
        <p:spPr>
          <a:xfrm>
            <a:off x="7992566" y="2129631"/>
            <a:ext cx="3386634" cy="3124398"/>
          </a:xfrm>
          <a:prstGeom prst="roundRect">
            <a:avLst>
              <a:gd name="adj" fmla="val 4858"/>
            </a:avLst>
          </a:prstGeom>
          <a:solidFill>
            <a:srgbClr val="E9ECF4"/>
          </a:solidFill>
          <a:ln/>
        </p:spPr>
        <p:txBody>
          <a:bodyPr/>
          <a:lstStyle/>
          <a:p>
            <a:endParaRPr lang="es-CO" noProof="0" dirty="0"/>
          </a:p>
        </p:txBody>
      </p:sp>
      <p:pic>
        <p:nvPicPr>
          <p:cNvPr id="13" name="Image 2" descr="Reloj"/>
          <p:cNvPicPr>
            <a:picLocks noChangeAspect="1"/>
          </p:cNvPicPr>
          <p:nvPr/>
        </p:nvPicPr>
        <p:blipFill>
          <a:blip r:embed="rId5"/>
          <a:srcRect/>
          <a:stretch/>
        </p:blipFill>
        <p:spPr>
          <a:xfrm>
            <a:off x="8297366" y="2440781"/>
            <a:ext cx="406400" cy="406400"/>
          </a:xfrm>
          <a:prstGeom prst="rect">
            <a:avLst/>
          </a:prstGeom>
        </p:spPr>
      </p:pic>
      <p:sp>
        <p:nvSpPr>
          <p:cNvPr id="14" name="Text 9"/>
          <p:cNvSpPr/>
          <p:nvPr/>
        </p:nvSpPr>
        <p:spPr>
          <a:xfrm>
            <a:off x="8297366" y="2999581"/>
            <a:ext cx="2860345" cy="6350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¿Cómo activarla?</a:t>
            </a:r>
            <a:endParaRPr lang="es-CO" sz="2000" noProof="0" dirty="0"/>
          </a:p>
        </p:txBody>
      </p:sp>
      <p:sp>
        <p:nvSpPr>
          <p:cNvPr id="15" name="Text 10"/>
          <p:cNvSpPr/>
          <p:nvPr/>
        </p:nvSpPr>
        <p:spPr>
          <a:xfrm>
            <a:off x="8297366" y="3761581"/>
            <a:ext cx="2860345" cy="1130300"/>
          </a:xfrm>
          <a:prstGeom prst="rect">
            <a:avLst/>
          </a:prstGeom>
          <a:noFill/>
          <a:ln/>
        </p:spPr>
        <p:txBody>
          <a:bodyPr wrap="square" lIns="0" tIns="0" rIns="0" bIns="0" rtlCol="0" anchor="t">
            <a:noAutofit/>
          </a:bodyPr>
          <a:lstStyle/>
          <a:p>
            <a:pPr marL="0" indent="0">
              <a:lnSpc>
                <a:spcPts val="2175"/>
              </a:lnSpc>
              <a:buNone/>
            </a:pPr>
            <a:r>
              <a:rPr lang="es-CO" noProof="0" dirty="0">
                <a:solidFill>
                  <a:schemeClr val="bg2">
                    <a:lumMod val="10000"/>
                  </a:schemeClr>
                </a:solidFill>
                <a:latin typeface="Nunito Sans" pitchFamily="34" charset="0"/>
                <a:ea typeface="Nunito Sans" pitchFamily="34" charset="-122"/>
                <a:cs typeface="Nunito Sans" pitchFamily="34" charset="-120"/>
              </a:rPr>
              <a:t>Actívala hoy en el correo, el banco y tus aplicaciones de mensajería</a:t>
            </a:r>
            <a:r>
              <a:rPr lang="es-CO" dirty="0">
                <a:solidFill>
                  <a:schemeClr val="bg2">
                    <a:lumMod val="10000"/>
                  </a:schemeClr>
                </a:solidFill>
                <a:latin typeface="Nunito Sans" pitchFamily="34" charset="0"/>
                <a:ea typeface="Nunito Sans" pitchFamily="34" charset="-122"/>
                <a:cs typeface="Nunito Sans" pitchFamily="34" charset="-120"/>
              </a:rPr>
              <a:t>, generalmente se activa en configuración.</a:t>
            </a:r>
            <a:endParaRPr lang="es-CO" noProof="0" dirty="0">
              <a:solidFill>
                <a:schemeClr val="bg2">
                  <a:lumMod val="10000"/>
                </a:schemeClr>
              </a:solidFill>
            </a:endParaRPr>
          </a:p>
        </p:txBody>
      </p:sp>
      <p:sp>
        <p:nvSpPr>
          <p:cNvPr id="16" name="Text 11"/>
          <p:cNvSpPr/>
          <p:nvPr/>
        </p:nvSpPr>
        <p:spPr>
          <a:xfrm>
            <a:off x="812800" y="5539780"/>
            <a:ext cx="10883392" cy="327620"/>
          </a:xfrm>
          <a:prstGeom prst="rect">
            <a:avLst/>
          </a:prstGeom>
          <a:noFill/>
          <a:ln/>
        </p:spPr>
        <p:txBody>
          <a:bodyPr wrap="square" lIns="0" tIns="0" rIns="0" bIns="0" rtlCol="0" anchor="t">
            <a:noAutofit/>
          </a:bodyPr>
          <a:lstStyle/>
          <a:p>
            <a:pPr marL="0" indent="0" algn="l">
              <a:lnSpc>
                <a:spcPts val="2380"/>
              </a:lnSpc>
              <a:buNone/>
            </a:pPr>
            <a:r>
              <a:rPr lang="es-CO" sz="1600" noProof="0" dirty="0">
                <a:solidFill>
                  <a:srgbClr val="1C2142"/>
                </a:solidFill>
                <a:latin typeface="Nunito Sans" pitchFamily="34" charset="0"/>
                <a:ea typeface="Nunito Sans" pitchFamily="34" charset="-122"/>
                <a:cs typeface="Nunito Sans" pitchFamily="34" charset="-120"/>
              </a:rPr>
              <a:t>¡Nunca compartas el código!</a:t>
            </a:r>
            <a:endParaRPr lang="es-CO" sz="1700" noProof="0" dirty="0"/>
          </a:p>
        </p:txBody>
      </p:sp>
      <p:pic>
        <p:nvPicPr>
          <p:cNvPr id="17" name="Image 3" descr="Pralogy"/>
          <p:cNvPicPr>
            <a:picLocks noChangeAspect="1"/>
          </p:cNvPicPr>
          <p:nvPr/>
        </p:nvPicPr>
        <p:blipFill>
          <a:blip r:embed="rId6"/>
          <a:srcRect l="-62" r="-62"/>
          <a:stretch/>
        </p:blipFill>
        <p:spPr>
          <a:xfrm>
            <a:off x="812800" y="6273800"/>
            <a:ext cx="1111250" cy="228600"/>
          </a:xfrm>
          <a:prstGeom prst="rect">
            <a:avLst/>
          </a:prstGeom>
        </p:spPr>
      </p:pic>
      <p:sp>
        <p:nvSpPr>
          <p:cNvPr id="18" name="Text 12"/>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14</a:t>
            </a:r>
            <a:endParaRPr lang="es-CO" sz="120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EXTRA · </a:t>
            </a:r>
            <a:r>
              <a:rPr lang="es-CO" sz="1400" b="1" kern="0" spc="150" dirty="0">
                <a:solidFill>
                  <a:srgbClr val="2F3EBF"/>
                </a:solidFill>
                <a:latin typeface="Nunito Sans" pitchFamily="34" charset="0"/>
                <a:ea typeface="Nunito Sans" pitchFamily="34" charset="-122"/>
                <a:cs typeface="Nunito Sans" pitchFamily="34" charset="-120"/>
              </a:rPr>
              <a:t>A DÓNDE VAN LOS DATOS CON </a:t>
            </a:r>
            <a:r>
              <a:rPr lang="es-CO" sz="1400" b="1" kern="0" spc="150" noProof="0" dirty="0">
                <a:solidFill>
                  <a:srgbClr val="2F3EBF"/>
                </a:solidFill>
                <a:latin typeface="Nunito Sans" pitchFamily="34" charset="0"/>
                <a:ea typeface="Nunito Sans" pitchFamily="34" charset="-122"/>
                <a:cs typeface="Nunito Sans" pitchFamily="34" charset="-120"/>
              </a:rPr>
              <a:t>LA IA</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¿A dónde van las conversaciones con la IA?</a:t>
            </a:r>
            <a:endParaRPr lang="es-CO" sz="3600" noProof="0" dirty="0"/>
          </a:p>
        </p:txBody>
      </p:sp>
      <p:pic>
        <p:nvPicPr>
          <p:cNvPr id="19" name="Image 2" descr="Pralogy"/>
          <p:cNvPicPr>
            <a:picLocks noChangeAspect="1"/>
          </p:cNvPicPr>
          <p:nvPr/>
        </p:nvPicPr>
        <p:blipFill>
          <a:blip r:embed="rId3"/>
          <a:srcRect l="-62" r="-62"/>
          <a:stretch/>
        </p:blipFill>
        <p:spPr>
          <a:xfrm>
            <a:off x="812800" y="6273800"/>
            <a:ext cx="1111250" cy="228600"/>
          </a:xfrm>
          <a:prstGeom prst="rect">
            <a:avLst/>
          </a:prstGeom>
        </p:spPr>
      </p:pic>
      <p:sp>
        <p:nvSpPr>
          <p:cNvPr id="20" name="Text 1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15</a:t>
            </a:r>
            <a:endParaRPr lang="es-CO" sz="1200" noProof="0" dirty="0"/>
          </a:p>
        </p:txBody>
      </p:sp>
      <p:pic>
        <p:nvPicPr>
          <p:cNvPr id="26" name="Picture 25">
            <a:extLst>
              <a:ext uri="{FF2B5EF4-FFF2-40B4-BE49-F238E27FC236}">
                <a16:creationId xmlns:a16="http://schemas.microsoft.com/office/drawing/2014/main" id="{DAC38338-BFF1-F010-F09D-CD21C32C5A76}"/>
              </a:ext>
            </a:extLst>
          </p:cNvPr>
          <p:cNvPicPr>
            <a:picLocks noChangeAspect="1"/>
          </p:cNvPicPr>
          <p:nvPr/>
        </p:nvPicPr>
        <p:blipFill>
          <a:blip r:embed="rId4"/>
          <a:srcRect l="14753" r="14791"/>
          <a:stretch>
            <a:fillRect/>
          </a:stretch>
        </p:blipFill>
        <p:spPr>
          <a:xfrm>
            <a:off x="7400685" y="2423919"/>
            <a:ext cx="1823245" cy="2587752"/>
          </a:xfrm>
          <a:prstGeom prst="rect">
            <a:avLst/>
          </a:prstGeom>
        </p:spPr>
      </p:pic>
      <p:cxnSp>
        <p:nvCxnSpPr>
          <p:cNvPr id="28" name="Straight Arrow Connector 27">
            <a:extLst>
              <a:ext uri="{FF2B5EF4-FFF2-40B4-BE49-F238E27FC236}">
                <a16:creationId xmlns:a16="http://schemas.microsoft.com/office/drawing/2014/main" id="{F3290B9C-2DBC-9231-D176-BDAB77CC98AB}"/>
              </a:ext>
            </a:extLst>
          </p:cNvPr>
          <p:cNvCxnSpPr>
            <a:cxnSpLocks/>
            <a:stCxn id="22" idx="1"/>
            <a:endCxn id="24" idx="1"/>
          </p:cNvCxnSpPr>
          <p:nvPr/>
        </p:nvCxnSpPr>
        <p:spPr>
          <a:xfrm flipV="1">
            <a:off x="2968069" y="3643642"/>
            <a:ext cx="1545725" cy="451667"/>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0430247D-1882-0061-4640-8CE20D72D58C}"/>
              </a:ext>
            </a:extLst>
          </p:cNvPr>
          <p:cNvGrpSpPr/>
          <p:nvPr/>
        </p:nvGrpSpPr>
        <p:grpSpPr>
          <a:xfrm>
            <a:off x="550878" y="3178947"/>
            <a:ext cx="2417191" cy="2479055"/>
            <a:chOff x="1560448" y="2892850"/>
            <a:chExt cx="2417191" cy="2479055"/>
          </a:xfrm>
        </p:grpSpPr>
        <p:pic>
          <p:nvPicPr>
            <p:cNvPr id="22" name="Picture 21">
              <a:extLst>
                <a:ext uri="{FF2B5EF4-FFF2-40B4-BE49-F238E27FC236}">
                  <a16:creationId xmlns:a16="http://schemas.microsoft.com/office/drawing/2014/main" id="{C44D13A9-098A-E323-24E7-68E882C5F975}"/>
                </a:ext>
              </a:extLst>
            </p:cNvPr>
            <p:cNvPicPr>
              <a:picLocks noChangeAspect="1"/>
            </p:cNvPicPr>
            <p:nvPr/>
          </p:nvPicPr>
          <p:blipFill>
            <a:blip r:embed="rId5"/>
            <a:srcRect l="11244" t="20800" r="11556" b="20667"/>
            <a:stretch>
              <a:fillRect/>
            </a:stretch>
          </p:blipFill>
          <p:spPr>
            <a:xfrm flipH="1">
              <a:off x="1560448" y="2892850"/>
              <a:ext cx="2417191" cy="1832724"/>
            </a:xfrm>
            <a:prstGeom prst="rect">
              <a:avLst/>
            </a:prstGeom>
          </p:spPr>
        </p:pic>
        <p:sp>
          <p:nvSpPr>
            <p:cNvPr id="32" name="TextBox 31">
              <a:extLst>
                <a:ext uri="{FF2B5EF4-FFF2-40B4-BE49-F238E27FC236}">
                  <a16:creationId xmlns:a16="http://schemas.microsoft.com/office/drawing/2014/main" id="{4FD9C339-7386-8AD5-69F7-63F6ED716787}"/>
                </a:ext>
              </a:extLst>
            </p:cNvPr>
            <p:cNvSpPr txBox="1"/>
            <p:nvPr/>
          </p:nvSpPr>
          <p:spPr>
            <a:xfrm>
              <a:off x="1764792" y="4725574"/>
              <a:ext cx="1783080" cy="646331"/>
            </a:xfrm>
            <a:prstGeom prst="rect">
              <a:avLst/>
            </a:prstGeom>
            <a:noFill/>
          </p:spPr>
          <p:txBody>
            <a:bodyPr wrap="square" rtlCol="0">
              <a:spAutoFit/>
            </a:bodyPr>
            <a:lstStyle/>
            <a:p>
              <a:r>
                <a:rPr lang="en-US" dirty="0"/>
                <a:t>Charlas </a:t>
              </a:r>
              <a:r>
                <a:rPr lang="en-US" dirty="0" err="1"/>
                <a:t>por</a:t>
              </a:r>
              <a:r>
                <a:rPr lang="en-US" dirty="0"/>
                <a:t> chat con </a:t>
              </a:r>
              <a:r>
                <a:rPr lang="en-US" dirty="0" err="1"/>
                <a:t>una</a:t>
              </a:r>
              <a:r>
                <a:rPr lang="en-US" dirty="0"/>
                <a:t> IA</a:t>
              </a:r>
            </a:p>
          </p:txBody>
        </p:sp>
      </p:grpSp>
      <p:grpSp>
        <p:nvGrpSpPr>
          <p:cNvPr id="58" name="Group 57">
            <a:extLst>
              <a:ext uri="{FF2B5EF4-FFF2-40B4-BE49-F238E27FC236}">
                <a16:creationId xmlns:a16="http://schemas.microsoft.com/office/drawing/2014/main" id="{D0BE1F0C-2F57-C27E-5E06-99771BCC431D}"/>
              </a:ext>
            </a:extLst>
          </p:cNvPr>
          <p:cNvGrpSpPr/>
          <p:nvPr/>
        </p:nvGrpSpPr>
        <p:grpSpPr>
          <a:xfrm>
            <a:off x="4513794" y="3149413"/>
            <a:ext cx="1177534" cy="1357790"/>
            <a:chOff x="5112286" y="2971800"/>
            <a:chExt cx="1177534" cy="1357790"/>
          </a:xfrm>
        </p:grpSpPr>
        <p:pic>
          <p:nvPicPr>
            <p:cNvPr id="24" name="Picture 23">
              <a:extLst>
                <a:ext uri="{FF2B5EF4-FFF2-40B4-BE49-F238E27FC236}">
                  <a16:creationId xmlns:a16="http://schemas.microsoft.com/office/drawing/2014/main" id="{F4C9B853-F92E-594C-B42A-DECA7BBF44D3}"/>
                </a:ext>
              </a:extLst>
            </p:cNvPr>
            <p:cNvPicPr>
              <a:picLocks noChangeAspect="1"/>
            </p:cNvPicPr>
            <p:nvPr/>
          </p:nvPicPr>
          <p:blipFill>
            <a:blip r:embed="rId6"/>
            <a:srcRect l="20317" t="25140" r="21696" b="26185"/>
            <a:stretch>
              <a:fillRect/>
            </a:stretch>
          </p:blipFill>
          <p:spPr>
            <a:xfrm>
              <a:off x="5112286" y="2971800"/>
              <a:ext cx="1177533" cy="988458"/>
            </a:xfrm>
            <a:prstGeom prst="rect">
              <a:avLst/>
            </a:prstGeom>
          </p:spPr>
        </p:pic>
        <p:sp>
          <p:nvSpPr>
            <p:cNvPr id="35" name="TextBox 34">
              <a:extLst>
                <a:ext uri="{FF2B5EF4-FFF2-40B4-BE49-F238E27FC236}">
                  <a16:creationId xmlns:a16="http://schemas.microsoft.com/office/drawing/2014/main" id="{75497DDF-E4F4-36E3-609B-FB82081526D3}"/>
                </a:ext>
              </a:extLst>
            </p:cNvPr>
            <p:cNvSpPr txBox="1"/>
            <p:nvPr/>
          </p:nvSpPr>
          <p:spPr>
            <a:xfrm>
              <a:off x="5205113" y="3960258"/>
              <a:ext cx="1084707" cy="369332"/>
            </a:xfrm>
            <a:prstGeom prst="rect">
              <a:avLst/>
            </a:prstGeom>
            <a:noFill/>
          </p:spPr>
          <p:txBody>
            <a:bodyPr wrap="square" rtlCol="0">
              <a:spAutoFit/>
            </a:bodyPr>
            <a:lstStyle/>
            <a:p>
              <a:r>
                <a:rPr lang="en-US" dirty="0"/>
                <a:t>Internet</a:t>
              </a:r>
            </a:p>
          </p:txBody>
        </p:sp>
      </p:grpSp>
      <p:cxnSp>
        <p:nvCxnSpPr>
          <p:cNvPr id="39" name="Straight Arrow Connector 38">
            <a:extLst>
              <a:ext uri="{FF2B5EF4-FFF2-40B4-BE49-F238E27FC236}">
                <a16:creationId xmlns:a16="http://schemas.microsoft.com/office/drawing/2014/main" id="{4F6510A8-3959-5933-BEFC-FD52A46D9F8E}"/>
              </a:ext>
            </a:extLst>
          </p:cNvPr>
          <p:cNvCxnSpPr>
            <a:cxnSpLocks/>
            <a:stCxn id="24" idx="3"/>
            <a:endCxn id="26" idx="1"/>
          </p:cNvCxnSpPr>
          <p:nvPr/>
        </p:nvCxnSpPr>
        <p:spPr>
          <a:xfrm>
            <a:off x="5691327" y="3643642"/>
            <a:ext cx="1709358" cy="74153"/>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1" name="Graphic 50" descr="Chat outline">
            <a:extLst>
              <a:ext uri="{FF2B5EF4-FFF2-40B4-BE49-F238E27FC236}">
                <a16:creationId xmlns:a16="http://schemas.microsoft.com/office/drawing/2014/main" id="{0ADC5FBB-BCAC-5A7B-82A6-70C2BFD7E0F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07985" y="4095309"/>
            <a:ext cx="744159" cy="744159"/>
          </a:xfrm>
          <a:prstGeom prst="rect">
            <a:avLst/>
          </a:prstGeom>
        </p:spPr>
      </p:pic>
      <p:sp>
        <p:nvSpPr>
          <p:cNvPr id="60" name="TextBox 59">
            <a:extLst>
              <a:ext uri="{FF2B5EF4-FFF2-40B4-BE49-F238E27FC236}">
                <a16:creationId xmlns:a16="http://schemas.microsoft.com/office/drawing/2014/main" id="{8044C558-C481-773A-5426-14FEB0489560}"/>
              </a:ext>
            </a:extLst>
          </p:cNvPr>
          <p:cNvSpPr txBox="1"/>
          <p:nvPr/>
        </p:nvSpPr>
        <p:spPr>
          <a:xfrm>
            <a:off x="7440850" y="5054117"/>
            <a:ext cx="1783080" cy="646331"/>
          </a:xfrm>
          <a:prstGeom prst="rect">
            <a:avLst/>
          </a:prstGeom>
          <a:noFill/>
        </p:spPr>
        <p:txBody>
          <a:bodyPr wrap="square" rtlCol="0">
            <a:spAutoFit/>
          </a:bodyPr>
          <a:lstStyle/>
          <a:p>
            <a:pPr algn="ctr"/>
            <a:r>
              <a:rPr lang="en-US" dirty="0" err="1"/>
              <a:t>Servidor</a:t>
            </a:r>
            <a:r>
              <a:rPr lang="en-US" dirty="0"/>
              <a:t> de la </a:t>
            </a:r>
            <a:r>
              <a:rPr lang="en-US" dirty="0" err="1"/>
              <a:t>empresa</a:t>
            </a:r>
            <a:r>
              <a:rPr lang="en-US" dirty="0"/>
              <a:t> IA</a:t>
            </a:r>
          </a:p>
        </p:txBody>
      </p:sp>
      <p:pic>
        <p:nvPicPr>
          <p:cNvPr id="63" name="Picture 62">
            <a:extLst>
              <a:ext uri="{FF2B5EF4-FFF2-40B4-BE49-F238E27FC236}">
                <a16:creationId xmlns:a16="http://schemas.microsoft.com/office/drawing/2014/main" id="{1F7EA8D7-9C22-AE31-FFE1-73850F66DC12}"/>
              </a:ext>
            </a:extLst>
          </p:cNvPr>
          <p:cNvPicPr>
            <a:picLocks noChangeAspect="1"/>
          </p:cNvPicPr>
          <p:nvPr/>
        </p:nvPicPr>
        <p:blipFill>
          <a:blip r:embed="rId8"/>
          <a:stretch>
            <a:fillRect/>
          </a:stretch>
        </p:blipFill>
        <p:spPr>
          <a:xfrm>
            <a:off x="10562130" y="3424334"/>
            <a:ext cx="905256" cy="905256"/>
          </a:xfrm>
          <a:prstGeom prst="rect">
            <a:avLst/>
          </a:prstGeom>
        </p:spPr>
      </p:pic>
      <p:cxnSp>
        <p:nvCxnSpPr>
          <p:cNvPr id="64" name="Straight Arrow Connector 63">
            <a:extLst>
              <a:ext uri="{FF2B5EF4-FFF2-40B4-BE49-F238E27FC236}">
                <a16:creationId xmlns:a16="http://schemas.microsoft.com/office/drawing/2014/main" id="{90CF6907-6C73-58F0-DAD3-AA8FDA89E016}"/>
              </a:ext>
            </a:extLst>
          </p:cNvPr>
          <p:cNvCxnSpPr>
            <a:cxnSpLocks/>
            <a:stCxn id="26" idx="3"/>
          </p:cNvCxnSpPr>
          <p:nvPr/>
        </p:nvCxnSpPr>
        <p:spPr>
          <a:xfrm>
            <a:off x="9223930" y="3717795"/>
            <a:ext cx="1338200" cy="48530"/>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C325089C-619B-4155-98A7-05F48A1E565A}"/>
              </a:ext>
            </a:extLst>
          </p:cNvPr>
          <p:cNvSpPr txBox="1"/>
          <p:nvPr/>
        </p:nvSpPr>
        <p:spPr>
          <a:xfrm>
            <a:off x="10103136" y="4322537"/>
            <a:ext cx="1823244" cy="369332"/>
          </a:xfrm>
          <a:prstGeom prst="rect">
            <a:avLst/>
          </a:prstGeom>
          <a:noFill/>
        </p:spPr>
        <p:txBody>
          <a:bodyPr wrap="square">
            <a:spAutoFit/>
          </a:bodyPr>
          <a:lstStyle/>
          <a:p>
            <a:pPr algn="ctr"/>
            <a:r>
              <a:rPr lang="en-US" sz="1800" dirty="0"/>
              <a:t>Base de </a:t>
            </a:r>
            <a:r>
              <a:rPr lang="en-US" sz="1800" dirty="0" err="1"/>
              <a:t>datos</a:t>
            </a:r>
            <a:endParaRPr lang="en-US" dirty="0"/>
          </a:p>
        </p:txBody>
      </p:sp>
      <p:pic>
        <p:nvPicPr>
          <p:cNvPr id="77" name="Graphic 76" descr="Postit Notes 3 with solid fill">
            <a:extLst>
              <a:ext uri="{FF2B5EF4-FFF2-40B4-BE49-F238E27FC236}">
                <a16:creationId xmlns:a16="http://schemas.microsoft.com/office/drawing/2014/main" id="{6601D943-D031-C7DF-7319-79A7BAA39E0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700434" y="3226897"/>
            <a:ext cx="442563" cy="442563"/>
          </a:xfrm>
          <a:prstGeom prst="rect">
            <a:avLst/>
          </a:prstGeom>
        </p:spPr>
      </p:pic>
      <p:pic>
        <p:nvPicPr>
          <p:cNvPr id="84" name="Graphic 83" descr="Chat outline">
            <a:extLst>
              <a:ext uri="{FF2B5EF4-FFF2-40B4-BE49-F238E27FC236}">
                <a16:creationId xmlns:a16="http://schemas.microsoft.com/office/drawing/2014/main" id="{8C02D7BC-C8AF-D406-554B-9FA8117C9BA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19592" y="3876962"/>
            <a:ext cx="680445" cy="680445"/>
          </a:xfrm>
          <a:prstGeom prst="rect">
            <a:avLst/>
          </a:prstGeom>
        </p:spPr>
      </p:pic>
      <p:cxnSp>
        <p:nvCxnSpPr>
          <p:cNvPr id="85" name="Straight Arrow Connector 84">
            <a:extLst>
              <a:ext uri="{FF2B5EF4-FFF2-40B4-BE49-F238E27FC236}">
                <a16:creationId xmlns:a16="http://schemas.microsoft.com/office/drawing/2014/main" id="{32D2D01B-AD92-9619-BF82-C0DA32E524D4}"/>
              </a:ext>
            </a:extLst>
          </p:cNvPr>
          <p:cNvCxnSpPr>
            <a:cxnSpLocks/>
          </p:cNvCxnSpPr>
          <p:nvPr/>
        </p:nvCxnSpPr>
        <p:spPr>
          <a:xfrm flipH="1" flipV="1">
            <a:off x="9223930" y="3908749"/>
            <a:ext cx="1338200" cy="35439"/>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E81D8624-0852-C42C-5ADF-E24CCB78DB0B}"/>
              </a:ext>
            </a:extLst>
          </p:cNvPr>
          <p:cNvCxnSpPr>
            <a:cxnSpLocks/>
          </p:cNvCxnSpPr>
          <p:nvPr/>
        </p:nvCxnSpPr>
        <p:spPr>
          <a:xfrm flipH="1" flipV="1">
            <a:off x="5605272" y="3828818"/>
            <a:ext cx="1724607" cy="90590"/>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47BEC714-6AE8-6591-6F60-3D3F28D0DA48}"/>
              </a:ext>
            </a:extLst>
          </p:cNvPr>
          <p:cNvCxnSpPr>
            <a:cxnSpLocks/>
          </p:cNvCxnSpPr>
          <p:nvPr/>
        </p:nvCxnSpPr>
        <p:spPr>
          <a:xfrm flipH="1">
            <a:off x="2960445" y="3876962"/>
            <a:ext cx="1646176" cy="441041"/>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97" name="Graphic 96" descr="Questions outline">
            <a:extLst>
              <a:ext uri="{FF2B5EF4-FFF2-40B4-BE49-F238E27FC236}">
                <a16:creationId xmlns:a16="http://schemas.microsoft.com/office/drawing/2014/main" id="{7E5924C0-1724-3DED-56D1-33ABFF448EB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03287" y="2851925"/>
            <a:ext cx="914400" cy="914400"/>
          </a:xfrm>
          <a:prstGeom prst="rect">
            <a:avLst/>
          </a:prstGeom>
        </p:spPr>
      </p:pic>
      <p:pic>
        <p:nvPicPr>
          <p:cNvPr id="99" name="Graphic 98" descr="Questions outline">
            <a:extLst>
              <a:ext uri="{FF2B5EF4-FFF2-40B4-BE49-F238E27FC236}">
                <a16:creationId xmlns:a16="http://schemas.microsoft.com/office/drawing/2014/main" id="{26892C66-2168-0CA6-AB45-22A49D51E47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096000" y="2638709"/>
            <a:ext cx="914400" cy="9144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EXTRA · A DÓNDE VAN LOS DATOS CON LA IA</a:t>
            </a:r>
            <a:endParaRPr lang="es-CO" sz="140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Gratis vs empresarial</a:t>
            </a:r>
            <a:endParaRPr lang="es-CO" sz="3600" noProof="0" dirty="0"/>
          </a:p>
        </p:txBody>
      </p:sp>
      <p:sp>
        <p:nvSpPr>
          <p:cNvPr id="4" name="Shape 2"/>
          <p:cNvSpPr/>
          <p:nvPr/>
        </p:nvSpPr>
        <p:spPr>
          <a:xfrm>
            <a:off x="819150" y="2129631"/>
            <a:ext cx="5181600" cy="3121819"/>
          </a:xfrm>
          <a:prstGeom prst="roundRect">
            <a:avLst>
              <a:gd name="adj" fmla="val 4678"/>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130300" y="24407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6B7085"/>
                </a:solidFill>
                <a:latin typeface="Nunito Sans" pitchFamily="34" charset="0"/>
                <a:ea typeface="Nunito Sans" pitchFamily="34" charset="-122"/>
                <a:cs typeface="Nunito Sans" pitchFamily="34" charset="-120"/>
              </a:rPr>
              <a:t>CUENTA GRATIS O PERSONAL</a:t>
            </a:r>
            <a:endParaRPr lang="es-CO" sz="1300" noProof="0" dirty="0"/>
          </a:p>
        </p:txBody>
      </p:sp>
      <p:sp>
        <p:nvSpPr>
          <p:cNvPr id="6" name="Text 4"/>
          <p:cNvSpPr/>
          <p:nvPr/>
        </p:nvSpPr>
        <p:spPr>
          <a:xfrm>
            <a:off x="1168909" y="2798862"/>
            <a:ext cx="4582668" cy="2074890"/>
          </a:xfrm>
          <a:prstGeom prst="rect">
            <a:avLst/>
          </a:prstGeom>
          <a:noFill/>
          <a:ln/>
        </p:spPr>
        <p:txBody>
          <a:bodyPr wrap="square" lIns="0" tIns="0" rIns="0" bIns="0" rtlCol="0" anchor="t">
            <a:normAutofit/>
          </a:bodyPr>
          <a:lstStyle/>
          <a:p>
            <a:pPr marL="342900" indent="-342900" algn="l">
              <a:lnSpc>
                <a:spcPts val="2560"/>
              </a:lnSpc>
              <a:buSzPct val="100000"/>
              <a:buFont typeface="Wingdings" panose="05000000000000000000" pitchFamily="2" charset="2"/>
              <a:buChar char="§"/>
            </a:pPr>
            <a:r>
              <a:rPr lang="es-CO" noProof="0" dirty="0">
                <a:solidFill>
                  <a:schemeClr val="bg2">
                    <a:lumMod val="10000"/>
                  </a:schemeClr>
                </a:solidFill>
                <a:latin typeface="Nunito Sans" pitchFamily="34" charset="0"/>
                <a:ea typeface="Nunito Sans" pitchFamily="34" charset="-122"/>
                <a:cs typeface="Nunito Sans" pitchFamily="34" charset="-120"/>
              </a:rPr>
              <a:t>Tus chats pueden usarse para entrenar la IA, por lo que puede responder a preguntas de otras personas con información que tu le diste.</a:t>
            </a:r>
            <a:endParaRPr lang="es-CO" noProof="0" dirty="0">
              <a:solidFill>
                <a:schemeClr val="bg2">
                  <a:lumMod val="10000"/>
                </a:schemeClr>
              </a:solidFill>
            </a:endParaRPr>
          </a:p>
        </p:txBody>
      </p:sp>
      <p:sp>
        <p:nvSpPr>
          <p:cNvPr id="8" name="Shape 6"/>
          <p:cNvSpPr/>
          <p:nvPr/>
        </p:nvSpPr>
        <p:spPr>
          <a:xfrm>
            <a:off x="6210300" y="2123281"/>
            <a:ext cx="5168900" cy="3134519"/>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4280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PLAN EMPRESARIAL</a:t>
            </a:r>
            <a:endParaRPr lang="es-CO" sz="1300" noProof="0" dirty="0"/>
          </a:p>
        </p:txBody>
      </p:sp>
      <p:sp>
        <p:nvSpPr>
          <p:cNvPr id="10" name="Text 8"/>
          <p:cNvSpPr/>
          <p:nvPr/>
        </p:nvSpPr>
        <p:spPr>
          <a:xfrm>
            <a:off x="6553709" y="2786162"/>
            <a:ext cx="4373372" cy="1246342"/>
          </a:xfrm>
          <a:prstGeom prst="rect">
            <a:avLst/>
          </a:prstGeom>
          <a:noFill/>
          <a:ln/>
        </p:spPr>
        <p:txBody>
          <a:bodyPr wrap="square" lIns="0" tIns="0" rIns="0" bIns="0" rtlCol="0" anchor="t">
            <a:noAutofit/>
          </a:bodyPr>
          <a:lstStyle/>
          <a:p>
            <a:pPr marL="285750" indent="-285750" algn="l">
              <a:lnSpc>
                <a:spcPts val="2560"/>
              </a:lnSpc>
              <a:buSzPct val="100000"/>
              <a:buFont typeface="Wingdings" panose="05000000000000000000" pitchFamily="2" charset="2"/>
              <a:buChar char="§"/>
            </a:pPr>
            <a:r>
              <a:rPr lang="es-CO" noProof="0" dirty="0">
                <a:solidFill>
                  <a:srgbClr val="1C2142"/>
                </a:solidFill>
                <a:latin typeface="Nunito Sans" pitchFamily="34" charset="0"/>
                <a:ea typeface="Nunito Sans" pitchFamily="34" charset="-122"/>
                <a:cs typeface="Nunito Sans" pitchFamily="34" charset="-120"/>
              </a:rPr>
              <a:t>No se usa para entrenar la IA</a:t>
            </a:r>
            <a:endParaRPr lang="es-CO" noProof="0" dirty="0"/>
          </a:p>
          <a:p>
            <a:pPr marL="285750" indent="-285750" algn="l">
              <a:lnSpc>
                <a:spcPts val="2560"/>
              </a:lnSpc>
              <a:buSzPct val="100000"/>
              <a:buFont typeface="Wingdings" panose="05000000000000000000" pitchFamily="2" charset="2"/>
              <a:buChar char="§"/>
            </a:pPr>
            <a:r>
              <a:rPr lang="es-CO" noProof="0" dirty="0">
                <a:solidFill>
                  <a:srgbClr val="1C2142"/>
                </a:solidFill>
                <a:latin typeface="Nunito Sans" pitchFamily="34" charset="0"/>
                <a:ea typeface="Nunito Sans" pitchFamily="34" charset="-122"/>
                <a:cs typeface="Nunito Sans" pitchFamily="34" charset="-120"/>
              </a:rPr>
              <a:t>La empresa decide cuánto tiempo se guarda la información</a:t>
            </a:r>
            <a:endParaRPr lang="es-CO" noProof="0" dirty="0"/>
          </a:p>
          <a:p>
            <a:pPr marL="285750" indent="-285750" algn="l">
              <a:lnSpc>
                <a:spcPts val="2560"/>
              </a:lnSpc>
              <a:buSzPct val="100000"/>
              <a:buFont typeface="Wingdings" panose="05000000000000000000" pitchFamily="2" charset="2"/>
              <a:buChar char="§"/>
            </a:pPr>
            <a:r>
              <a:rPr lang="es-CO" noProof="0" dirty="0">
                <a:solidFill>
                  <a:srgbClr val="1C2142"/>
                </a:solidFill>
                <a:latin typeface="Nunito Sans" pitchFamily="34" charset="0"/>
                <a:ea typeface="Nunito Sans" pitchFamily="34" charset="-122"/>
                <a:cs typeface="Nunito Sans" pitchFamily="34" charset="-120"/>
              </a:rPr>
              <a:t>Hay contrato y responsables</a:t>
            </a:r>
            <a:endParaRPr lang="es-CO" noProof="0" dirty="0"/>
          </a:p>
        </p:txBody>
      </p:sp>
      <p:sp>
        <p:nvSpPr>
          <p:cNvPr id="11" name="Text 9"/>
          <p:cNvSpPr/>
          <p:nvPr/>
        </p:nvSpPr>
        <p:spPr>
          <a:xfrm>
            <a:off x="6515100" y="4603281"/>
            <a:ext cx="4696079" cy="540941"/>
          </a:xfrm>
          <a:prstGeom prst="rect">
            <a:avLst/>
          </a:prstGeom>
          <a:noFill/>
          <a:ln/>
        </p:spPr>
        <p:txBody>
          <a:bodyPr wrap="square" lIns="0" tIns="0" rIns="0" bIns="0" rtlCol="0" anchor="t">
            <a:noAutofit/>
          </a:bodyPr>
          <a:lstStyle/>
          <a:p>
            <a:pPr marL="0" indent="0" algn="l">
              <a:lnSpc>
                <a:spcPct val="120000"/>
              </a:lnSpc>
              <a:buNone/>
            </a:pPr>
            <a:r>
              <a:rPr lang="es-CO" sz="1400" noProof="0" dirty="0">
                <a:solidFill>
                  <a:srgbClr val="4A5070"/>
                </a:solidFill>
                <a:latin typeface="Nunito Sans" pitchFamily="34" charset="0"/>
                <a:ea typeface="Nunito Sans" pitchFamily="34" charset="-122"/>
                <a:cs typeface="Nunito Sans" pitchFamily="34" charset="-120"/>
              </a:rPr>
              <a:t>Cada proveedor tiene sus reglas y cambian con el tiempo.</a:t>
            </a:r>
            <a:endParaRPr lang="es-CO" sz="1400" noProof="0" dirty="0"/>
          </a:p>
        </p:txBody>
      </p:sp>
      <p:pic>
        <p:nvPicPr>
          <p:cNvPr id="12" name="Image 0" descr="Trust"/>
          <p:cNvPicPr>
            <a:picLocks noChangeAspect="1"/>
          </p:cNvPicPr>
          <p:nvPr/>
        </p:nvPicPr>
        <p:blipFill>
          <a:blip r:embed="rId3"/>
          <a:srcRect/>
          <a:stretch/>
        </p:blipFill>
        <p:spPr>
          <a:xfrm>
            <a:off x="812800" y="5537200"/>
            <a:ext cx="304800" cy="304800"/>
          </a:xfrm>
          <a:prstGeom prst="rect">
            <a:avLst/>
          </a:prstGeom>
        </p:spPr>
      </p:pic>
      <p:sp>
        <p:nvSpPr>
          <p:cNvPr id="13" name="Text 10"/>
          <p:cNvSpPr/>
          <p:nvPr/>
        </p:nvSpPr>
        <p:spPr>
          <a:xfrm>
            <a:off x="1244600" y="5547320"/>
            <a:ext cx="7965400" cy="309860"/>
          </a:xfrm>
          <a:prstGeom prst="rect">
            <a:avLst/>
          </a:prstGeom>
          <a:noFill/>
          <a:ln/>
        </p:spPr>
        <p:txBody>
          <a:bodyPr wrap="square" lIns="0" tIns="0" rIns="0" bIns="0" rtlCol="0" anchor="t">
            <a:normAutofit/>
          </a:bodyPr>
          <a:lstStyle/>
          <a:p>
            <a:pPr marL="0" indent="0" algn="l">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Para </a:t>
            </a:r>
            <a:r>
              <a:rPr lang="es-CO" sz="1600" dirty="0">
                <a:solidFill>
                  <a:srgbClr val="1C2142"/>
                </a:solidFill>
                <a:latin typeface="Nunito Sans" pitchFamily="34" charset="0"/>
                <a:ea typeface="Nunito Sans" pitchFamily="34" charset="-122"/>
                <a:cs typeface="Nunito Sans" pitchFamily="34" charset="-120"/>
              </a:rPr>
              <a:t>información delicada, anonimízala y realiza preguntas genéricas.</a:t>
            </a:r>
            <a:endParaRPr lang="es-CO" sz="1600" noProof="0" dirty="0"/>
          </a:p>
        </p:txBody>
      </p:sp>
      <p:pic>
        <p:nvPicPr>
          <p:cNvPr id="14"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5" name="Text 11"/>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16</a:t>
            </a:r>
            <a:endParaRPr lang="es-CO" sz="120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1">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255000" y="0"/>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03</a:t>
            </a:r>
            <a:endParaRPr lang="es-CO" sz="9000" noProof="0" dirty="0"/>
          </a:p>
        </p:txBody>
      </p:sp>
      <p:sp>
        <p:nvSpPr>
          <p:cNvPr id="4" name="Text 2"/>
          <p:cNvSpPr>
            <a:spLocks noGrp="1"/>
          </p:cNvSpPr>
          <p:nvPr>
            <p:ph type="title"/>
          </p:nvPr>
        </p:nvSpPr>
        <p:spPr>
          <a:xfrm>
            <a:off x="812800" y="4099719"/>
            <a:ext cx="8502650" cy="1412081"/>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Si pasa algo, repórtalo.</a:t>
            </a:r>
            <a:endParaRPr lang="es-CO" sz="5200" noProof="0" dirty="0"/>
          </a:p>
        </p:txBody>
      </p:sp>
      <p:sp>
        <p:nvSpPr>
          <p:cNvPr id="5" name="Text 3"/>
          <p:cNvSpPr/>
          <p:nvPr/>
        </p:nvSpPr>
        <p:spPr>
          <a:xfrm>
            <a:off x="812800" y="5011928"/>
            <a:ext cx="8502650" cy="381000"/>
          </a:xfrm>
          <a:prstGeom prst="rect">
            <a:avLst/>
          </a:prstGeom>
          <a:noFill/>
          <a:ln/>
        </p:spPr>
        <p:txBody>
          <a:bodyPr wrap="square" lIns="0" tIns="0" rIns="0" bIns="0" rtlCol="0" anchor="t">
            <a:normAutofit/>
          </a:bodyPr>
          <a:lstStyle/>
          <a:p>
            <a:pPr marL="0" indent="0" algn="l">
              <a:lnSpc>
                <a:spcPts val="2800"/>
              </a:lnSpc>
              <a:buNone/>
            </a:pPr>
            <a:r>
              <a:rPr lang="es-CO" sz="2000" dirty="0">
                <a:solidFill>
                  <a:srgbClr val="C7CCE8"/>
                </a:solidFill>
                <a:latin typeface="Nunito Sans" pitchFamily="34" charset="0"/>
                <a:ea typeface="Nunito Sans" pitchFamily="34" charset="-122"/>
                <a:cs typeface="Nunito Sans" pitchFamily="34" charset="-120"/>
              </a:rPr>
              <a:t>El problema no está en ser engañado, el problema es no reportarlo</a:t>
            </a:r>
            <a:r>
              <a:rPr lang="es-CO" sz="2000" noProof="0" dirty="0">
                <a:solidFill>
                  <a:srgbClr val="C7CCE8"/>
                </a:solidFill>
                <a:latin typeface="Nunito Sans" pitchFamily="34" charset="0"/>
                <a:ea typeface="Nunito Sans" pitchFamily="34" charset="-122"/>
                <a:cs typeface="Nunito Sans" pitchFamily="34" charset="-120"/>
              </a:rPr>
              <a:t>.</a:t>
            </a:r>
            <a:endParaRPr lang="es-CO" sz="2000" noProof="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3">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3 </a:t>
            </a:r>
            <a:r>
              <a:rPr lang="es-CO" sz="1400" b="1" kern="0" spc="150" dirty="0">
                <a:solidFill>
                  <a:srgbClr val="2F3EBF"/>
                </a:solidFill>
                <a:latin typeface="Nunito Sans" pitchFamily="34" charset="0"/>
              </a:rPr>
              <a:t>· SI PASA ALGO, REPÓRTALO.</a:t>
            </a:r>
          </a:p>
        </p:txBody>
      </p:sp>
      <p:sp>
        <p:nvSpPr>
          <p:cNvPr id="3" name="Text 1"/>
          <p:cNvSpPr>
            <a:spLocks noGrp="1"/>
          </p:cNvSpPr>
          <p:nvPr>
            <p:ph type="title"/>
          </p:nvPr>
        </p:nvSpPr>
        <p:spPr>
          <a:xfrm>
            <a:off x="812800" y="1341041"/>
            <a:ext cx="10883392" cy="1031081"/>
          </a:xfrm>
          <a:prstGeom prst="rect">
            <a:avLst/>
          </a:prstGeom>
          <a:noFill/>
          <a:ln/>
        </p:spPr>
        <p:txBody>
          <a:bodyPr wrap="square" lIns="0" tIns="0" rIns="0" bIns="0" rtlCol="0" anchor="t">
            <a:normAutofit/>
          </a:bodyPr>
          <a:lstStyle/>
          <a:p>
            <a:pPr marL="0" indent="0" algn="l">
              <a:lnSpc>
                <a:spcPts val="3960"/>
              </a:lnSpc>
              <a:buNone/>
            </a:pPr>
            <a:r>
              <a:rPr lang="es-CO" dirty="0">
                <a:latin typeface="Fraunces" pitchFamily="18" charset="0"/>
                <a:ea typeface="Fraunces" pitchFamily="18" charset="-122"/>
                <a:cs typeface="Fraunces" pitchFamily="18" charset="-120"/>
              </a:rPr>
              <a:t>Ocultar no ayuda a nadie</a:t>
            </a:r>
            <a:endParaRPr lang="es-CO" sz="3600" noProof="0" dirty="0"/>
          </a:p>
        </p:txBody>
      </p:sp>
      <p:grpSp>
        <p:nvGrpSpPr>
          <p:cNvPr id="15" name="Group 14">
            <a:extLst>
              <a:ext uri="{FF2B5EF4-FFF2-40B4-BE49-F238E27FC236}">
                <a16:creationId xmlns:a16="http://schemas.microsoft.com/office/drawing/2014/main" id="{B337E316-C446-B170-E789-058F1FD42420}"/>
              </a:ext>
            </a:extLst>
          </p:cNvPr>
          <p:cNvGrpSpPr/>
          <p:nvPr/>
        </p:nvGrpSpPr>
        <p:grpSpPr>
          <a:xfrm>
            <a:off x="1190500" y="2368267"/>
            <a:ext cx="4502658" cy="2560638"/>
            <a:chOff x="887858" y="2647458"/>
            <a:chExt cx="4502658" cy="2560638"/>
          </a:xfrm>
        </p:grpSpPr>
        <p:sp>
          <p:nvSpPr>
            <p:cNvPr id="4" name="Shape 2"/>
            <p:cNvSpPr/>
            <p:nvPr/>
          </p:nvSpPr>
          <p:spPr>
            <a:xfrm>
              <a:off x="887858" y="2647458"/>
              <a:ext cx="4502658" cy="2560638"/>
            </a:xfrm>
            <a:prstGeom prst="roundRect">
              <a:avLst>
                <a:gd name="adj" fmla="val 5704"/>
              </a:avLst>
            </a:prstGeom>
            <a:solidFill>
              <a:srgbClr val="FCFBF8"/>
            </a:solidFill>
            <a:ln w="12700">
              <a:solidFill>
                <a:srgbClr val="DDE0EA"/>
              </a:solidFill>
              <a:prstDash val="solid"/>
            </a:ln>
          </p:spPr>
          <p:txBody>
            <a:bodyPr/>
            <a:lstStyle/>
            <a:p>
              <a:endParaRPr lang="es-CO" noProof="0" dirty="0"/>
            </a:p>
          </p:txBody>
        </p:sp>
        <p:pic>
          <p:nvPicPr>
            <p:cNvPr id="5" name="Image 0" descr="Lightning"/>
            <p:cNvPicPr>
              <a:picLocks noChangeAspect="1"/>
            </p:cNvPicPr>
            <p:nvPr/>
          </p:nvPicPr>
          <p:blipFill>
            <a:blip r:embed="rId3"/>
            <a:srcRect/>
            <a:stretch/>
          </p:blipFill>
          <p:spPr>
            <a:xfrm>
              <a:off x="1130301" y="2842022"/>
              <a:ext cx="355600" cy="355600"/>
            </a:xfrm>
            <a:prstGeom prst="rect">
              <a:avLst/>
            </a:prstGeom>
          </p:spPr>
        </p:pic>
        <p:sp>
          <p:nvSpPr>
            <p:cNvPr id="7" name="Text 4"/>
            <p:cNvSpPr/>
            <p:nvPr/>
          </p:nvSpPr>
          <p:spPr>
            <a:xfrm>
              <a:off x="1130301" y="3858022"/>
              <a:ext cx="4017772" cy="909141"/>
            </a:xfrm>
            <a:prstGeom prst="rect">
              <a:avLst/>
            </a:prstGeom>
            <a:noFill/>
            <a:ln/>
          </p:spPr>
          <p:txBody>
            <a:bodyPr wrap="square" lIns="0" tIns="0" rIns="0" bIns="0" rtlCol="0" anchor="t">
              <a:normAutofit/>
            </a:bodyPr>
            <a:lstStyle/>
            <a:p>
              <a:pPr marL="0" indent="0" algn="l">
                <a:lnSpc>
                  <a:spcPts val="2320"/>
                </a:lnSpc>
                <a:buNone/>
              </a:pPr>
              <a:r>
                <a:rPr lang="es-CO" sz="1600" dirty="0">
                  <a:solidFill>
                    <a:srgbClr val="4A5070"/>
                  </a:solidFill>
                  <a:latin typeface="Nunito Sans" pitchFamily="34" charset="0"/>
                </a:rPr>
                <a:t>Lo más valioso en una situación de riesgo es conocer la situación y poder actuar lo más rápido posible.</a:t>
              </a:r>
              <a:endParaRPr lang="es-CO" sz="1600" noProof="0" dirty="0"/>
            </a:p>
          </p:txBody>
        </p:sp>
      </p:grpSp>
      <p:grpSp>
        <p:nvGrpSpPr>
          <p:cNvPr id="16" name="Group 15">
            <a:extLst>
              <a:ext uri="{FF2B5EF4-FFF2-40B4-BE49-F238E27FC236}">
                <a16:creationId xmlns:a16="http://schemas.microsoft.com/office/drawing/2014/main" id="{3E1E7095-6992-6893-8C72-60039EFDFC5B}"/>
              </a:ext>
            </a:extLst>
          </p:cNvPr>
          <p:cNvGrpSpPr/>
          <p:nvPr/>
        </p:nvGrpSpPr>
        <p:grpSpPr>
          <a:xfrm>
            <a:off x="6144562" y="2337405"/>
            <a:ext cx="5000879" cy="2573338"/>
            <a:chOff x="6210300" y="2626122"/>
            <a:chExt cx="5000879" cy="2573338"/>
          </a:xfrm>
        </p:grpSpPr>
        <p:sp>
          <p:nvSpPr>
            <p:cNvPr id="8" name="Shape 5"/>
            <p:cNvSpPr/>
            <p:nvPr/>
          </p:nvSpPr>
          <p:spPr>
            <a:xfrm>
              <a:off x="6210300" y="2626122"/>
              <a:ext cx="4415029" cy="2573338"/>
            </a:xfrm>
            <a:prstGeom prst="roundRect">
              <a:avLst>
                <a:gd name="adj" fmla="val 5922"/>
              </a:avLst>
            </a:prstGeom>
            <a:solidFill>
              <a:srgbClr val="E9ECF4"/>
            </a:solidFill>
            <a:ln/>
          </p:spPr>
          <p:txBody>
            <a:bodyPr/>
            <a:lstStyle/>
            <a:p>
              <a:endParaRPr lang="es-CO" noProof="0" dirty="0"/>
            </a:p>
          </p:txBody>
        </p:sp>
        <p:pic>
          <p:nvPicPr>
            <p:cNvPr id="9" name="Image 1" descr="Home"/>
            <p:cNvPicPr>
              <a:picLocks noChangeAspect="1"/>
            </p:cNvPicPr>
            <p:nvPr/>
          </p:nvPicPr>
          <p:blipFill>
            <a:blip r:embed="rId4"/>
            <a:srcRect/>
            <a:stretch/>
          </p:blipFill>
          <p:spPr>
            <a:xfrm>
              <a:off x="6515100" y="2930922"/>
              <a:ext cx="355600" cy="355600"/>
            </a:xfrm>
            <a:prstGeom prst="rect">
              <a:avLst/>
            </a:prstGeom>
          </p:spPr>
        </p:pic>
        <p:sp>
          <p:nvSpPr>
            <p:cNvPr id="10" name="Text 6"/>
            <p:cNvSpPr/>
            <p:nvPr/>
          </p:nvSpPr>
          <p:spPr>
            <a:xfrm>
              <a:off x="6515100" y="3372248"/>
              <a:ext cx="4696079"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Para ti</a:t>
              </a:r>
              <a:endParaRPr lang="es-CO" sz="2000" noProof="0" dirty="0"/>
            </a:p>
          </p:txBody>
        </p:sp>
        <p:sp>
          <p:nvSpPr>
            <p:cNvPr id="11" name="Text 7"/>
            <p:cNvSpPr/>
            <p:nvPr/>
          </p:nvSpPr>
          <p:spPr>
            <a:xfrm>
              <a:off x="6515101" y="3845322"/>
              <a:ext cx="4110228" cy="90914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1C2142"/>
                  </a:solidFill>
                  <a:latin typeface="Nunito Sans" pitchFamily="34" charset="0"/>
                  <a:ea typeface="Nunito Sans" pitchFamily="34" charset="-122"/>
                  <a:cs typeface="Nunito Sans" pitchFamily="34" charset="-120"/>
                </a:rPr>
                <a:t>Reportar te libera del estrés y pone la situación en manos del equipo que está entrenado para afrontarla.</a:t>
              </a:r>
              <a:endParaRPr lang="es-CO" sz="1600" noProof="0" dirty="0"/>
            </a:p>
          </p:txBody>
        </p:sp>
      </p:grpSp>
      <p:sp>
        <p:nvSpPr>
          <p:cNvPr id="12" name="Text 8"/>
          <p:cNvSpPr/>
          <p:nvPr/>
        </p:nvSpPr>
        <p:spPr>
          <a:xfrm>
            <a:off x="1121792" y="5348287"/>
            <a:ext cx="10883392" cy="388541"/>
          </a:xfrm>
          <a:prstGeom prst="rect">
            <a:avLst/>
          </a:prstGeom>
          <a:noFill/>
          <a:ln/>
        </p:spPr>
        <p:txBody>
          <a:bodyPr wrap="square" lIns="0" tIns="0" rIns="0" bIns="0" rtlCol="0" anchor="t">
            <a:normAutofit fontScale="92500"/>
          </a:bodyPr>
          <a:lstStyle/>
          <a:p>
            <a:pPr marL="0" indent="0" algn="l">
              <a:lnSpc>
                <a:spcPts val="2860"/>
              </a:lnSpc>
              <a:buNone/>
            </a:pPr>
            <a:r>
              <a:rPr lang="es-CO" sz="2200" dirty="0">
                <a:solidFill>
                  <a:srgbClr val="1C2142"/>
                </a:solidFill>
                <a:latin typeface="Fraunces" pitchFamily="18" charset="0"/>
              </a:rPr>
              <a:t>Cualquiera puede ser engañado, pero ocultarlo es una elección y trae consecuencias.</a:t>
            </a:r>
            <a:endParaRPr lang="es-CO" sz="2200" noProof="0" dirty="0"/>
          </a:p>
        </p:txBody>
      </p:sp>
      <p:pic>
        <p:nvPicPr>
          <p:cNvPr id="13" name="Image 2" descr="Pralogy"/>
          <p:cNvPicPr>
            <a:picLocks noChangeAspect="1"/>
          </p:cNvPicPr>
          <p:nvPr/>
        </p:nvPicPr>
        <p:blipFill>
          <a:blip r:embed="rId5"/>
          <a:srcRect l="-62" r="-62"/>
          <a:stretch/>
        </p:blipFill>
        <p:spPr>
          <a:xfrm>
            <a:off x="812800" y="6273800"/>
            <a:ext cx="1111250" cy="228600"/>
          </a:xfrm>
          <a:prstGeom prst="rect">
            <a:avLst/>
          </a:prstGeom>
        </p:spPr>
      </p:pic>
      <p:sp>
        <p:nvSpPr>
          <p:cNvPr id="14" name="Text 9"/>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18</a:t>
            </a:r>
            <a:endParaRPr lang="es-CO" sz="1200" noProof="0" dirty="0"/>
          </a:p>
        </p:txBody>
      </p:sp>
      <p:sp>
        <p:nvSpPr>
          <p:cNvPr id="6" name="Text 3"/>
          <p:cNvSpPr/>
          <p:nvPr/>
        </p:nvSpPr>
        <p:spPr>
          <a:xfrm>
            <a:off x="1399921" y="3163500"/>
            <a:ext cx="4696079"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Para la empresa</a:t>
            </a:r>
            <a:endParaRPr lang="es-CO" sz="200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3 </a:t>
            </a:r>
            <a:r>
              <a:rPr lang="es-CO" sz="1400" b="1" kern="0" spc="150" dirty="0">
                <a:solidFill>
                  <a:srgbClr val="2F3EBF"/>
                </a:solidFill>
                <a:latin typeface="Nunito Sans" pitchFamily="34" charset="0"/>
              </a:rPr>
              <a:t>· SI PASA ALGO, REPÓRTALO.</a:t>
            </a:r>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Qué pasa cuando reportas un incidente</a:t>
            </a:r>
            <a:endParaRPr lang="es-CO" sz="3600" noProof="0" dirty="0"/>
          </a:p>
        </p:txBody>
      </p:sp>
      <p:grpSp>
        <p:nvGrpSpPr>
          <p:cNvPr id="21" name="Group 20">
            <a:extLst>
              <a:ext uri="{FF2B5EF4-FFF2-40B4-BE49-F238E27FC236}">
                <a16:creationId xmlns:a16="http://schemas.microsoft.com/office/drawing/2014/main" id="{CD11F63B-2A4E-08DB-0BEE-ED91EC3E27F1}"/>
              </a:ext>
            </a:extLst>
          </p:cNvPr>
          <p:cNvGrpSpPr/>
          <p:nvPr/>
        </p:nvGrpSpPr>
        <p:grpSpPr>
          <a:xfrm>
            <a:off x="241728" y="2311803"/>
            <a:ext cx="2864987" cy="2981549"/>
            <a:chOff x="819150" y="2483743"/>
            <a:chExt cx="3077567" cy="2416175"/>
          </a:xfrm>
        </p:grpSpPr>
        <p:sp>
          <p:nvSpPr>
            <p:cNvPr id="4" name="Shape 2"/>
            <p:cNvSpPr/>
            <p:nvPr/>
          </p:nvSpPr>
          <p:spPr>
            <a:xfrm>
              <a:off x="819150" y="2483743"/>
              <a:ext cx="3077567" cy="2416175"/>
            </a:xfrm>
            <a:prstGeom prst="roundRect">
              <a:avLst>
                <a:gd name="adj" fmla="val 6045"/>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093470" y="2737035"/>
              <a:ext cx="2528925" cy="431800"/>
            </a:xfrm>
            <a:prstGeom prst="rect">
              <a:avLst/>
            </a:prstGeom>
            <a:noFill/>
            <a:ln/>
          </p:spPr>
          <p:txBody>
            <a:bodyPr wrap="square" lIns="0" tIns="0" rIns="0" bIns="0" rtlCol="0" anchor="t">
              <a:normAutofit/>
            </a:bodyPr>
            <a:lstStyle/>
            <a:p>
              <a:pPr marL="0" indent="0" algn="l">
                <a:lnSpc>
                  <a:spcPts val="3200"/>
                </a:lnSpc>
                <a:buNone/>
              </a:pPr>
              <a:r>
                <a:rPr lang="es-CO" sz="3200" noProof="0" dirty="0">
                  <a:solidFill>
                    <a:srgbClr val="2F3EBF"/>
                  </a:solidFill>
                  <a:latin typeface="Fraunces" pitchFamily="18" charset="0"/>
                  <a:ea typeface="Fraunces" pitchFamily="18" charset="-122"/>
                  <a:cs typeface="Fraunces" pitchFamily="18" charset="-120"/>
                </a:rPr>
                <a:t>1</a:t>
              </a:r>
              <a:endParaRPr lang="es-CO" sz="3200" noProof="0" dirty="0"/>
            </a:p>
          </p:txBody>
        </p:sp>
        <p:sp>
          <p:nvSpPr>
            <p:cNvPr id="6" name="Text 4"/>
            <p:cNvSpPr/>
            <p:nvPr/>
          </p:nvSpPr>
          <p:spPr>
            <a:xfrm>
              <a:off x="1130300" y="3328293"/>
              <a:ext cx="2528925"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Preparación</a:t>
              </a:r>
              <a:endParaRPr lang="es-CO" sz="2000" noProof="0" dirty="0"/>
            </a:p>
          </p:txBody>
        </p:sp>
        <p:sp>
          <p:nvSpPr>
            <p:cNvPr id="7" name="Text 5"/>
            <p:cNvSpPr/>
            <p:nvPr/>
          </p:nvSpPr>
          <p:spPr>
            <a:xfrm>
              <a:off x="1094711" y="3760094"/>
              <a:ext cx="2674249" cy="845771"/>
            </a:xfrm>
            <a:prstGeom prst="rect">
              <a:avLst/>
            </a:prstGeom>
            <a:noFill/>
            <a:ln/>
          </p:spPr>
          <p:txBody>
            <a:bodyPr wrap="square" lIns="0" tIns="0" rIns="0" bIns="0" rtlCol="0" anchor="t">
              <a:normAutofit/>
            </a:bodyPr>
            <a:lstStyle/>
            <a:p>
              <a:pPr marL="0" indent="0" algn="l">
                <a:lnSpc>
                  <a:spcPts val="2175"/>
                </a:lnSpc>
                <a:buNone/>
              </a:pPr>
              <a:r>
                <a:rPr lang="es-CO" sz="1400" noProof="0" dirty="0">
                  <a:solidFill>
                    <a:srgbClr val="4A5070"/>
                  </a:solidFill>
                  <a:latin typeface="Nunito Sans" pitchFamily="34" charset="0"/>
                  <a:ea typeface="Nunito Sans" pitchFamily="34" charset="-122"/>
                  <a:cs typeface="Nunito Sans" pitchFamily="34" charset="-120"/>
                </a:rPr>
                <a:t>El equipo tiene claros los procesos que se deben seguir en caso de incidentes.</a:t>
              </a:r>
              <a:endParaRPr lang="es-CO" sz="1400" noProof="0" dirty="0"/>
            </a:p>
          </p:txBody>
        </p:sp>
      </p:grpSp>
      <p:grpSp>
        <p:nvGrpSpPr>
          <p:cNvPr id="22" name="Group 21">
            <a:extLst>
              <a:ext uri="{FF2B5EF4-FFF2-40B4-BE49-F238E27FC236}">
                <a16:creationId xmlns:a16="http://schemas.microsoft.com/office/drawing/2014/main" id="{10F63C1E-EA9A-D409-31F5-C68E40B6EC82}"/>
              </a:ext>
            </a:extLst>
          </p:cNvPr>
          <p:cNvGrpSpPr/>
          <p:nvPr/>
        </p:nvGrpSpPr>
        <p:grpSpPr>
          <a:xfrm>
            <a:off x="3216605" y="2301556"/>
            <a:ext cx="2965352" cy="2991796"/>
            <a:chOff x="4569817" y="2621855"/>
            <a:chExt cx="3077666" cy="2139950"/>
          </a:xfrm>
        </p:grpSpPr>
        <p:sp>
          <p:nvSpPr>
            <p:cNvPr id="9" name="Shape 6"/>
            <p:cNvSpPr/>
            <p:nvPr/>
          </p:nvSpPr>
          <p:spPr>
            <a:xfrm>
              <a:off x="4569817" y="2621855"/>
              <a:ext cx="3077666" cy="2139950"/>
            </a:xfrm>
            <a:prstGeom prst="roundRect">
              <a:avLst>
                <a:gd name="adj" fmla="val 6825"/>
              </a:avLst>
            </a:prstGeom>
            <a:solidFill>
              <a:srgbClr val="FCFBF8"/>
            </a:solidFill>
            <a:ln w="12700">
              <a:solidFill>
                <a:srgbClr val="DDE0EA"/>
              </a:solidFill>
              <a:prstDash val="solid"/>
            </a:ln>
          </p:spPr>
          <p:txBody>
            <a:bodyPr/>
            <a:lstStyle/>
            <a:p>
              <a:endParaRPr lang="es-CO" noProof="0" dirty="0"/>
            </a:p>
          </p:txBody>
        </p:sp>
        <p:sp>
          <p:nvSpPr>
            <p:cNvPr id="10" name="Text 7"/>
            <p:cNvSpPr/>
            <p:nvPr/>
          </p:nvSpPr>
          <p:spPr>
            <a:xfrm>
              <a:off x="4880967" y="2852751"/>
              <a:ext cx="2529027" cy="431800"/>
            </a:xfrm>
            <a:prstGeom prst="rect">
              <a:avLst/>
            </a:prstGeom>
            <a:noFill/>
            <a:ln/>
          </p:spPr>
          <p:txBody>
            <a:bodyPr wrap="square" lIns="0" tIns="0" rIns="0" bIns="0" rtlCol="0" anchor="t">
              <a:normAutofit/>
            </a:bodyPr>
            <a:lstStyle/>
            <a:p>
              <a:pPr marL="0" indent="0" algn="l">
                <a:lnSpc>
                  <a:spcPts val="3200"/>
                </a:lnSpc>
                <a:buNone/>
              </a:pPr>
              <a:r>
                <a:rPr lang="es-CO" sz="3200" noProof="0" dirty="0">
                  <a:solidFill>
                    <a:srgbClr val="2F3EBF"/>
                  </a:solidFill>
                  <a:latin typeface="Fraunces" pitchFamily="18" charset="0"/>
                  <a:ea typeface="Fraunces" pitchFamily="18" charset="-122"/>
                  <a:cs typeface="Fraunces" pitchFamily="18" charset="-120"/>
                </a:rPr>
                <a:t>2</a:t>
              </a:r>
              <a:endParaRPr lang="es-CO" sz="3200" noProof="0" dirty="0"/>
            </a:p>
          </p:txBody>
        </p:sp>
        <p:sp>
          <p:nvSpPr>
            <p:cNvPr id="11" name="Text 8"/>
            <p:cNvSpPr/>
            <p:nvPr/>
          </p:nvSpPr>
          <p:spPr>
            <a:xfrm>
              <a:off x="4880967" y="3398575"/>
              <a:ext cx="2529027"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Detección y Análisis</a:t>
              </a:r>
              <a:endParaRPr lang="es-CO" sz="2000" noProof="0" dirty="0"/>
            </a:p>
          </p:txBody>
        </p:sp>
        <p:sp>
          <p:nvSpPr>
            <p:cNvPr id="12" name="Text 9"/>
            <p:cNvSpPr/>
            <p:nvPr/>
          </p:nvSpPr>
          <p:spPr>
            <a:xfrm>
              <a:off x="4880967" y="3791138"/>
              <a:ext cx="2635855" cy="741238"/>
            </a:xfrm>
            <a:prstGeom prst="rect">
              <a:avLst/>
            </a:prstGeom>
            <a:noFill/>
            <a:ln/>
          </p:spPr>
          <p:txBody>
            <a:bodyPr wrap="square" lIns="0" tIns="0" rIns="0" bIns="0" rtlCol="0" anchor="t">
              <a:normAutofit/>
            </a:bodyPr>
            <a:lstStyle/>
            <a:p>
              <a:pPr marL="0" indent="0" algn="l">
                <a:lnSpc>
                  <a:spcPct val="150000"/>
                </a:lnSpc>
                <a:buNone/>
              </a:pPr>
              <a:r>
                <a:rPr lang="es-CO" sz="1300" noProof="0" dirty="0">
                  <a:solidFill>
                    <a:srgbClr val="4A5070"/>
                  </a:solidFill>
                  <a:latin typeface="Nunito Sans" pitchFamily="34" charset="0"/>
                  <a:ea typeface="Nunito Sans" pitchFamily="34" charset="-122"/>
                  <a:cs typeface="Nunito Sans" pitchFamily="34" charset="-120"/>
                </a:rPr>
                <a:t>Se recopila información del incidente y su veracidad para saber la mejor manera de actuar.</a:t>
              </a:r>
              <a:endParaRPr lang="es-CO" sz="1300" noProof="0" dirty="0"/>
            </a:p>
          </p:txBody>
        </p:sp>
      </p:grpSp>
      <p:grpSp>
        <p:nvGrpSpPr>
          <p:cNvPr id="23" name="Group 22">
            <a:extLst>
              <a:ext uri="{FF2B5EF4-FFF2-40B4-BE49-F238E27FC236}">
                <a16:creationId xmlns:a16="http://schemas.microsoft.com/office/drawing/2014/main" id="{FF0BDB5A-6186-9BE1-95D3-DA0B0196CF97}"/>
              </a:ext>
            </a:extLst>
          </p:cNvPr>
          <p:cNvGrpSpPr/>
          <p:nvPr/>
        </p:nvGrpSpPr>
        <p:grpSpPr>
          <a:xfrm>
            <a:off x="9266724" y="2274438"/>
            <a:ext cx="2624979" cy="2991795"/>
            <a:chOff x="8314234" y="2628205"/>
            <a:chExt cx="3064966" cy="2127250"/>
          </a:xfrm>
        </p:grpSpPr>
        <p:sp>
          <p:nvSpPr>
            <p:cNvPr id="14" name="Shape 10"/>
            <p:cNvSpPr/>
            <p:nvPr/>
          </p:nvSpPr>
          <p:spPr>
            <a:xfrm>
              <a:off x="8314234" y="2628205"/>
              <a:ext cx="3064966" cy="2127250"/>
            </a:xfrm>
            <a:prstGeom prst="roundRect">
              <a:avLst>
                <a:gd name="adj" fmla="val 7164"/>
              </a:avLst>
            </a:prstGeom>
            <a:solidFill>
              <a:srgbClr val="E9ECF4"/>
            </a:solidFill>
            <a:ln/>
          </p:spPr>
          <p:txBody>
            <a:bodyPr/>
            <a:lstStyle/>
            <a:p>
              <a:endParaRPr lang="es-CO" noProof="0" dirty="0"/>
            </a:p>
          </p:txBody>
        </p:sp>
        <p:sp>
          <p:nvSpPr>
            <p:cNvPr id="15" name="Text 11"/>
            <p:cNvSpPr/>
            <p:nvPr/>
          </p:nvSpPr>
          <p:spPr>
            <a:xfrm>
              <a:off x="8573013" y="2796544"/>
              <a:ext cx="2529027" cy="431800"/>
            </a:xfrm>
            <a:prstGeom prst="rect">
              <a:avLst/>
            </a:prstGeom>
            <a:noFill/>
            <a:ln/>
          </p:spPr>
          <p:txBody>
            <a:bodyPr wrap="square" lIns="0" tIns="0" rIns="0" bIns="0" rtlCol="0" anchor="t">
              <a:normAutofit/>
            </a:bodyPr>
            <a:lstStyle/>
            <a:p>
              <a:pPr marL="0" indent="0" algn="l">
                <a:lnSpc>
                  <a:spcPts val="3200"/>
                </a:lnSpc>
                <a:buNone/>
              </a:pPr>
              <a:r>
                <a:rPr lang="es-CO" sz="3200" dirty="0">
                  <a:solidFill>
                    <a:srgbClr val="2F3EBF"/>
                  </a:solidFill>
                  <a:latin typeface="Fraunces" pitchFamily="18" charset="0"/>
                </a:rPr>
                <a:t>4</a:t>
              </a:r>
              <a:endParaRPr lang="es-CO" sz="3200" noProof="0" dirty="0"/>
            </a:p>
          </p:txBody>
        </p:sp>
        <p:sp>
          <p:nvSpPr>
            <p:cNvPr id="16" name="Text 12"/>
            <p:cNvSpPr/>
            <p:nvPr/>
          </p:nvSpPr>
          <p:spPr>
            <a:xfrm>
              <a:off x="8621891" y="3372383"/>
              <a:ext cx="2529027"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Aprendizaje</a:t>
              </a:r>
              <a:endParaRPr lang="es-CO" sz="2000" noProof="0" dirty="0"/>
            </a:p>
          </p:txBody>
        </p:sp>
        <p:sp>
          <p:nvSpPr>
            <p:cNvPr id="17" name="Text 13"/>
            <p:cNvSpPr/>
            <p:nvPr/>
          </p:nvSpPr>
          <p:spPr>
            <a:xfrm>
              <a:off x="8524134" y="3691830"/>
              <a:ext cx="2626784" cy="980877"/>
            </a:xfrm>
            <a:prstGeom prst="rect">
              <a:avLst/>
            </a:prstGeom>
            <a:noFill/>
            <a:ln/>
          </p:spPr>
          <p:txBody>
            <a:bodyPr wrap="square" lIns="0" tIns="0" rIns="0" bIns="0" rtlCol="0" anchor="t">
              <a:noAutofit/>
            </a:bodyPr>
            <a:lstStyle/>
            <a:p>
              <a:pPr marL="0" indent="0" algn="l">
                <a:lnSpc>
                  <a:spcPct val="150000"/>
                </a:lnSpc>
                <a:buNone/>
              </a:pPr>
              <a:r>
                <a:rPr lang="es-CO" sz="1300" noProof="0" dirty="0">
                  <a:solidFill>
                    <a:srgbClr val="1C2142"/>
                  </a:solidFill>
                  <a:latin typeface="Nunito Sans" pitchFamily="34" charset="0"/>
                  <a:ea typeface="Nunito Sans" pitchFamily="34" charset="-122"/>
                  <a:cs typeface="Nunito Sans" pitchFamily="34" charset="-120"/>
                </a:rPr>
                <a:t>Se revisa el proceso de respuesta al incidente y se aprende de los errores para evitar que pasen de nuevo.</a:t>
              </a:r>
              <a:endParaRPr lang="es-CO" sz="1300" noProof="0" dirty="0"/>
            </a:p>
          </p:txBody>
        </p:sp>
      </p:grpSp>
      <p:pic>
        <p:nvPicPr>
          <p:cNvPr id="19" name="Image 2" descr="Pralogy"/>
          <p:cNvPicPr>
            <a:picLocks noChangeAspect="1"/>
          </p:cNvPicPr>
          <p:nvPr/>
        </p:nvPicPr>
        <p:blipFill>
          <a:blip r:embed="rId3"/>
          <a:srcRect l="-62" r="-62"/>
          <a:stretch/>
        </p:blipFill>
        <p:spPr>
          <a:xfrm>
            <a:off x="812800" y="6273800"/>
            <a:ext cx="1111250" cy="228600"/>
          </a:xfrm>
          <a:prstGeom prst="rect">
            <a:avLst/>
          </a:prstGeom>
        </p:spPr>
      </p:pic>
      <p:sp>
        <p:nvSpPr>
          <p:cNvPr id="20" name="Text 1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19</a:t>
            </a:r>
            <a:endParaRPr lang="es-CO" sz="1200" noProof="0" dirty="0"/>
          </a:p>
        </p:txBody>
      </p:sp>
      <p:grpSp>
        <p:nvGrpSpPr>
          <p:cNvPr id="8" name="Group 7">
            <a:extLst>
              <a:ext uri="{FF2B5EF4-FFF2-40B4-BE49-F238E27FC236}">
                <a16:creationId xmlns:a16="http://schemas.microsoft.com/office/drawing/2014/main" id="{048A0F90-79BA-670C-9148-00F142BBFB59}"/>
              </a:ext>
            </a:extLst>
          </p:cNvPr>
          <p:cNvGrpSpPr/>
          <p:nvPr/>
        </p:nvGrpSpPr>
        <p:grpSpPr>
          <a:xfrm>
            <a:off x="6291847" y="2301556"/>
            <a:ext cx="2864987" cy="2981549"/>
            <a:chOff x="819150" y="2483743"/>
            <a:chExt cx="3077567" cy="2416175"/>
          </a:xfrm>
        </p:grpSpPr>
        <p:sp>
          <p:nvSpPr>
            <p:cNvPr id="13" name="Shape 2">
              <a:extLst>
                <a:ext uri="{FF2B5EF4-FFF2-40B4-BE49-F238E27FC236}">
                  <a16:creationId xmlns:a16="http://schemas.microsoft.com/office/drawing/2014/main" id="{99966A30-A1F2-3F3A-7EEE-475CA7C2DEB2}"/>
                </a:ext>
              </a:extLst>
            </p:cNvPr>
            <p:cNvSpPr/>
            <p:nvPr/>
          </p:nvSpPr>
          <p:spPr>
            <a:xfrm>
              <a:off x="819150" y="2483743"/>
              <a:ext cx="3077567" cy="2416175"/>
            </a:xfrm>
            <a:prstGeom prst="roundRect">
              <a:avLst>
                <a:gd name="adj" fmla="val 6045"/>
              </a:avLst>
            </a:prstGeom>
            <a:solidFill>
              <a:srgbClr val="FCFBF8"/>
            </a:solidFill>
            <a:ln w="12700">
              <a:solidFill>
                <a:srgbClr val="DDE0EA"/>
              </a:solidFill>
              <a:prstDash val="solid"/>
            </a:ln>
          </p:spPr>
          <p:txBody>
            <a:bodyPr/>
            <a:lstStyle/>
            <a:p>
              <a:endParaRPr lang="es-CO" noProof="0" dirty="0"/>
            </a:p>
          </p:txBody>
        </p:sp>
        <p:sp>
          <p:nvSpPr>
            <p:cNvPr id="18" name="Text 3">
              <a:extLst>
                <a:ext uri="{FF2B5EF4-FFF2-40B4-BE49-F238E27FC236}">
                  <a16:creationId xmlns:a16="http://schemas.microsoft.com/office/drawing/2014/main" id="{F8BF3CF7-AB7E-16E0-256C-F3D16CF8743B}"/>
                </a:ext>
              </a:extLst>
            </p:cNvPr>
            <p:cNvSpPr/>
            <p:nvPr/>
          </p:nvSpPr>
          <p:spPr>
            <a:xfrm>
              <a:off x="1076723" y="2650086"/>
              <a:ext cx="2528925" cy="431800"/>
            </a:xfrm>
            <a:prstGeom prst="rect">
              <a:avLst/>
            </a:prstGeom>
            <a:noFill/>
            <a:ln/>
          </p:spPr>
          <p:txBody>
            <a:bodyPr wrap="square" lIns="0" tIns="0" rIns="0" bIns="0" rtlCol="0" anchor="t">
              <a:normAutofit/>
            </a:bodyPr>
            <a:lstStyle/>
            <a:p>
              <a:pPr marL="0" indent="0" algn="l">
                <a:lnSpc>
                  <a:spcPts val="3200"/>
                </a:lnSpc>
                <a:buNone/>
              </a:pPr>
              <a:r>
                <a:rPr lang="es-CO" sz="3200" dirty="0">
                  <a:solidFill>
                    <a:srgbClr val="2F3EBF"/>
                  </a:solidFill>
                  <a:latin typeface="Fraunces" pitchFamily="18" charset="0"/>
                </a:rPr>
                <a:t>3</a:t>
              </a:r>
              <a:endParaRPr lang="es-CO" sz="3200" noProof="0" dirty="0"/>
            </a:p>
          </p:txBody>
        </p:sp>
        <p:sp>
          <p:nvSpPr>
            <p:cNvPr id="24" name="Text 4">
              <a:extLst>
                <a:ext uri="{FF2B5EF4-FFF2-40B4-BE49-F238E27FC236}">
                  <a16:creationId xmlns:a16="http://schemas.microsoft.com/office/drawing/2014/main" id="{3C748B79-8C5A-C854-9C6D-496B02DBA99F}"/>
                </a:ext>
              </a:extLst>
            </p:cNvPr>
            <p:cNvSpPr/>
            <p:nvPr/>
          </p:nvSpPr>
          <p:spPr>
            <a:xfrm>
              <a:off x="1076723" y="3000391"/>
              <a:ext cx="2766417" cy="854075"/>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Contención, </a:t>
              </a:r>
            </a:p>
            <a:p>
              <a:pPr marL="0" indent="0" algn="l">
                <a:lnSpc>
                  <a:spcPts val="2400"/>
                </a:lnSpc>
                <a:buNone/>
              </a:pPr>
              <a:r>
                <a:rPr lang="es-CO" sz="2000" b="1" dirty="0">
                  <a:solidFill>
                    <a:srgbClr val="1C2142"/>
                  </a:solidFill>
                  <a:latin typeface="Nunito Sans" pitchFamily="34" charset="0"/>
                </a:rPr>
                <a:t>Erradicación y</a:t>
              </a:r>
            </a:p>
            <a:p>
              <a:pPr marL="0" indent="0" algn="l">
                <a:lnSpc>
                  <a:spcPts val="2400"/>
                </a:lnSpc>
                <a:buNone/>
              </a:pPr>
              <a:r>
                <a:rPr lang="es-CO" sz="2000" b="1" noProof="0" dirty="0">
                  <a:solidFill>
                    <a:srgbClr val="1C2142"/>
                  </a:solidFill>
                  <a:latin typeface="Nunito Sans" pitchFamily="34" charset="0"/>
                </a:rPr>
                <a:t>Recuperación</a:t>
              </a:r>
              <a:endParaRPr lang="es-CO" sz="2000" noProof="0" dirty="0"/>
            </a:p>
          </p:txBody>
        </p:sp>
        <p:sp>
          <p:nvSpPr>
            <p:cNvPr id="25" name="Text 5">
              <a:extLst>
                <a:ext uri="{FF2B5EF4-FFF2-40B4-BE49-F238E27FC236}">
                  <a16:creationId xmlns:a16="http://schemas.microsoft.com/office/drawing/2014/main" id="{800F1FBE-7E4B-8EDE-F99F-ECE37F61DB1B}"/>
                </a:ext>
              </a:extLst>
            </p:cNvPr>
            <p:cNvSpPr/>
            <p:nvPr/>
          </p:nvSpPr>
          <p:spPr>
            <a:xfrm>
              <a:off x="1076723" y="3853067"/>
              <a:ext cx="2691507" cy="854075"/>
            </a:xfrm>
            <a:prstGeom prst="rect">
              <a:avLst/>
            </a:prstGeom>
            <a:noFill/>
            <a:ln/>
          </p:spPr>
          <p:txBody>
            <a:bodyPr wrap="square" lIns="0" tIns="0" rIns="0" bIns="0" rtlCol="0" anchor="t">
              <a:noAutofit/>
            </a:bodyPr>
            <a:lstStyle/>
            <a:p>
              <a:pPr marL="0" indent="0" algn="l">
                <a:lnSpc>
                  <a:spcPts val="2175"/>
                </a:lnSpc>
                <a:buNone/>
              </a:pPr>
              <a:r>
                <a:rPr lang="es-CO" sz="1200" noProof="0" dirty="0">
                  <a:solidFill>
                    <a:srgbClr val="4A5070"/>
                  </a:solidFill>
                  <a:latin typeface="Nunito Sans" pitchFamily="34" charset="0"/>
                  <a:ea typeface="Nunito Sans" pitchFamily="34" charset="-122"/>
                  <a:cs typeface="Nunito Sans" pitchFamily="34" charset="-120"/>
                </a:rPr>
                <a:t>Se detiene el ataque antes de que cause más daños. Se remueven los elementos remanentes del incidente y se retoma el estado normal.</a:t>
              </a:r>
              <a:endParaRPr lang="es-CO" sz="1200" noProof="0" dirty="0"/>
            </a:p>
          </p:txBody>
        </p:sp>
      </p:grpSp>
      <p:sp>
        <p:nvSpPr>
          <p:cNvPr id="27" name="TextBox 26">
            <a:extLst>
              <a:ext uri="{FF2B5EF4-FFF2-40B4-BE49-F238E27FC236}">
                <a16:creationId xmlns:a16="http://schemas.microsoft.com/office/drawing/2014/main" id="{253DFAC6-E867-3AB5-A602-91D1AC58E008}"/>
              </a:ext>
            </a:extLst>
          </p:cNvPr>
          <p:cNvSpPr txBox="1"/>
          <p:nvPr/>
        </p:nvSpPr>
        <p:spPr>
          <a:xfrm>
            <a:off x="3244312" y="5557841"/>
            <a:ext cx="5703375" cy="261610"/>
          </a:xfrm>
          <a:prstGeom prst="rect">
            <a:avLst/>
          </a:prstGeom>
          <a:noFill/>
        </p:spPr>
        <p:txBody>
          <a:bodyPr wrap="square">
            <a:spAutoFit/>
          </a:bodyPr>
          <a:lstStyle/>
          <a:p>
            <a:r>
              <a:rPr lang="en-US" sz="1100" dirty="0">
                <a:solidFill>
                  <a:schemeClr val="bg2">
                    <a:lumMod val="50000"/>
                  </a:schemeClr>
                </a:solidFill>
              </a:rPr>
              <a:t>https://www.cynet.com/security-foundations/incident-response/nist-incident-response/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255000" y="0"/>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04</a:t>
            </a:r>
            <a:endParaRPr lang="es-CO" sz="9000" noProof="0" dirty="0"/>
          </a:p>
        </p:txBody>
      </p:sp>
      <p:sp>
        <p:nvSpPr>
          <p:cNvPr id="4" name="Text 2"/>
          <p:cNvSpPr>
            <a:spLocks noGrp="1"/>
          </p:cNvSpPr>
          <p:nvPr>
            <p:ph type="title"/>
          </p:nvPr>
        </p:nvSpPr>
        <p:spPr>
          <a:xfrm>
            <a:off x="812800" y="4099719"/>
            <a:ext cx="8502650" cy="1412081"/>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Por qué importa.</a:t>
            </a:r>
            <a:endParaRPr lang="es-CO" sz="5200" noProof="0" dirty="0"/>
          </a:p>
        </p:txBody>
      </p:sp>
      <p:sp>
        <p:nvSpPr>
          <p:cNvPr id="5" name="Text 3"/>
          <p:cNvSpPr/>
          <p:nvPr/>
        </p:nvSpPr>
        <p:spPr>
          <a:xfrm>
            <a:off x="812800" y="5011928"/>
            <a:ext cx="8502650" cy="381000"/>
          </a:xfrm>
          <a:prstGeom prst="rect">
            <a:avLst/>
          </a:prstGeom>
          <a:noFill/>
          <a:ln/>
        </p:spPr>
        <p:txBody>
          <a:bodyPr wrap="square" lIns="0" tIns="0" rIns="0" bIns="0" rtlCol="0" anchor="t">
            <a:normAutofit/>
          </a:bodyPr>
          <a:lstStyle/>
          <a:p>
            <a:pPr marL="0" indent="0" algn="l">
              <a:lnSpc>
                <a:spcPts val="2800"/>
              </a:lnSpc>
              <a:buNone/>
            </a:pPr>
            <a:r>
              <a:rPr lang="es-CO" sz="2000" dirty="0">
                <a:solidFill>
                  <a:srgbClr val="C7CCE8"/>
                </a:solidFill>
                <a:latin typeface="Nunito Sans" pitchFamily="34" charset="0"/>
                <a:ea typeface="Nunito Sans" pitchFamily="34" charset="-122"/>
                <a:cs typeface="Nunito Sans" pitchFamily="34" charset="-120"/>
              </a:rPr>
              <a:t>Lo que dicen más de 1.300 expertos sobre los riesgos del mundo.</a:t>
            </a:r>
            <a:endParaRPr lang="es-CO" sz="20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CIERRE · INFORME DE RIESGOS GLOBALES 2026</a:t>
            </a:r>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Lo que preocupa al mundo hoy</a:t>
            </a:r>
            <a:endParaRPr lang="es-CO" sz="3600" noProof="0" dirty="0"/>
          </a:p>
        </p:txBody>
      </p:sp>
      <p:pic>
        <p:nvPicPr>
          <p:cNvPr id="19" name="Image 2" descr="Pralogy"/>
          <p:cNvPicPr>
            <a:picLocks noChangeAspect="1"/>
          </p:cNvPicPr>
          <p:nvPr/>
        </p:nvPicPr>
        <p:blipFill>
          <a:blip r:embed="rId3"/>
          <a:srcRect l="-62" r="-62"/>
          <a:stretch/>
        </p:blipFill>
        <p:spPr>
          <a:xfrm>
            <a:off x="812800" y="6273800"/>
            <a:ext cx="1111250" cy="228600"/>
          </a:xfrm>
          <a:prstGeom prst="rect">
            <a:avLst/>
          </a:prstGeom>
        </p:spPr>
      </p:pic>
      <p:sp>
        <p:nvSpPr>
          <p:cNvPr id="20" name="Text 1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21</a:t>
            </a:r>
            <a:endParaRPr lang="es-CO" sz="1200" noProof="0" dirty="0"/>
          </a:p>
        </p:txBody>
      </p:sp>
      <p:sp>
        <p:nvSpPr>
          <p:cNvPr id="21" name="Tarjeta 1"/>
          <p:cNvSpPr/>
          <p:nvPr/>
        </p:nvSpPr>
        <p:spPr>
          <a:xfrm>
            <a:off x="812800" y="2150000"/>
            <a:ext cx="2498725" cy="30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arjeta 1 cifra"/>
          <p:cNvSpPr txBox="1"/>
          <p:nvPr/>
        </p:nvSpPr>
        <p:spPr>
          <a:xfrm>
            <a:off x="1041400" y="2378600"/>
            <a:ext cx="2041525" cy="560000"/>
          </a:xfrm>
          <a:prstGeom prst="rect">
            <a:avLst/>
          </a:prstGeom>
          <a:noFill/>
        </p:spPr>
        <p:txBody>
          <a:bodyPr wrap="square" lIns="0" rIns="0" tIns="0" bIns="0" anchor="t">
            <a:noAutofit/>
          </a:bodyPr>
          <a:lstStyle/>
          <a:p>
            <a:pPr algn="l"/>
            <a:r>
              <a:rPr sz="3600" b="0" i="0">
                <a:solidFill>
                  <a:srgbClr val="2F3EBF"/>
                </a:solidFill>
                <a:latin typeface="Fraunces"/>
              </a:rPr>
              <a:t>50 %</a:t>
            </a:r>
          </a:p>
        </p:txBody>
      </p:sp>
      <p:sp>
        <p:nvSpPr>
          <p:cNvPr id="23" name="Tarjeta 1 título"/>
          <p:cNvSpPr txBox="1"/>
          <p:nvPr/>
        </p:nvSpPr>
        <p:spPr>
          <a:xfrm>
            <a:off x="1041400" y="3000000"/>
            <a:ext cx="2041525" cy="600000"/>
          </a:xfrm>
          <a:prstGeom prst="rect">
            <a:avLst/>
          </a:prstGeom>
          <a:noFill/>
        </p:spPr>
        <p:txBody>
          <a:bodyPr wrap="square" lIns="0" rIns="0" tIns="0" bIns="0" anchor="t">
            <a:noAutofit/>
          </a:bodyPr>
          <a:lstStyle/>
          <a:p>
            <a:pPr algn="l"/>
            <a:r>
              <a:rPr sz="1800" b="1" i="0">
                <a:solidFill>
                  <a:srgbClr val="1C2142"/>
                </a:solidFill>
                <a:latin typeface="Nunito Sans"/>
              </a:rPr>
              <a:t>Dos años difíciles</a:t>
            </a:r>
          </a:p>
        </p:txBody>
      </p:sp>
      <p:sp>
        <p:nvSpPr>
          <p:cNvPr id="24" name="Tarjeta 1 etiqueta"/>
          <p:cNvSpPr txBox="1"/>
          <p:nvPr/>
        </p:nvSpPr>
        <p:spPr>
          <a:xfrm>
            <a:off x="1041400" y="3620000"/>
            <a:ext cx="2041525" cy="300000"/>
          </a:xfrm>
          <a:prstGeom prst="rect">
            <a:avLst/>
          </a:prstGeom>
          <a:noFill/>
        </p:spPr>
        <p:txBody>
          <a:bodyPr wrap="square" lIns="0" rIns="0" tIns="0" bIns="0" anchor="t">
            <a:noAutofit/>
          </a:bodyPr>
          <a:lstStyle/>
          <a:p>
            <a:pPr algn="l"/>
            <a:r>
              <a:rPr sz="1200" b="0" i="1">
                <a:solidFill>
                  <a:srgbClr val="6B7085"/>
                </a:solidFill>
                <a:latin typeface="Nunito Sans"/>
              </a:rPr>
              <a:t>Panorama a 2 años</a:t>
            </a:r>
          </a:p>
        </p:txBody>
      </p:sp>
      <p:sp>
        <p:nvSpPr>
          <p:cNvPr id="25" name="Tarjeta 1 texto"/>
          <p:cNvSpPr txBox="1"/>
          <p:nvPr/>
        </p:nvSpPr>
        <p:spPr>
          <a:xfrm>
            <a:off x="1041400" y="3950000"/>
            <a:ext cx="2041525" cy="100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La mitad espera un mundo turbulento o tormentoso. Hace un año, el 36 %.</a:t>
            </a:r>
          </a:p>
        </p:txBody>
      </p:sp>
      <p:sp>
        <p:nvSpPr>
          <p:cNvPr id="26" name="Tarjeta 2"/>
          <p:cNvSpPr/>
          <p:nvPr/>
        </p:nvSpPr>
        <p:spPr>
          <a:xfrm>
            <a:off x="3502025" y="2150000"/>
            <a:ext cx="2498725" cy="30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arjeta 2 cifra"/>
          <p:cNvSpPr txBox="1"/>
          <p:nvPr/>
        </p:nvSpPr>
        <p:spPr>
          <a:xfrm>
            <a:off x="3730625" y="2378600"/>
            <a:ext cx="2041525" cy="560000"/>
          </a:xfrm>
          <a:prstGeom prst="rect">
            <a:avLst/>
          </a:prstGeom>
          <a:noFill/>
        </p:spPr>
        <p:txBody>
          <a:bodyPr wrap="square" lIns="0" rIns="0" tIns="0" bIns="0" anchor="t">
            <a:noAutofit/>
          </a:bodyPr>
          <a:lstStyle/>
          <a:p>
            <a:pPr algn="l"/>
            <a:r>
              <a:rPr sz="3600" b="0" i="0">
                <a:solidFill>
                  <a:srgbClr val="2F3EBF"/>
                </a:solidFill>
                <a:latin typeface="Fraunces"/>
              </a:rPr>
              <a:t>#2</a:t>
            </a:r>
          </a:p>
        </p:txBody>
      </p:sp>
      <p:sp>
        <p:nvSpPr>
          <p:cNvPr id="28" name="Tarjeta 2 título"/>
          <p:cNvSpPr txBox="1"/>
          <p:nvPr/>
        </p:nvSpPr>
        <p:spPr>
          <a:xfrm>
            <a:off x="3730625" y="3000000"/>
            <a:ext cx="2041525" cy="600000"/>
          </a:xfrm>
          <a:prstGeom prst="rect">
            <a:avLst/>
          </a:prstGeom>
          <a:noFill/>
        </p:spPr>
        <p:txBody>
          <a:bodyPr wrap="square" lIns="0" rIns="0" tIns="0" bIns="0" anchor="t">
            <a:noAutofit/>
          </a:bodyPr>
          <a:lstStyle/>
          <a:p>
            <a:pPr algn="l"/>
            <a:r>
              <a:rPr sz="1800" b="1" i="0">
                <a:solidFill>
                  <a:srgbClr val="1C2142"/>
                </a:solidFill>
                <a:latin typeface="Nunito Sans"/>
              </a:rPr>
              <a:t>Desinformación</a:t>
            </a:r>
          </a:p>
        </p:txBody>
      </p:sp>
      <p:sp>
        <p:nvSpPr>
          <p:cNvPr id="29" name="Tarjeta 2 etiqueta"/>
          <p:cNvSpPr txBox="1"/>
          <p:nvPr/>
        </p:nvSpPr>
        <p:spPr>
          <a:xfrm>
            <a:off x="3730625" y="3620000"/>
            <a:ext cx="2041525" cy="300000"/>
          </a:xfrm>
          <a:prstGeom prst="rect">
            <a:avLst/>
          </a:prstGeom>
          <a:noFill/>
        </p:spPr>
        <p:txBody>
          <a:bodyPr wrap="square" lIns="0" rIns="0" tIns="0" bIns="0" anchor="t">
            <a:noAutofit/>
          </a:bodyPr>
          <a:lstStyle/>
          <a:p>
            <a:pPr algn="l"/>
            <a:r>
              <a:rPr sz="1200" b="0" i="1">
                <a:solidFill>
                  <a:srgbClr val="6B7085"/>
                </a:solidFill>
                <a:latin typeface="Nunito Sans"/>
              </a:rPr>
              <a:t>Riesgo a 2 años</a:t>
            </a:r>
          </a:p>
        </p:txBody>
      </p:sp>
      <p:sp>
        <p:nvSpPr>
          <p:cNvPr id="30" name="Tarjeta 2 texto"/>
          <p:cNvSpPr txBox="1"/>
          <p:nvPr/>
        </p:nvSpPr>
        <p:spPr>
          <a:xfrm>
            <a:off x="3730625" y="3950000"/>
            <a:ext cx="2041525" cy="100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Mensajes, noticias y voces falsas, cada vez más fáciles de fabricar con IA.</a:t>
            </a:r>
          </a:p>
        </p:txBody>
      </p:sp>
      <p:sp>
        <p:nvSpPr>
          <p:cNvPr id="31" name="Tarjeta 3"/>
          <p:cNvSpPr/>
          <p:nvPr/>
        </p:nvSpPr>
        <p:spPr>
          <a:xfrm>
            <a:off x="6191250" y="2150000"/>
            <a:ext cx="2498725" cy="3000000"/>
          </a:xfrm>
          <a:prstGeom prst="roundRect">
            <a:avLst>
              <a:gd name="adj" fmla="val 6000"/>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arjeta 3 cifra"/>
          <p:cNvSpPr txBox="1"/>
          <p:nvPr/>
        </p:nvSpPr>
        <p:spPr>
          <a:xfrm>
            <a:off x="6419850" y="2378600"/>
            <a:ext cx="2041525" cy="560000"/>
          </a:xfrm>
          <a:prstGeom prst="rect">
            <a:avLst/>
          </a:prstGeom>
          <a:noFill/>
        </p:spPr>
        <p:txBody>
          <a:bodyPr wrap="square" lIns="0" rIns="0" tIns="0" bIns="0" anchor="t">
            <a:noAutofit/>
          </a:bodyPr>
          <a:lstStyle/>
          <a:p>
            <a:pPr algn="l"/>
            <a:r>
              <a:rPr sz="3600" b="0" i="0">
                <a:solidFill>
                  <a:srgbClr val="2F3EBF"/>
                </a:solidFill>
                <a:latin typeface="Fraunces"/>
              </a:rPr>
              <a:t>#6</a:t>
            </a:r>
          </a:p>
        </p:txBody>
      </p:sp>
      <p:sp>
        <p:nvSpPr>
          <p:cNvPr id="33" name="Tarjeta 3 título"/>
          <p:cNvSpPr txBox="1"/>
          <p:nvPr/>
        </p:nvSpPr>
        <p:spPr>
          <a:xfrm>
            <a:off x="6419850" y="3000000"/>
            <a:ext cx="2041525" cy="600000"/>
          </a:xfrm>
          <a:prstGeom prst="rect">
            <a:avLst/>
          </a:prstGeom>
          <a:noFill/>
        </p:spPr>
        <p:txBody>
          <a:bodyPr wrap="square" lIns="0" rIns="0" tIns="0" bIns="0" anchor="t">
            <a:noAutofit/>
          </a:bodyPr>
          <a:lstStyle/>
          <a:p>
            <a:pPr algn="l"/>
            <a:r>
              <a:rPr sz="1800" b="1" i="0">
                <a:solidFill>
                  <a:srgbClr val="1C2142"/>
                </a:solidFill>
                <a:latin typeface="Nunito Sans"/>
              </a:rPr>
              <a:t>Ciberinseguridad</a:t>
            </a:r>
          </a:p>
        </p:txBody>
      </p:sp>
      <p:sp>
        <p:nvSpPr>
          <p:cNvPr id="34" name="Tarjeta 3 etiqueta"/>
          <p:cNvSpPr txBox="1"/>
          <p:nvPr/>
        </p:nvSpPr>
        <p:spPr>
          <a:xfrm>
            <a:off x="6419850" y="3620000"/>
            <a:ext cx="2041525" cy="300000"/>
          </a:xfrm>
          <a:prstGeom prst="rect">
            <a:avLst/>
          </a:prstGeom>
          <a:noFill/>
        </p:spPr>
        <p:txBody>
          <a:bodyPr wrap="square" lIns="0" rIns="0" tIns="0" bIns="0" anchor="t">
            <a:noAutofit/>
          </a:bodyPr>
          <a:lstStyle/>
          <a:p>
            <a:pPr algn="l"/>
            <a:r>
              <a:rPr sz="1200" b="0" i="1">
                <a:solidFill>
                  <a:srgbClr val="6B7085"/>
                </a:solidFill>
                <a:latin typeface="Nunito Sans"/>
              </a:rPr>
              <a:t>Riesgo a 2 años</a:t>
            </a:r>
          </a:p>
        </p:txBody>
      </p:sp>
      <p:sp>
        <p:nvSpPr>
          <p:cNvPr id="35" name="Tarjeta 3 texto"/>
          <p:cNvSpPr txBox="1"/>
          <p:nvPr/>
        </p:nvSpPr>
        <p:spPr>
          <a:xfrm>
            <a:off x="6419850" y="3950000"/>
            <a:ext cx="2041525" cy="1000000"/>
          </a:xfrm>
          <a:prstGeom prst="rect">
            <a:avLst/>
          </a:prstGeom>
          <a:noFill/>
        </p:spPr>
        <p:txBody>
          <a:bodyPr wrap="square" lIns="0" rIns="0" tIns="0" bIns="0" anchor="t">
            <a:noAutofit/>
          </a:bodyPr>
          <a:lstStyle/>
          <a:p>
            <a:pPr algn="l">
              <a:lnSpc>
                <a:spcPct val="125000"/>
              </a:lnSpc>
            </a:pPr>
            <a:r>
              <a:rPr sz="1400" b="0" i="0">
                <a:solidFill>
                  <a:srgbClr val="1C2142"/>
                </a:solidFill>
                <a:latin typeface="Nunito Sans"/>
              </a:rPr>
              <a:t>Ataques, fraudes y robo de información, entre los riesgos más graves del mundo.</a:t>
            </a:r>
          </a:p>
        </p:txBody>
      </p:sp>
      <p:sp>
        <p:nvSpPr>
          <p:cNvPr id="36" name="Tarjeta 4"/>
          <p:cNvSpPr/>
          <p:nvPr/>
        </p:nvSpPr>
        <p:spPr>
          <a:xfrm>
            <a:off x="8880475" y="2150000"/>
            <a:ext cx="2498725" cy="30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arjeta 4 cifra"/>
          <p:cNvSpPr txBox="1"/>
          <p:nvPr/>
        </p:nvSpPr>
        <p:spPr>
          <a:xfrm>
            <a:off x="9109075" y="2378600"/>
            <a:ext cx="2041525" cy="560000"/>
          </a:xfrm>
          <a:prstGeom prst="rect">
            <a:avLst/>
          </a:prstGeom>
          <a:noFill/>
        </p:spPr>
        <p:txBody>
          <a:bodyPr wrap="square" lIns="0" rIns="0" tIns="0" bIns="0" anchor="t">
            <a:noAutofit/>
          </a:bodyPr>
          <a:lstStyle/>
          <a:p>
            <a:pPr algn="l"/>
            <a:r>
              <a:rPr sz="3600" b="0" i="0">
                <a:solidFill>
                  <a:srgbClr val="2F3EBF"/>
                </a:solidFill>
                <a:latin typeface="Fraunces"/>
              </a:rPr>
              <a:t>30 → 5</a:t>
            </a:r>
          </a:p>
        </p:txBody>
      </p:sp>
      <p:sp>
        <p:nvSpPr>
          <p:cNvPr id="38" name="Tarjeta 4 título"/>
          <p:cNvSpPr txBox="1"/>
          <p:nvPr/>
        </p:nvSpPr>
        <p:spPr>
          <a:xfrm>
            <a:off x="9109075" y="3000000"/>
            <a:ext cx="2041525" cy="600000"/>
          </a:xfrm>
          <a:prstGeom prst="rect">
            <a:avLst/>
          </a:prstGeom>
          <a:noFill/>
        </p:spPr>
        <p:txBody>
          <a:bodyPr wrap="square" lIns="0" rIns="0" tIns="0" bIns="0" anchor="t">
            <a:noAutofit/>
          </a:bodyPr>
          <a:lstStyle/>
          <a:p>
            <a:pPr algn="l"/>
            <a:r>
              <a:rPr sz="1800" b="1" i="0">
                <a:solidFill>
                  <a:srgbClr val="1C2142"/>
                </a:solidFill>
                <a:latin typeface="Nunito Sans"/>
              </a:rPr>
              <a:t>Efectos negativos de la IA</a:t>
            </a:r>
          </a:p>
        </p:txBody>
      </p:sp>
      <p:sp>
        <p:nvSpPr>
          <p:cNvPr id="39" name="Tarjeta 4 etiqueta"/>
          <p:cNvSpPr txBox="1"/>
          <p:nvPr/>
        </p:nvSpPr>
        <p:spPr>
          <a:xfrm>
            <a:off x="9109075" y="3620000"/>
            <a:ext cx="2041525" cy="300000"/>
          </a:xfrm>
          <a:prstGeom prst="rect">
            <a:avLst/>
          </a:prstGeom>
          <a:noFill/>
        </p:spPr>
        <p:txBody>
          <a:bodyPr wrap="square" lIns="0" rIns="0" tIns="0" bIns="0" anchor="t">
            <a:noAutofit/>
          </a:bodyPr>
          <a:lstStyle/>
          <a:p>
            <a:pPr algn="l"/>
            <a:r>
              <a:rPr sz="1200" b="0" i="1">
                <a:solidFill>
                  <a:srgbClr val="6B7085"/>
                </a:solidFill>
                <a:latin typeface="Nunito Sans"/>
              </a:rPr>
              <a:t>De 2 a 10 años</a:t>
            </a:r>
          </a:p>
        </p:txBody>
      </p:sp>
      <p:sp>
        <p:nvSpPr>
          <p:cNvPr id="40" name="Tarjeta 4 texto"/>
          <p:cNvSpPr txBox="1"/>
          <p:nvPr/>
        </p:nvSpPr>
        <p:spPr>
          <a:xfrm>
            <a:off x="9109075" y="3950000"/>
            <a:ext cx="2041525" cy="100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El riesgo que más sube: del puesto 30 a corto plazo al 5 a largo plazo.</a:t>
            </a:r>
          </a:p>
        </p:txBody>
      </p:sp>
      <p:sp>
        <p:nvSpPr>
          <p:cNvPr id="41" name="Fuente"/>
          <p:cNvSpPr txBox="1"/>
          <p:nvPr/>
        </p:nvSpPr>
        <p:spPr>
          <a:xfrm>
            <a:off x="812800" y="5500000"/>
            <a:ext cx="10566400" cy="300000"/>
          </a:xfrm>
          <a:prstGeom prst="rect">
            <a:avLst/>
          </a:prstGeom>
          <a:noFill/>
        </p:spPr>
        <p:txBody>
          <a:bodyPr wrap="square" lIns="0" rIns="0" tIns="0" bIns="0" anchor="t">
            <a:noAutofit/>
          </a:bodyPr>
          <a:lstStyle/>
          <a:p>
            <a:pPr algn="l"/>
            <a:r>
              <a:rPr sz="1200" b="0" i="0">
                <a:solidFill>
                  <a:srgbClr val="6B7085"/>
                </a:solidFill>
                <a:latin typeface="Nunito Sans"/>
              </a:rPr>
              <a:t>Fuente: Foro Económico Mundial, Informe de Riesgos Globales 2026. Encuesta a más de 1.300 expertos, publicada el 14 de enero de 2026.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CIERRE · DE LO GLOBAL A TU ESCRITORIO</a:t>
            </a:r>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Lo que aprendiste hoy responde a esos riesgos</a:t>
            </a:r>
            <a:endParaRPr lang="es-CO" sz="3600" noProof="0" dirty="0"/>
          </a:p>
        </p:txBody>
      </p:sp>
      <p:pic>
        <p:nvPicPr>
          <p:cNvPr id="19" name="Image 2" descr="Pralogy"/>
          <p:cNvPicPr>
            <a:picLocks noChangeAspect="1"/>
          </p:cNvPicPr>
          <p:nvPr/>
        </p:nvPicPr>
        <p:blipFill>
          <a:blip r:embed="rId3"/>
          <a:srcRect l="-62" r="-62"/>
          <a:stretch/>
        </p:blipFill>
        <p:spPr>
          <a:xfrm>
            <a:off x="812800" y="6273800"/>
            <a:ext cx="1111250" cy="228600"/>
          </a:xfrm>
          <a:prstGeom prst="rect">
            <a:avLst/>
          </a:prstGeom>
        </p:spPr>
      </p:pic>
      <p:sp>
        <p:nvSpPr>
          <p:cNvPr id="20" name="Text 1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22</a:t>
            </a:r>
            <a:endParaRPr lang="es-CO" sz="1200" noProof="0" dirty="0"/>
          </a:p>
        </p:txBody>
      </p:sp>
      <p:sp>
        <p:nvSpPr>
          <p:cNvPr id="21" name="Tarjeta 1"/>
          <p:cNvSpPr/>
          <p:nvPr/>
        </p:nvSpPr>
        <p:spPr>
          <a:xfrm>
            <a:off x="812800" y="2150000"/>
            <a:ext cx="2498725" cy="30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arjeta 1 cifra"/>
          <p:cNvSpPr txBox="1"/>
          <p:nvPr/>
        </p:nvSpPr>
        <p:spPr>
          <a:xfrm>
            <a:off x="1041400" y="2378600"/>
            <a:ext cx="2041525" cy="560000"/>
          </a:xfrm>
          <a:prstGeom prst="rect">
            <a:avLst/>
          </a:prstGeom>
          <a:noFill/>
        </p:spPr>
        <p:txBody>
          <a:bodyPr wrap="square" lIns="0" rIns="0" tIns="0" bIns="0" anchor="t">
            <a:noAutofit/>
          </a:bodyPr>
          <a:lstStyle/>
          <a:p>
            <a:pPr algn="l"/>
            <a:r>
              <a:rPr sz="3600" b="0" i="0">
                <a:solidFill>
                  <a:srgbClr val="2F3EBF"/>
                </a:solidFill>
                <a:latin typeface="Fraunces"/>
              </a:rPr>
              <a:t>#2</a:t>
            </a:r>
          </a:p>
        </p:txBody>
      </p:sp>
      <p:sp>
        <p:nvSpPr>
          <p:cNvPr id="23" name="Tarjeta 1 título"/>
          <p:cNvSpPr txBox="1"/>
          <p:nvPr/>
        </p:nvSpPr>
        <p:spPr>
          <a:xfrm>
            <a:off x="1041400" y="3000000"/>
            <a:ext cx="2041525" cy="600000"/>
          </a:xfrm>
          <a:prstGeom prst="rect">
            <a:avLst/>
          </a:prstGeom>
          <a:noFill/>
        </p:spPr>
        <p:txBody>
          <a:bodyPr wrap="square" lIns="0" rIns="0" tIns="0" bIns="0" anchor="t">
            <a:noAutofit/>
          </a:bodyPr>
          <a:lstStyle/>
          <a:p>
            <a:pPr algn="l"/>
            <a:r>
              <a:rPr sz="1800" b="1" i="0">
                <a:solidFill>
                  <a:srgbClr val="1C2142"/>
                </a:solidFill>
                <a:latin typeface="Nunito Sans"/>
              </a:rPr>
              <a:t>Desinformación</a:t>
            </a:r>
          </a:p>
        </p:txBody>
      </p:sp>
      <p:sp>
        <p:nvSpPr>
          <p:cNvPr id="24" name="Tarjeta 1 etiqueta"/>
          <p:cNvSpPr txBox="1"/>
          <p:nvPr/>
        </p:nvSpPr>
        <p:spPr>
          <a:xfrm>
            <a:off x="1041400" y="3620000"/>
            <a:ext cx="2041525" cy="300000"/>
          </a:xfrm>
          <a:prstGeom prst="rect">
            <a:avLst/>
          </a:prstGeom>
          <a:noFill/>
        </p:spPr>
        <p:txBody>
          <a:bodyPr wrap="square" lIns="0" rIns="0" tIns="0" bIns="0" anchor="t">
            <a:noAutofit/>
          </a:bodyPr>
          <a:lstStyle/>
          <a:p>
            <a:pPr algn="l"/>
            <a:r>
              <a:rPr sz="1200" b="0" i="1">
                <a:solidFill>
                  <a:srgbClr val="6B7085"/>
                </a:solidFill>
                <a:latin typeface="Nunito Sans"/>
              </a:rPr>
              <a:t>Tu respuesta</a:t>
            </a:r>
          </a:p>
        </p:txBody>
      </p:sp>
      <p:sp>
        <p:nvSpPr>
          <p:cNvPr id="25" name="Tarjeta 1 texto"/>
          <p:cNvSpPr txBox="1"/>
          <p:nvPr/>
        </p:nvSpPr>
        <p:spPr>
          <a:xfrm>
            <a:off x="1041400" y="3950000"/>
            <a:ext cx="2041525" cy="100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Pausa y verifica por otro canal antes de actuar.</a:t>
            </a:r>
          </a:p>
        </p:txBody>
      </p:sp>
      <p:sp>
        <p:nvSpPr>
          <p:cNvPr id="26" name="Tarjeta 2"/>
          <p:cNvSpPr/>
          <p:nvPr/>
        </p:nvSpPr>
        <p:spPr>
          <a:xfrm>
            <a:off x="3502025" y="2150000"/>
            <a:ext cx="2498725" cy="30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arjeta 2 cifra"/>
          <p:cNvSpPr txBox="1"/>
          <p:nvPr/>
        </p:nvSpPr>
        <p:spPr>
          <a:xfrm>
            <a:off x="3730625" y="2378600"/>
            <a:ext cx="2041525" cy="560000"/>
          </a:xfrm>
          <a:prstGeom prst="rect">
            <a:avLst/>
          </a:prstGeom>
          <a:noFill/>
        </p:spPr>
        <p:txBody>
          <a:bodyPr wrap="square" lIns="0" rIns="0" tIns="0" bIns="0" anchor="t">
            <a:noAutofit/>
          </a:bodyPr>
          <a:lstStyle/>
          <a:p>
            <a:pPr algn="l"/>
            <a:r>
              <a:rPr sz="3600" b="0" i="0">
                <a:solidFill>
                  <a:srgbClr val="2F3EBF"/>
                </a:solidFill>
                <a:latin typeface="Fraunces"/>
              </a:rPr>
              <a:t>#6</a:t>
            </a:r>
          </a:p>
        </p:txBody>
      </p:sp>
      <p:sp>
        <p:nvSpPr>
          <p:cNvPr id="28" name="Tarjeta 2 título"/>
          <p:cNvSpPr txBox="1"/>
          <p:nvPr/>
        </p:nvSpPr>
        <p:spPr>
          <a:xfrm>
            <a:off x="3730625" y="3000000"/>
            <a:ext cx="2041525" cy="600000"/>
          </a:xfrm>
          <a:prstGeom prst="rect">
            <a:avLst/>
          </a:prstGeom>
          <a:noFill/>
        </p:spPr>
        <p:txBody>
          <a:bodyPr wrap="square" lIns="0" rIns="0" tIns="0" bIns="0" anchor="t">
            <a:noAutofit/>
          </a:bodyPr>
          <a:lstStyle/>
          <a:p>
            <a:pPr algn="l"/>
            <a:r>
              <a:rPr sz="1800" b="1" i="0">
                <a:solidFill>
                  <a:srgbClr val="1C2142"/>
                </a:solidFill>
                <a:latin typeface="Nunito Sans"/>
              </a:rPr>
              <a:t>Ciberinseguridad</a:t>
            </a:r>
          </a:p>
        </p:txBody>
      </p:sp>
      <p:sp>
        <p:nvSpPr>
          <p:cNvPr id="29" name="Tarjeta 2 etiqueta"/>
          <p:cNvSpPr txBox="1"/>
          <p:nvPr/>
        </p:nvSpPr>
        <p:spPr>
          <a:xfrm>
            <a:off x="3730625" y="3620000"/>
            <a:ext cx="2041525" cy="300000"/>
          </a:xfrm>
          <a:prstGeom prst="rect">
            <a:avLst/>
          </a:prstGeom>
          <a:noFill/>
        </p:spPr>
        <p:txBody>
          <a:bodyPr wrap="square" lIns="0" rIns="0" tIns="0" bIns="0" anchor="t">
            <a:noAutofit/>
          </a:bodyPr>
          <a:lstStyle/>
          <a:p>
            <a:pPr algn="l"/>
            <a:r>
              <a:rPr sz="1200" b="0" i="1">
                <a:solidFill>
                  <a:srgbClr val="6B7085"/>
                </a:solidFill>
                <a:latin typeface="Nunito Sans"/>
              </a:rPr>
              <a:t>Tu respuesta</a:t>
            </a:r>
          </a:p>
        </p:txBody>
      </p:sp>
      <p:sp>
        <p:nvSpPr>
          <p:cNvPr id="30" name="Tarjeta 2 texto"/>
          <p:cNvSpPr txBox="1"/>
          <p:nvPr/>
        </p:nvSpPr>
        <p:spPr>
          <a:xfrm>
            <a:off x="3730625" y="3950000"/>
            <a:ext cx="2041525" cy="100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Gestor de contraseñas y verificación en dos pasos.</a:t>
            </a:r>
          </a:p>
        </p:txBody>
      </p:sp>
      <p:sp>
        <p:nvSpPr>
          <p:cNvPr id="31" name="Tarjeta 3"/>
          <p:cNvSpPr/>
          <p:nvPr/>
        </p:nvSpPr>
        <p:spPr>
          <a:xfrm>
            <a:off x="6191250" y="2150000"/>
            <a:ext cx="2498725" cy="30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arjeta 3 cifra"/>
          <p:cNvSpPr txBox="1"/>
          <p:nvPr/>
        </p:nvSpPr>
        <p:spPr>
          <a:xfrm>
            <a:off x="6419850" y="2378600"/>
            <a:ext cx="2041525" cy="560000"/>
          </a:xfrm>
          <a:prstGeom prst="rect">
            <a:avLst/>
          </a:prstGeom>
          <a:noFill/>
        </p:spPr>
        <p:txBody>
          <a:bodyPr wrap="square" lIns="0" rIns="0" tIns="0" bIns="0" anchor="t">
            <a:noAutofit/>
          </a:bodyPr>
          <a:lstStyle/>
          <a:p>
            <a:pPr algn="l"/>
            <a:r>
              <a:rPr sz="3600" b="0" i="0">
                <a:solidFill>
                  <a:srgbClr val="2F3EBF"/>
                </a:solidFill>
                <a:latin typeface="Fraunces"/>
              </a:rPr>
              <a:t>IA</a:t>
            </a:r>
          </a:p>
        </p:txBody>
      </p:sp>
      <p:sp>
        <p:nvSpPr>
          <p:cNvPr id="33" name="Tarjeta 3 título"/>
          <p:cNvSpPr txBox="1"/>
          <p:nvPr/>
        </p:nvSpPr>
        <p:spPr>
          <a:xfrm>
            <a:off x="6419850" y="3000000"/>
            <a:ext cx="2041525" cy="600000"/>
          </a:xfrm>
          <a:prstGeom prst="rect">
            <a:avLst/>
          </a:prstGeom>
          <a:noFill/>
        </p:spPr>
        <p:txBody>
          <a:bodyPr wrap="square" lIns="0" rIns="0" tIns="0" bIns="0" anchor="t">
            <a:noAutofit/>
          </a:bodyPr>
          <a:lstStyle/>
          <a:p>
            <a:pPr algn="l"/>
            <a:r>
              <a:rPr sz="1800" b="1" i="0">
                <a:solidFill>
                  <a:srgbClr val="1C2142"/>
                </a:solidFill>
                <a:latin typeface="Nunito Sans"/>
              </a:rPr>
              <a:t>Efectos de la IA</a:t>
            </a:r>
          </a:p>
        </p:txBody>
      </p:sp>
      <p:sp>
        <p:nvSpPr>
          <p:cNvPr id="34" name="Tarjeta 3 etiqueta"/>
          <p:cNvSpPr txBox="1"/>
          <p:nvPr/>
        </p:nvSpPr>
        <p:spPr>
          <a:xfrm>
            <a:off x="6419850" y="3620000"/>
            <a:ext cx="2041525" cy="300000"/>
          </a:xfrm>
          <a:prstGeom prst="rect">
            <a:avLst/>
          </a:prstGeom>
          <a:noFill/>
        </p:spPr>
        <p:txBody>
          <a:bodyPr wrap="square" lIns="0" rIns="0" tIns="0" bIns="0" anchor="t">
            <a:noAutofit/>
          </a:bodyPr>
          <a:lstStyle/>
          <a:p>
            <a:pPr algn="l"/>
            <a:r>
              <a:rPr sz="1200" b="0" i="1">
                <a:solidFill>
                  <a:srgbClr val="6B7085"/>
                </a:solidFill>
                <a:latin typeface="Nunito Sans"/>
              </a:rPr>
              <a:t>Tu respuesta</a:t>
            </a:r>
          </a:p>
        </p:txBody>
      </p:sp>
      <p:sp>
        <p:nvSpPr>
          <p:cNvPr id="35" name="Tarjeta 3 texto"/>
          <p:cNvSpPr txBox="1"/>
          <p:nvPr/>
        </p:nvSpPr>
        <p:spPr>
          <a:xfrm>
            <a:off x="6419850" y="3950000"/>
            <a:ext cx="2041525" cy="100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Piensa antes de pegar información sensible en un chat.</a:t>
            </a:r>
          </a:p>
        </p:txBody>
      </p:sp>
      <p:sp>
        <p:nvSpPr>
          <p:cNvPr id="36" name="Tarjeta 4"/>
          <p:cNvSpPr/>
          <p:nvPr/>
        </p:nvSpPr>
        <p:spPr>
          <a:xfrm>
            <a:off x="8880475" y="2150000"/>
            <a:ext cx="2498725" cy="3000000"/>
          </a:xfrm>
          <a:prstGeom prst="roundRect">
            <a:avLst>
              <a:gd name="adj" fmla="val 6000"/>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arjeta 4 cifra"/>
          <p:cNvSpPr txBox="1"/>
          <p:nvPr/>
        </p:nvSpPr>
        <p:spPr>
          <a:xfrm>
            <a:off x="9109075" y="2378600"/>
            <a:ext cx="2041525" cy="560000"/>
          </a:xfrm>
          <a:prstGeom prst="rect">
            <a:avLst/>
          </a:prstGeom>
          <a:noFill/>
        </p:spPr>
        <p:txBody>
          <a:bodyPr wrap="square" lIns="0" rIns="0" tIns="0" bIns="0" anchor="t">
            <a:noAutofit/>
          </a:bodyPr>
          <a:lstStyle/>
          <a:p>
            <a:pPr algn="l"/>
            <a:r>
              <a:rPr sz="3600" b="0" i="0">
                <a:solidFill>
                  <a:srgbClr val="2F3EBF"/>
                </a:solidFill>
                <a:latin typeface="Fraunces"/>
              </a:rPr>
              <a:t>Siempre</a:t>
            </a:r>
          </a:p>
        </p:txBody>
      </p:sp>
      <p:sp>
        <p:nvSpPr>
          <p:cNvPr id="38" name="Tarjeta 4 título"/>
          <p:cNvSpPr txBox="1"/>
          <p:nvPr/>
        </p:nvSpPr>
        <p:spPr>
          <a:xfrm>
            <a:off x="9109075" y="3000000"/>
            <a:ext cx="2041525" cy="600000"/>
          </a:xfrm>
          <a:prstGeom prst="rect">
            <a:avLst/>
          </a:prstGeom>
          <a:noFill/>
        </p:spPr>
        <p:txBody>
          <a:bodyPr wrap="square" lIns="0" rIns="0" tIns="0" bIns="0" anchor="t">
            <a:noAutofit/>
          </a:bodyPr>
          <a:lstStyle/>
          <a:p>
            <a:pPr algn="l"/>
            <a:r>
              <a:rPr sz="1800" b="1" i="0">
                <a:solidFill>
                  <a:srgbClr val="1C2142"/>
                </a:solidFill>
                <a:latin typeface="Nunito Sans"/>
              </a:rPr>
              <a:t>Todo lo anterior</a:t>
            </a:r>
          </a:p>
        </p:txBody>
      </p:sp>
      <p:sp>
        <p:nvSpPr>
          <p:cNvPr id="39" name="Tarjeta 4 etiqueta"/>
          <p:cNvSpPr txBox="1"/>
          <p:nvPr/>
        </p:nvSpPr>
        <p:spPr>
          <a:xfrm>
            <a:off x="9109075" y="3620000"/>
            <a:ext cx="2041525" cy="300000"/>
          </a:xfrm>
          <a:prstGeom prst="rect">
            <a:avLst/>
          </a:prstGeom>
          <a:noFill/>
        </p:spPr>
        <p:txBody>
          <a:bodyPr wrap="square" lIns="0" rIns="0" tIns="0" bIns="0" anchor="t">
            <a:noAutofit/>
          </a:bodyPr>
          <a:lstStyle/>
          <a:p>
            <a:pPr algn="l"/>
            <a:r>
              <a:rPr sz="1200" b="0" i="1">
                <a:solidFill>
                  <a:srgbClr val="6B7085"/>
                </a:solidFill>
                <a:latin typeface="Nunito Sans"/>
              </a:rPr>
              <a:t>Tu respuesta</a:t>
            </a:r>
          </a:p>
        </p:txBody>
      </p:sp>
      <p:sp>
        <p:nvSpPr>
          <p:cNvPr id="40" name="Tarjeta 4 texto"/>
          <p:cNvSpPr txBox="1"/>
          <p:nvPr/>
        </p:nvSpPr>
        <p:spPr>
          <a:xfrm>
            <a:off x="9109075" y="3950000"/>
            <a:ext cx="2041525" cy="1000000"/>
          </a:xfrm>
          <a:prstGeom prst="rect">
            <a:avLst/>
          </a:prstGeom>
          <a:noFill/>
        </p:spPr>
        <p:txBody>
          <a:bodyPr wrap="square" lIns="0" rIns="0" tIns="0" bIns="0" anchor="t">
            <a:noAutofit/>
          </a:bodyPr>
          <a:lstStyle/>
          <a:p>
            <a:pPr algn="l">
              <a:lnSpc>
                <a:spcPct val="125000"/>
              </a:lnSpc>
            </a:pPr>
            <a:r>
              <a:rPr sz="1400" b="0" i="0">
                <a:solidFill>
                  <a:srgbClr val="1C2142"/>
                </a:solidFill>
                <a:latin typeface="Nunito Sans"/>
              </a:rPr>
              <a:t>Si algo pasa, repórtalo. Nadie carga solo con un error.</a:t>
            </a:r>
          </a:p>
        </p:txBody>
      </p:sp>
      <p:sp>
        <p:nvSpPr>
          <p:cNvPr id="41" name="Mensaje"/>
          <p:cNvSpPr txBox="1"/>
          <p:nvPr/>
        </p:nvSpPr>
        <p:spPr>
          <a:xfrm>
            <a:off x="812800" y="5450000"/>
            <a:ext cx="10566400" cy="388541"/>
          </a:xfrm>
          <a:prstGeom prst="rect">
            <a:avLst/>
          </a:prstGeom>
          <a:noFill/>
        </p:spPr>
        <p:txBody>
          <a:bodyPr wrap="square" lIns="0" rIns="0" tIns="0" bIns="0" anchor="t">
            <a:noAutofit/>
          </a:bodyPr>
          <a:lstStyle/>
          <a:p>
            <a:pPr algn="l"/>
            <a:r>
              <a:rPr sz="1600" b="1" i="0">
                <a:solidFill>
                  <a:srgbClr val="1C2142"/>
                </a:solidFill>
                <a:latin typeface="Nunito Sans"/>
              </a:rPr>
              <a:t>No necesitas ser experto en tecnología.</a:t>
            </a:r>
            <a:r>
              <a:rPr sz="1600">
                <a:solidFill>
                  <a:srgbClr val="1C2142"/>
                </a:solidFill>
                <a:latin typeface="Nunito Sans"/>
              </a:rPr>
              <a:t> Necesitas estos hábitos.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bg>
      <p:bgPr>
        <a:solidFill>
          <a:srgbClr val="2E3A9E"/>
        </a:solidFill>
        <a:effectLst/>
      </p:bgPr>
    </p:bg>
    <p:spTree>
      <p:nvGrpSpPr>
        <p:cNvPr id="1" name=""/>
        <p:cNvGrpSpPr/>
        <p:nvPr/>
      </p:nvGrpSpPr>
      <p:grpSpPr>
        <a:xfrm>
          <a:off x="0" y="0"/>
          <a:ext cx="0" cy="0"/>
          <a:chOff x="0" y="0"/>
          <a:chExt cx="0" cy="0"/>
        </a:xfrm>
      </p:grpSpPr>
      <p:sp>
        <p:nvSpPr>
          <p:cNvPr id="3" name="Text 1"/>
          <p:cNvSpPr>
            <a:spLocks noGrp="1"/>
          </p:cNvSpPr>
          <p:nvPr>
            <p:ph type="title"/>
          </p:nvPr>
        </p:nvSpPr>
        <p:spPr>
          <a:xfrm>
            <a:off x="812800" y="2192040"/>
            <a:ext cx="10137775" cy="2036961"/>
          </a:xfrm>
          <a:prstGeom prst="rect">
            <a:avLst/>
          </a:prstGeom>
          <a:noFill/>
          <a:ln/>
        </p:spPr>
        <p:txBody>
          <a:bodyPr wrap="square" lIns="0" tIns="0" rIns="0" bIns="0" rtlCol="0" anchor="t">
            <a:normAutofit/>
          </a:bodyPr>
          <a:lstStyle/>
          <a:p>
            <a:pPr marL="0" indent="0" algn="l">
              <a:lnSpc>
                <a:spcPts val="5280"/>
              </a:lnSpc>
              <a:buNone/>
            </a:pPr>
            <a:r>
              <a:rPr lang="es-CO" sz="4800" b="0" i="0" noProof="0" dirty="0">
                <a:solidFill>
                  <a:srgbClr val="F6F5F1"/>
                </a:solidFill>
                <a:latin typeface="Fraunces" pitchFamily="18" charset="0"/>
                <a:ea typeface="Fraunces" pitchFamily="18" charset="-122"/>
                <a:cs typeface="Fraunces" pitchFamily="18" charset="-120"/>
              </a:rPr>
              <a:t>«Ninguno de esos riesgos es inevitable.»</a:t>
            </a:r>
            <a:endParaRPr lang="es-CO" sz="4800" noProof="0" dirty="0"/>
          </a:p>
        </p:txBody>
      </p:sp>
      <p:sp>
        <p:nvSpPr>
          <p:cNvPr id="4" name="Text 2"/>
          <p:cNvSpPr/>
          <p:nvPr/>
        </p:nvSpPr>
        <p:spPr>
          <a:xfrm>
            <a:off x="812800" y="4559201"/>
            <a:ext cx="9156700" cy="1300000"/>
          </a:xfrm>
          <a:prstGeom prst="rect">
            <a:avLst/>
          </a:prstGeom>
          <a:noFill/>
          <a:ln/>
        </p:spPr>
        <p:txBody>
          <a:bodyPr wrap="square" lIns="0" tIns="0" rIns="0" bIns="0" rtlCol="0" anchor="t">
            <a:noAutofit/>
          </a:bodyPr>
          <a:lstStyle/>
          <a:p>
            <a:pPr marL="0" indent="0" algn="l">
              <a:lnSpc>
                <a:spcPts val="2800"/>
              </a:lnSpc>
              <a:buNone/>
            </a:pPr>
            <a:r>
              <a:rPr lang="es-CO" sz="2000" dirty="0">
                <a:solidFill>
                  <a:srgbClr val="DCE0F5"/>
                </a:solidFill>
                <a:latin typeface="Nunito Sans" pitchFamily="34" charset="0"/>
                <a:ea typeface="Nunito Sans" pitchFamily="34" charset="-122"/>
                <a:cs typeface="Nunito Sans" pitchFamily="34" charset="-120"/>
              </a:rPr>
              <a:t>Saadia Zahidi, directora general del Foro Económico Mundial.</a:t>
            </a:r>
            <a:endParaRPr lang="es-CO" sz="2000" noProof="0" dirty="0"/>
          </a:p>
          <a:p>
            <a:pPr marL="0" indent="0" algn="l">
              <a:lnSpc>
                <a:spcPts val="2800"/>
              </a:lnSpc>
              <a:buNone/>
            </a:pPr>
            <a:r>
              <a:rPr lang="es-CO" sz="2000" dirty="0">
                <a:solidFill>
                  <a:srgbClr val="DCE0F5"/>
                </a:solidFill>
                <a:latin typeface="Nunito Sans" pitchFamily="34" charset="0"/>
                <a:ea typeface="Nunito Sans" pitchFamily="34" charset="-122"/>
                <a:cs typeface="Nunito Sans" pitchFamily="34" charset="-120"/>
              </a:rPr>
              <a:t>La prevención empieza con hábitos pequeños, como los de hoy.</a:t>
            </a:r>
            <a:endParaRPr lang="es-CO" sz="2000" noProof="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7">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LAS REGLAS DE LA CASA</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Si crees que clicaste algo sospechoso, contacta:</a:t>
            </a:r>
            <a:endParaRPr lang="es-CO" sz="3600" noProof="0" dirty="0"/>
          </a:p>
        </p:txBody>
      </p:sp>
      <p:sp>
        <p:nvSpPr>
          <p:cNvPr id="4" name="Shape 2"/>
          <p:cNvSpPr/>
          <p:nvPr/>
        </p:nvSpPr>
        <p:spPr>
          <a:xfrm>
            <a:off x="812800" y="2123281"/>
            <a:ext cx="10566400" cy="3575844"/>
          </a:xfrm>
          <a:prstGeom prst="roundRect">
            <a:avLst>
              <a:gd name="adj" fmla="val 4262"/>
            </a:avLst>
          </a:prstGeom>
          <a:solidFill>
            <a:srgbClr val="FCFBF8"/>
          </a:solidFill>
          <a:ln/>
        </p:spPr>
        <p:txBody>
          <a:bodyPr/>
          <a:lstStyle/>
          <a:p>
            <a:endParaRPr lang="es-CO" noProof="0" dirty="0"/>
          </a:p>
        </p:txBody>
      </p:sp>
      <p:sp>
        <p:nvSpPr>
          <p:cNvPr id="5" name="Shape 3"/>
          <p:cNvSpPr/>
          <p:nvPr/>
        </p:nvSpPr>
        <p:spPr>
          <a:xfrm>
            <a:off x="812800" y="2123281"/>
            <a:ext cx="10566400" cy="3575844"/>
          </a:xfrm>
          <a:custGeom>
            <a:avLst/>
            <a:gdLst/>
            <a:ahLst/>
            <a:cxnLst/>
            <a:rect l="l" t="t" r="r" b="b"/>
            <a:pathLst>
              <a:path w="10566400" h="3575844">
                <a:moveTo>
                  <a:pt x="10414000" y="0"/>
                </a:moveTo>
                <a:lnTo>
                  <a:pt x="10414000" y="0"/>
                </a:lnTo>
                <a:arcTo wR="152400" hR="152400" stAng="16200000" swAng="5400000"/>
                <a:lnTo>
                  <a:pt x="10566400" y="3423444"/>
                </a:lnTo>
                <a:arcTo wR="152400" hR="152400" stAng="0" swAng="5400000"/>
                <a:lnTo>
                  <a:pt x="152400" y="3575844"/>
                </a:lnTo>
                <a:arcTo wR="152400" hR="152400" stAng="5400000" swAng="5400000"/>
                <a:lnTo>
                  <a:pt x="0" y="3423444"/>
                </a:lnTo>
                <a:arcTo wR="152400" hR="139700" stAng="10800000" swAng="-5400000"/>
                <a:lnTo>
                  <a:pt x="10414000" y="3563144"/>
                </a:lnTo>
                <a:arcTo wR="139700" hR="139700" stAng="5400000" swAng="-5400000"/>
                <a:lnTo>
                  <a:pt x="10553700" y="152400"/>
                </a:lnTo>
                <a:arcTo wR="139700" hR="152400" stAng="0" swAng="-5400000"/>
                <a:close/>
              </a:path>
            </a:pathLst>
          </a:custGeom>
          <a:solidFill>
            <a:srgbClr val="DDE0EA"/>
          </a:solidFill>
          <a:ln/>
        </p:spPr>
        <p:txBody>
          <a:bodyPr/>
          <a:lstStyle/>
          <a:p>
            <a:endParaRPr lang="es-CO" noProof="0" dirty="0"/>
          </a:p>
        </p:txBody>
      </p:sp>
      <p:sp>
        <p:nvSpPr>
          <p:cNvPr id="6" name="Shape 4"/>
          <p:cNvSpPr/>
          <p:nvPr/>
        </p:nvSpPr>
        <p:spPr>
          <a:xfrm>
            <a:off x="812800" y="2123281"/>
            <a:ext cx="10566400" cy="3575844"/>
          </a:xfrm>
          <a:custGeom>
            <a:avLst/>
            <a:gdLst/>
            <a:ahLst/>
            <a:cxnLst/>
            <a:rect l="l" t="t" r="r" b="b"/>
            <a:pathLst>
              <a:path w="10566400" h="3575844">
                <a:moveTo>
                  <a:pt x="152400" y="3575844"/>
                </a:moveTo>
                <a:lnTo>
                  <a:pt x="152400" y="3575844"/>
                </a:lnTo>
                <a:arcTo wR="152400" hR="152400" stAng="5400000" swAng="5400000"/>
                <a:lnTo>
                  <a:pt x="0" y="152400"/>
                </a:lnTo>
                <a:arcTo wR="152400" hR="152400" stAng="10800000" swAng="5400000"/>
                <a:lnTo>
                  <a:pt x="10414000" y="0"/>
                </a:lnTo>
                <a:arcTo wR="152400" hR="152400" stAng="16200000" swAng="5400000"/>
                <a:lnTo>
                  <a:pt x="10566400" y="152400"/>
                </a:lnTo>
                <a:arcTo wR="152400" hR="139700" stAng="0" swAng="-5400000"/>
                <a:lnTo>
                  <a:pt x="152400" y="12700"/>
                </a:lnTo>
                <a:arcTo wR="139700" hR="139700" stAng="16200000" swAng="-5400000"/>
                <a:lnTo>
                  <a:pt x="12700" y="3423444"/>
                </a:lnTo>
                <a:arcTo wR="139700" hR="152400" stAng="10800000" swAng="-5400000"/>
                <a:close/>
              </a:path>
            </a:pathLst>
          </a:custGeom>
          <a:solidFill>
            <a:srgbClr val="141413">
              <a:alpha val="22000"/>
            </a:srgbClr>
          </a:solidFill>
          <a:ln/>
        </p:spPr>
        <p:txBody>
          <a:bodyPr/>
          <a:lstStyle/>
          <a:p>
            <a:endParaRPr lang="es-CO" noProof="0" dirty="0"/>
          </a:p>
        </p:txBody>
      </p:sp>
      <p:graphicFrame>
        <p:nvGraphicFramePr>
          <p:cNvPr id="7" name="Table 0"/>
          <p:cNvGraphicFramePr>
            <a:graphicFrameLocks noGrp="1"/>
          </p:cNvGraphicFramePr>
          <p:nvPr>
            <p:extLst>
              <p:ext uri="{D42A27DB-BD31-4B8C-83A1-F6EECF244321}">
                <p14:modId xmlns:p14="http://schemas.microsoft.com/office/powerpoint/2010/main" val="3616750466"/>
              </p:ext>
            </p:extLst>
          </p:nvPr>
        </p:nvGraphicFramePr>
        <p:xfrm>
          <a:off x="825500" y="2135981"/>
          <a:ext cx="10541000" cy="3550446"/>
        </p:xfrm>
        <a:graphic>
          <a:graphicData uri="http://schemas.openxmlformats.org/drawingml/2006/table">
            <a:tbl>
              <a:tblPr/>
              <a:tblGrid>
                <a:gridCol w="4743450">
                  <a:extLst>
                    <a:ext uri="{9D8B030D-6E8A-4147-A177-3AD203B41FA5}">
                      <a16:colId xmlns:a16="http://schemas.microsoft.com/office/drawing/2014/main" val="20000"/>
                    </a:ext>
                  </a:extLst>
                </a:gridCol>
                <a:gridCol w="5797550">
                  <a:extLst>
                    <a:ext uri="{9D8B030D-6E8A-4147-A177-3AD203B41FA5}">
                      <a16:colId xmlns:a16="http://schemas.microsoft.com/office/drawing/2014/main" val="20001"/>
                    </a:ext>
                  </a:extLst>
                </a:gridCol>
              </a:tblGrid>
              <a:tr h="591741">
                <a:tc>
                  <a:txBody>
                    <a:bodyPr/>
                    <a:lstStyle/>
                    <a:p>
                      <a:pPr marL="0" indent="0">
                        <a:lnSpc>
                          <a:spcPts val="2240"/>
                        </a:lnSpc>
                        <a:buNone/>
                      </a:pPr>
                      <a:r>
                        <a:rPr lang="es-CO" sz="1600" b="1" noProof="0" dirty="0">
                          <a:solidFill>
                            <a:srgbClr val="1C2142"/>
                          </a:solidFill>
                          <a:latin typeface="Nunito Sans" pitchFamily="34" charset="0"/>
                          <a:ea typeface="Nunito Sans" charset="0"/>
                          <a:cs typeface="Nunito Sans" charset="0"/>
                        </a:rPr>
                        <a:t>Reporte</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BABCC3"/>
                      </a:solidFill>
                      <a:prstDash val="solid"/>
                      <a:round/>
                      <a:headEnd type="none" w="med" len="med"/>
                      <a:tailEnd type="none" w="med" len="med"/>
                    </a:lnR>
                    <a:lnT w="0" cap="flat" cmpd="sng" algn="ctr">
                      <a:noFill/>
                    </a:lnT>
                    <a:lnB w="12700" cap="flat" cmpd="sng" algn="ctr">
                      <a:solidFill>
                        <a:srgbClr val="BABCC3"/>
                      </a:solidFill>
                      <a:prstDash val="solid"/>
                      <a:round/>
                      <a:headEnd type="none" w="med" len="med"/>
                      <a:tailEnd type="none" w="med" len="med"/>
                    </a:lnB>
                    <a:solidFill>
                      <a:srgbClr val="E9ECF4"/>
                    </a:solidFill>
                  </a:tcPr>
                </a:tc>
                <a:tc>
                  <a:txBody>
                    <a:bodyPr/>
                    <a:lstStyle/>
                    <a:p>
                      <a:pPr marL="0" indent="0">
                        <a:lnSpc>
                          <a:spcPts val="2240"/>
                        </a:lnSpc>
                        <a:buNone/>
                      </a:pPr>
                      <a:r>
                        <a:rPr lang="es-CO" sz="1600" b="1" noProof="0" dirty="0">
                          <a:solidFill>
                            <a:srgbClr val="1C2142"/>
                          </a:solidFill>
                          <a:latin typeface="Nunito Sans" pitchFamily="34" charset="0"/>
                          <a:ea typeface="Nunito Sans" pitchFamily="34" charset="-122"/>
                          <a:cs typeface="Nunito Sans" pitchFamily="34" charset="-120"/>
                        </a:rPr>
                        <a:t>En nuestra empresa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BABCC3"/>
                      </a:solidFill>
                      <a:prstDash val="solid"/>
                      <a:round/>
                      <a:headEnd type="none" w="med" len="med"/>
                      <a:tailEnd type="none" w="med" len="med"/>
                    </a:lnL>
                    <a:lnR w="12700" cap="flat" cmpd="sng" algn="ctr">
                      <a:solidFill>
                        <a:srgbClr val="BABCC3"/>
                      </a:solidFill>
                      <a:prstDash val="solid"/>
                      <a:round/>
                      <a:headEnd type="none" w="med" len="med"/>
                      <a:tailEnd type="none" w="med" len="med"/>
                    </a:lnR>
                    <a:lnT w="0" cap="flat" cmpd="sng" algn="ctr">
                      <a:noFill/>
                    </a:lnT>
                    <a:lnB w="12700" cap="flat" cmpd="sng" algn="ctr">
                      <a:solidFill>
                        <a:srgbClr val="BABCC3"/>
                      </a:solidFill>
                      <a:prstDash val="solid"/>
                      <a:round/>
                      <a:headEnd type="none" w="med" len="med"/>
                      <a:tailEnd type="none" w="med" len="med"/>
                    </a:lnB>
                    <a:solidFill>
                      <a:srgbClr val="E9ECF4"/>
                    </a:solidFill>
                  </a:tcPr>
                </a:tc>
                <a:extLst>
                  <a:ext uri="{0D108BD9-81ED-4DB2-BD59-A6C34878D82A}">
                    <a16:rowId xmlns:a16="http://schemas.microsoft.com/office/drawing/2014/main" val="10000"/>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Algo raro o un clic</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BABCC3"/>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[correo, botón o extensión]</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ABCC3"/>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1"/>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Verificar una solicitud urgente</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[persona o número]</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2"/>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Un gestor de contraseñas</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[herramienta y cómo pedirla]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3"/>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Usar IA con información de trabajo</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[herramienta aprobada]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4"/>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Resolver una duda</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[persona o área]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8"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9" name="Text 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24</a:t>
            </a:r>
            <a:endParaRPr lang="es-CO" sz="1200" noProof="0" dirty="0"/>
          </a:p>
        </p:txBody>
      </p:sp>
      <p:sp>
        <p:nvSpPr>
          <p:cNvPr id="10" name="Rectangle 9">
            <a:extLst>
              <a:ext uri="{FF2B5EF4-FFF2-40B4-BE49-F238E27FC236}">
                <a16:creationId xmlns:a16="http://schemas.microsoft.com/office/drawing/2014/main" id="{497AC5ED-E1C4-5E8F-6F4F-85FEAAA1724B}"/>
              </a:ext>
            </a:extLst>
          </p:cNvPr>
          <p:cNvSpPr/>
          <p:nvPr/>
        </p:nvSpPr>
        <p:spPr>
          <a:xfrm>
            <a:off x="3977640" y="2368296"/>
            <a:ext cx="3502152" cy="2843784"/>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 BORRAR ]</a:t>
            </a:r>
          </a:p>
          <a:p>
            <a:pPr algn="ctr"/>
            <a:r>
              <a:rPr lang="en-US" dirty="0"/>
              <a:t>LA IDEA ES AÑADIR INFORMACIÓN DEL CLIENTE ESPECÍFICO RESPECTO A HERRAMIENTAS E INFO DE CONTACTO</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8">
    <p:bg>
      <p:bgPr>
        <a:solidFill>
          <a:srgbClr val="E9ECF4"/>
        </a:solidFill>
        <a:effectLst/>
      </p:bgPr>
    </p:bg>
    <p:spTree>
      <p:nvGrpSpPr>
        <p:cNvPr id="1" name=""/>
        <p:cNvGrpSpPr/>
        <p:nvPr/>
      </p:nvGrpSpPr>
      <p:grpSpPr>
        <a:xfrm>
          <a:off x="0" y="0"/>
          <a:ext cx="0" cy="0"/>
          <a:chOff x="0" y="0"/>
          <a:chExt cx="0" cy="0"/>
        </a:xfrm>
      </p:grpSpPr>
      <p:sp>
        <p:nvSpPr>
          <p:cNvPr id="2" name="Shape 0"/>
          <p:cNvSpPr/>
          <p:nvPr/>
        </p:nvSpPr>
        <p:spPr>
          <a:xfrm>
            <a:off x="7493000" y="1905000"/>
            <a:ext cx="3937000" cy="3937000"/>
          </a:xfrm>
          <a:prstGeom prst="roundRect">
            <a:avLst>
              <a:gd name="adj" fmla="val 41290"/>
            </a:avLst>
          </a:prstGeom>
          <a:solidFill>
            <a:srgbClr val="DCE0F0"/>
          </a:solidFill>
          <a:ln/>
        </p:spPr>
        <p:txBody>
          <a:bodyPr/>
          <a:lstStyle/>
          <a:p>
            <a:endParaRPr lang="es-CO" noProof="0" dirty="0"/>
          </a:p>
        </p:txBody>
      </p:sp>
      <p:sp>
        <p:nvSpPr>
          <p:cNvPr id="3" name="Shape 1"/>
          <p:cNvSpPr/>
          <p:nvPr/>
        </p:nvSpPr>
        <p:spPr>
          <a:xfrm>
            <a:off x="9525000" y="1143000"/>
            <a:ext cx="1397000" cy="1397000"/>
          </a:xfrm>
          <a:prstGeom prst="roundRect">
            <a:avLst>
              <a:gd name="adj" fmla="val 50000"/>
            </a:avLst>
          </a:prstGeom>
          <a:solidFill>
            <a:srgbClr val="C7CCE8"/>
          </a:solidFill>
          <a:ln/>
        </p:spPr>
        <p:txBody>
          <a:bodyPr/>
          <a:lstStyle/>
          <a:p>
            <a:endParaRPr lang="es-CO" noProof="0" dirty="0"/>
          </a:p>
        </p:txBody>
      </p:sp>
      <p:pic>
        <p:nvPicPr>
          <p:cNvPr id="4" name="Image 0" descr="Logo de Pralogy"/>
          <p:cNvPicPr>
            <a:picLocks noChangeAspect="1"/>
          </p:cNvPicPr>
          <p:nvPr/>
        </p:nvPicPr>
        <p:blipFill>
          <a:blip r:embed="rId3"/>
          <a:srcRect t="-22" b="-22"/>
          <a:stretch/>
        </p:blipFill>
        <p:spPr>
          <a:xfrm>
            <a:off x="812800" y="812800"/>
            <a:ext cx="2095500" cy="431800"/>
          </a:xfrm>
          <a:prstGeom prst="rect">
            <a:avLst/>
          </a:prstGeom>
        </p:spPr>
      </p:pic>
      <p:sp>
        <p:nvSpPr>
          <p:cNvPr id="5" name="Text 2"/>
          <p:cNvSpPr>
            <a:spLocks noGrp="1"/>
          </p:cNvSpPr>
          <p:nvPr>
            <p:ph type="title"/>
          </p:nvPr>
        </p:nvSpPr>
        <p:spPr>
          <a:xfrm>
            <a:off x="812800" y="2312789"/>
            <a:ext cx="6867525" cy="1518841"/>
          </a:xfrm>
          <a:prstGeom prst="rect">
            <a:avLst/>
          </a:prstGeom>
          <a:noFill/>
          <a:ln/>
        </p:spPr>
        <p:txBody>
          <a:bodyPr wrap="square" lIns="0" tIns="0" rIns="0" bIns="0" rtlCol="0" anchor="t">
            <a:normAutofit/>
          </a:bodyPr>
          <a:lstStyle/>
          <a:p>
            <a:pPr marL="0" indent="0" algn="l">
              <a:lnSpc>
                <a:spcPts val="5880"/>
              </a:lnSpc>
              <a:buNone/>
            </a:pPr>
            <a:r>
              <a:rPr lang="es-CO" sz="5600" b="0" i="0" noProof="0" dirty="0">
                <a:solidFill>
                  <a:srgbClr val="1C2142"/>
                </a:solidFill>
                <a:latin typeface="Fraunces" pitchFamily="18" charset="0"/>
                <a:ea typeface="Fraunces" pitchFamily="18" charset="-122"/>
                <a:cs typeface="Fraunces" pitchFamily="18" charset="-120"/>
              </a:rPr>
              <a:t>Gracias por </a:t>
            </a:r>
            <a:r>
              <a:rPr lang="es-CO" sz="5600" dirty="0">
                <a:latin typeface="Fraunces" pitchFamily="18" charset="0"/>
                <a:ea typeface="Fraunces" pitchFamily="18" charset="-122"/>
                <a:cs typeface="Fraunces" pitchFamily="18" charset="-120"/>
              </a:rPr>
              <a:t>tu atención</a:t>
            </a:r>
            <a:r>
              <a:rPr lang="es-CO" sz="5600" b="0" i="0" noProof="0" dirty="0">
                <a:solidFill>
                  <a:srgbClr val="1C2142"/>
                </a:solidFill>
                <a:latin typeface="Fraunces" pitchFamily="18" charset="0"/>
                <a:ea typeface="Fraunces" pitchFamily="18" charset="-122"/>
                <a:cs typeface="Fraunces" pitchFamily="18" charset="-120"/>
              </a:rPr>
              <a:t>.</a:t>
            </a:r>
            <a:endParaRPr lang="es-CO" sz="5600" noProof="0" dirty="0"/>
          </a:p>
        </p:txBody>
      </p:sp>
      <p:sp>
        <p:nvSpPr>
          <p:cNvPr id="6" name="Text 3"/>
          <p:cNvSpPr/>
          <p:nvPr/>
        </p:nvSpPr>
        <p:spPr>
          <a:xfrm>
            <a:off x="762000" y="4086275"/>
            <a:ext cx="6867525" cy="736600"/>
          </a:xfrm>
          <a:prstGeom prst="rect">
            <a:avLst/>
          </a:prstGeom>
          <a:noFill/>
          <a:ln/>
        </p:spPr>
        <p:txBody>
          <a:bodyPr wrap="square" lIns="0" tIns="0" rIns="0" bIns="0" rtlCol="0" anchor="t">
            <a:normAutofit/>
          </a:bodyPr>
          <a:lstStyle/>
          <a:p>
            <a:pPr marL="0" indent="0" algn="l">
              <a:lnSpc>
                <a:spcPts val="2800"/>
              </a:lnSpc>
              <a:buNone/>
            </a:pPr>
            <a:r>
              <a:rPr lang="es-CO" sz="2000" dirty="0">
                <a:solidFill>
                  <a:srgbClr val="4A5070"/>
                </a:solidFill>
                <a:latin typeface="Nunito Sans" pitchFamily="34" charset="0"/>
                <a:ea typeface="Nunito Sans" pitchFamily="34" charset="-122"/>
                <a:cs typeface="Nunito Sans" pitchFamily="34" charset="-120"/>
              </a:rPr>
              <a:t>Si tienes preguntas, este es el mejor momento para hacerlas. En un momento continuaremos con el cuestionario.</a:t>
            </a:r>
            <a:endParaRPr lang="es-CO" sz="2000" noProof="0" dirty="0"/>
          </a:p>
        </p:txBody>
      </p:sp>
      <p:sp>
        <p:nvSpPr>
          <p:cNvPr id="9" name="Text 6">
            <a:extLst>
              <a:ext uri="{FF2B5EF4-FFF2-40B4-BE49-F238E27FC236}">
                <a16:creationId xmlns:a16="http://schemas.microsoft.com/office/drawing/2014/main" id="{C7BCD414-21A0-7C69-944E-EBA890142E3F}"/>
              </a:ext>
            </a:extLst>
          </p:cNvPr>
          <p:cNvSpPr/>
          <p:nvPr/>
        </p:nvSpPr>
        <p:spPr>
          <a:xfrm>
            <a:off x="812800" y="5814120"/>
            <a:ext cx="10883392" cy="256480"/>
          </a:xfrm>
          <a:prstGeom prst="rect">
            <a:avLst/>
          </a:prstGeom>
          <a:noFill/>
          <a:ln/>
        </p:spPr>
        <p:txBody>
          <a:bodyPr wrap="square" lIns="0" tIns="0" rIns="0" bIns="0" rtlCol="0" anchor="t">
            <a:normAutofit/>
          </a:bodyPr>
          <a:lstStyle/>
          <a:p>
            <a:pPr marL="0" indent="0" algn="l">
              <a:lnSpc>
                <a:spcPts val="1820"/>
              </a:lnSpc>
              <a:buNone/>
            </a:pPr>
            <a:r>
              <a:rPr lang="es-CO" sz="1300" noProof="0" dirty="0">
                <a:solidFill>
                  <a:srgbClr val="6B7085"/>
                </a:solidFill>
                <a:latin typeface="Nunito Sans" pitchFamily="34" charset="0"/>
                <a:ea typeface="Nunito Sans" pitchFamily="34" charset="-122"/>
                <a:cs typeface="Nunito Sans" pitchFamily="34" charset="-120"/>
              </a:rPr>
              <a:t>Zamir Velázquez. Juan Cárdenas · 29 de Octubre de 2026 · [Cliente]</a:t>
            </a:r>
            <a:endParaRPr lang="es-CO" sz="1300" noProof="0" dirty="0"/>
          </a:p>
        </p:txBody>
      </p:sp>
    </p:spTree>
  </p:cSld>
  <p:clrMapOvr>
    <a:masterClrMapping/>
  </p:clrMapOvr>
</p:sld>
</file>

<file path=ppt/theme/theme1.xml><?xml version="1.0" encoding="utf-8"?>
<a:theme xmlns:a="http://schemas.openxmlformats.org/drawingml/2006/main" name="Ciberseguridad sin ansiedad">
  <a:themeElements>
    <a:clrScheme name="Ciberseguridad sin ansiedad">
      <a:dk1>
        <a:srgbClr val="1C2142"/>
      </a:dk1>
      <a:lt1>
        <a:srgbClr val="F6F5F1"/>
      </a:lt1>
      <a:dk2>
        <a:srgbClr val="53566E"/>
      </a:dk2>
      <a:lt2>
        <a:srgbClr val="E0E0E0"/>
      </a:lt2>
      <a:accent1>
        <a:srgbClr val="2F3EBF"/>
      </a:accent1>
      <a:accent2>
        <a:srgbClr val="9DA8F2"/>
      </a:accent2>
      <a:accent3>
        <a:srgbClr val="2E3A9E"/>
      </a:accent3>
      <a:accent4>
        <a:srgbClr val="4A5070"/>
      </a:accent4>
      <a:accent5>
        <a:srgbClr val="6B7085"/>
      </a:accent5>
      <a:accent6>
        <a:srgbClr val="C7CCE8"/>
      </a:accent6>
      <a:hlink>
        <a:srgbClr val="0563C1"/>
      </a:hlink>
      <a:folHlink>
        <a:srgbClr val="954F72"/>
      </a:folHlink>
    </a:clrScheme>
    <a:fontScheme name="Ciberseguridad sin ansiedad">
      <a:majorFont>
        <a:latin typeface="Fraunce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1102</TotalTime>
  <Words>3056</Words>
  <Application>Microsoft Office PowerPoint</Application>
  <PresentationFormat>Widescreen</PresentationFormat>
  <Paragraphs>207</Paragraphs>
  <Slides>21</Slides>
  <Notes>21</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Nunito Sans</vt:lpstr>
      <vt:lpstr>Fraunces</vt:lpstr>
      <vt:lpstr>Arial</vt:lpstr>
      <vt:lpstr>Wingdings</vt:lpstr>
      <vt:lpstr>Ciberseguridad sin ansiedad</vt:lpstr>
      <vt:lpstr>Ciberseguridad sin ansiedad</vt:lpstr>
      <vt:lpstr>¿Por qué yo? ¿Es necesario?</vt:lpstr>
      <vt:lpstr>Una empresa de ciberseguridad contrató a un hacker sin saberlo</vt:lpstr>
      <vt:lpstr>Eres el blanco</vt:lpstr>
      <vt:lpstr>La urgencia como arma</vt:lpstr>
      <vt:lpstr>No atacan tu computador. Prefieren atacar tus emociones.</vt:lpstr>
      <vt:lpstr>Ingeniería social en su mayor esplendor.</vt:lpstr>
      <vt:lpstr>PowerPoint Presentation</vt:lpstr>
      <vt:lpstr>Confía en mí, me conoces.</vt:lpstr>
      <vt:lpstr>Las estafas funcionan porque te inducen al pánico inmediato.</vt:lpstr>
      <vt:lpstr>Tres hábitos útiles.</vt:lpstr>
      <vt:lpstr>Un gestor de contraseñas recuerda por ti.</vt:lpstr>
      <vt:lpstr>Pausa y verifica por otro canal</vt:lpstr>
      <vt:lpstr>Activa la verificación en dos pasos.</vt:lpstr>
      <vt:lpstr>¿A dónde van las conversaciones con la IA?</vt:lpstr>
      <vt:lpstr>Gratis vs empresarial</vt:lpstr>
      <vt:lpstr>Si pasa algo, repórtalo.</vt:lpstr>
      <vt:lpstr>Ocultar no ayuda a nadie</vt:lpstr>
      <vt:lpstr>Qué pasa cuando reportas un incidente</vt:lpstr>
      <vt:lpstr>Si crees que clicaste algo sospechoso, contacta:</vt:lpstr>
      <vt:lpstr>Gracias por tu atención.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Ciberseguridad sin ansiedad</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Nunito Sans
Copyright 2016 The Nunito Sans Project Authors (https://github.com/Fonthausen/NunitoSans)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Fraunces
Copyright 2018 The Fraunces Project Authors (https://github.com/undercasetype/Fraunces)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Pralogy Security</cp:lastModifiedBy>
  <cp:revision>15</cp:revision>
  <dcterms:created xsi:type="dcterms:W3CDTF">2026-10-22T13:59:02Z</dcterms:created>
  <dcterms:modified xsi:type="dcterms:W3CDTF">2026-10-27T19:06:34Z</dcterms:modified>
</cp:coreProperties>
</file>